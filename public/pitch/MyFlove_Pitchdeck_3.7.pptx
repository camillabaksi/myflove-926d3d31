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C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11480" y="-411480"/>
            <a:ext cx="2103120" cy="2103120"/>
          </a:xfrm>
          <a:prstGeom prst="roundRect">
            <a:avLst/>
          </a:prstGeom>
          <a:solidFill>
            <a:srgbClr val="7C5CE0"/>
          </a:solidFill>
          <a:ln>
            <a:solidFill>
              <a:srgbClr val="7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81360" y="5577840"/>
            <a:ext cx="1828800" cy="1828800"/>
          </a:xfrm>
          <a:prstGeom prst="roundRect">
            <a:avLst/>
          </a:prstGeom>
          <a:solidFill>
            <a:srgbClr val="F2A8CE"/>
          </a:solidFill>
          <a:ln>
            <a:solidFill>
              <a:srgbClr val="F2A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low-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914400"/>
            <a:ext cx="2194560" cy="14825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000" b="1">
                <a:solidFill>
                  <a:srgbClr val="A98CF0"/>
                </a:solidFill>
                <a:latin typeface="Nunito Sans"/>
              </a:rPr>
              <a:t>MYFLOVE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7680960" cy="16459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Nunito Sans"/>
              </a:rPr>
              <a:t>En enda lugn väg
genom vardagen.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49240"/>
            <a:ext cx="731520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300" b="0">
                <a:solidFill>
                  <a:srgbClr val="DBD3ED"/>
                </a:solidFill>
                <a:latin typeface="Nunito Sans"/>
              </a:rPr>
              <a:t>Pitch 2026 · version 3.7 · 2026-08-29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7132320" cy="8686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700" b="0">
                <a:solidFill>
                  <a:srgbClr val="A98CF0"/>
                </a:solidFill>
                <a:latin typeface="Nunito Sans"/>
              </a:rPr>
              <a:t>Flow som följeslagare.
Energi som kompass.
Nästa steg som känns möjligt.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11480" y="-411480"/>
            <a:ext cx="2103120" cy="2103120"/>
          </a:xfrm>
          <a:prstGeom prst="roundRect">
            <a:avLst/>
          </a:prstGeom>
          <a:solidFill>
            <a:srgbClr val="7C5CE0"/>
          </a:solidFill>
          <a:ln>
            <a:solidFill>
              <a:srgbClr val="7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81360" y="5577840"/>
            <a:ext cx="1828800" cy="1828800"/>
          </a:xfrm>
          <a:prstGeom prst="roundRect">
            <a:avLst/>
          </a:prstGeom>
          <a:solidFill>
            <a:srgbClr val="F2A8CE"/>
          </a:solidFill>
          <a:ln>
            <a:solidFill>
              <a:srgbClr val="F2A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1">
                <a:solidFill>
                  <a:srgbClr val="7C5CE0"/>
                </a:solidFill>
                <a:latin typeface="Nunito Sans"/>
              </a:rPr>
              <a:t>PROBLEMET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2344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900" b="1">
                <a:solidFill>
                  <a:srgbClr val="241C3B"/>
                </a:solidFill>
                <a:latin typeface="Nunito Sans"/>
              </a:rPr>
              <a:t>Vardagen kräver mer än en lista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9966960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400" b="0">
                <a:solidFill>
                  <a:srgbClr val="6F6789"/>
                </a:solidFill>
                <a:latin typeface="Nunito Sans"/>
              </a:rPr>
              <a:t>När energi, tid och ansvar inte hänger ihop blir användaren själv systemet.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5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3337560"/>
            <a:ext cx="438912" cy="82296"/>
          </a:xfrm>
          <a:prstGeom prst="roundRect">
            <a:avLst/>
          </a:prstGeom>
          <a:solidFill>
            <a:srgbClr val="F2A8CE"/>
          </a:solidFill>
          <a:ln>
            <a:solidFill>
              <a:srgbClr val="F2A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575304"/>
            <a:ext cx="3054096" cy="329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Nunito Sans"/>
              </a:rPr>
              <a:t>Kalendern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77640"/>
            <a:ext cx="3054096" cy="10515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Nunito Sans"/>
              </a:rPr>
              <a:t>Visar när – inte om du orkar.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315468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5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3337560"/>
            <a:ext cx="438912" cy="82296"/>
          </a:xfrm>
          <a:prstGeom prst="roundRect">
            <a:avLst/>
          </a:prstGeom>
          <a:solidFill>
            <a:srgbClr val="7C5CE0"/>
          </a:solidFill>
          <a:ln>
            <a:solidFill>
              <a:srgbClr val="7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575304"/>
            <a:ext cx="3054096" cy="329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Nunito Sans"/>
              </a:rPr>
              <a:t>Listan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977640"/>
            <a:ext cx="3054096" cy="10515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Nunito Sans"/>
              </a:rPr>
              <a:t>Växer när kapaciteten sjunker.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15468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5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47888" y="3337560"/>
            <a:ext cx="438912" cy="82296"/>
          </a:xfrm>
          <a:prstGeom prst="roundRect">
            <a:avLst/>
          </a:prstGeom>
          <a:solidFill>
            <a:srgbClr val="A98CF0"/>
          </a:solidFill>
          <a:ln>
            <a:solidFill>
              <a:srgbClr val="A98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3575304"/>
            <a:ext cx="3054096" cy="329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Nunito Sans"/>
              </a:rPr>
              <a:t>Splittringen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977640"/>
            <a:ext cx="3054096" cy="10515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Nunito Sans"/>
              </a:rPr>
              <a:t>Tider, hälsa och vardag ligger isär.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11480" y="-411480"/>
            <a:ext cx="2103120" cy="2103120"/>
          </a:xfrm>
          <a:prstGeom prst="roundRect">
            <a:avLst/>
          </a:prstGeom>
          <a:solidFill>
            <a:srgbClr val="7C5CE0"/>
          </a:solidFill>
          <a:ln>
            <a:solidFill>
              <a:srgbClr val="7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81360" y="5577840"/>
            <a:ext cx="1828800" cy="1828800"/>
          </a:xfrm>
          <a:prstGeom prst="roundRect">
            <a:avLst/>
          </a:prstGeom>
          <a:solidFill>
            <a:srgbClr val="F2A8CE"/>
          </a:solidFill>
          <a:ln>
            <a:solidFill>
              <a:srgbClr val="F2A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1">
                <a:solidFill>
                  <a:srgbClr val="7C5CE0"/>
                </a:solidFill>
                <a:latin typeface="Nunito Sans"/>
              </a:rPr>
              <a:t>INSIKTEN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2344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900" b="1">
                <a:solidFill>
                  <a:srgbClr val="241C3B"/>
                </a:solidFill>
                <a:latin typeface="Nunito Sans"/>
              </a:rPr>
              <a:t>Planera efter energi, inte bara efter tid.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9966960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400" b="0">
                <a:solidFill>
                  <a:srgbClr val="6F6789"/>
                </a:solidFill>
                <a:latin typeface="Nunito Sans"/>
              </a:rPr>
              <a:t>Ett bra vardagsstöd hjälper dig att välja vad som är rimligt nu – utan att döma.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6984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D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520440"/>
            <a:ext cx="9875520" cy="5943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2500" b="1">
                <a:solidFill>
                  <a:srgbClr val="7C5CE0"/>
                </a:solidFill>
                <a:latin typeface="Nunito Sans"/>
              </a:rPr>
              <a:t>MyFlove gör kapacitet synlig, samlar trådarna och ger en väg vidare.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11480" y="-411480"/>
            <a:ext cx="2103120" cy="2103120"/>
          </a:xfrm>
          <a:prstGeom prst="roundRect">
            <a:avLst/>
          </a:prstGeom>
          <a:solidFill>
            <a:srgbClr val="7C5CE0"/>
          </a:solidFill>
          <a:ln>
            <a:solidFill>
              <a:srgbClr val="7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81360" y="5577840"/>
            <a:ext cx="1828800" cy="1828800"/>
          </a:xfrm>
          <a:prstGeom prst="roundRect">
            <a:avLst/>
          </a:prstGeom>
          <a:solidFill>
            <a:srgbClr val="F2A8CE"/>
          </a:solidFill>
          <a:ln>
            <a:solidFill>
              <a:srgbClr val="F2A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1">
                <a:solidFill>
                  <a:srgbClr val="7C5CE0"/>
                </a:solidFill>
                <a:latin typeface="Nunito Sans"/>
              </a:rPr>
              <a:t>PRODUKTEN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2344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900" b="1">
                <a:solidFill>
                  <a:srgbClr val="241C3B"/>
                </a:solidFill>
                <a:latin typeface="Nunito Sans"/>
              </a:rPr>
              <a:t>Ett lugnt system för hela vardagen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5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3246120"/>
            <a:ext cx="438912" cy="82296"/>
          </a:xfrm>
          <a:prstGeom prst="roundRect">
            <a:avLst/>
          </a:prstGeom>
          <a:solidFill>
            <a:srgbClr val="7C5CE0"/>
          </a:solidFill>
          <a:ln>
            <a:solidFill>
              <a:srgbClr val="7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483864"/>
            <a:ext cx="3099816" cy="329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Nunito Sans"/>
              </a:rPr>
              <a:t>Mitt batteri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886200"/>
            <a:ext cx="3099816" cy="11887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Nunito Sans"/>
              </a:rPr>
              <a:t>Energi och mående på ett enda ställe.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06324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5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3712" y="3246120"/>
            <a:ext cx="438912" cy="82296"/>
          </a:xfrm>
          <a:prstGeom prst="roundRect">
            <a:avLst/>
          </a:prstGeom>
          <a:solidFill>
            <a:srgbClr val="F2A8CE"/>
          </a:solidFill>
          <a:ln>
            <a:solidFill>
              <a:srgbClr val="F2A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3483864"/>
            <a:ext cx="3099816" cy="329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Nunito Sans"/>
              </a:rPr>
              <a:t>Idag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886200"/>
            <a:ext cx="3099816" cy="11887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Nunito Sans"/>
              </a:rPr>
              <a:t>Det som ska hända nu, samlat.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06324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5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11312" y="3246120"/>
            <a:ext cx="438912" cy="82296"/>
          </a:xfrm>
          <a:prstGeom prst="roundRect">
            <a:avLst/>
          </a:prstGeom>
          <a:solidFill>
            <a:srgbClr val="A98CF0"/>
          </a:solidFill>
          <a:ln>
            <a:solidFill>
              <a:srgbClr val="A98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3483864"/>
            <a:ext cx="3099816" cy="329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Nunito Sans"/>
              </a:rPr>
              <a:t>QuickFlow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3886200"/>
            <a:ext cx="3099816" cy="11887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Nunito Sans"/>
              </a:rPr>
              <a:t>Få tanken ur huvudet direkt.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11480" y="-411480"/>
            <a:ext cx="2103120" cy="2103120"/>
          </a:xfrm>
          <a:prstGeom prst="roundRect">
            <a:avLst/>
          </a:prstGeom>
          <a:solidFill>
            <a:srgbClr val="7C5CE0"/>
          </a:solidFill>
          <a:ln>
            <a:solidFill>
              <a:srgbClr val="7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81360" y="5577840"/>
            <a:ext cx="1828800" cy="1828800"/>
          </a:xfrm>
          <a:prstGeom prst="roundRect">
            <a:avLst/>
          </a:prstGeom>
          <a:solidFill>
            <a:srgbClr val="F2A8CE"/>
          </a:solidFill>
          <a:ln>
            <a:solidFill>
              <a:srgbClr val="F2A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1">
                <a:solidFill>
                  <a:srgbClr val="7C5CE0"/>
                </a:solidFill>
                <a:latin typeface="Nunito Sans"/>
              </a:rPr>
              <a:t>DEN DAGLIGA LOOPEN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2344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900" b="1">
                <a:solidFill>
                  <a:srgbClr val="241C3B"/>
                </a:solidFill>
                <a:latin typeface="Nunito Sans"/>
              </a:rPr>
              <a:t>Fånga. Förstå. Anpassa. Fortsätt.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2331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4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73552"/>
            <a:ext cx="36576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400" b="1">
                <a:solidFill>
                  <a:srgbClr val="7C5CE0"/>
                </a:solidFill>
                <a:latin typeface="Nunito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822191"/>
            <a:ext cx="192024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700" b="1">
                <a:solidFill>
                  <a:srgbClr val="241C3B"/>
                </a:solidFill>
                <a:latin typeface="Nunito Sans"/>
              </a:rPr>
              <a:t>Fånga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315968"/>
            <a:ext cx="1920240" cy="47548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0">
                <a:solidFill>
                  <a:srgbClr val="6F6789"/>
                </a:solidFill>
                <a:latin typeface="Nunito Sans"/>
              </a:rPr>
              <a:t>QuickFlow samlar tanken.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3063240"/>
            <a:ext cx="2331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4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3273552"/>
            <a:ext cx="36576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400" b="1">
                <a:solidFill>
                  <a:srgbClr val="7C5CE0"/>
                </a:solidFill>
                <a:latin typeface="Nunito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822191"/>
            <a:ext cx="192024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700" b="1">
                <a:solidFill>
                  <a:srgbClr val="241C3B"/>
                </a:solidFill>
                <a:latin typeface="Nunito Sans"/>
              </a:rPr>
              <a:t>Förstå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315968"/>
            <a:ext cx="1920240" cy="47548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0">
                <a:solidFill>
                  <a:srgbClr val="6F6789"/>
                </a:solidFill>
                <a:latin typeface="Nunito Sans"/>
              </a:rPr>
              <a:t>Mitt batteri visar kapaciteten.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3063240"/>
            <a:ext cx="2331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4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3273552"/>
            <a:ext cx="36576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400" b="1">
                <a:solidFill>
                  <a:srgbClr val="7C5CE0"/>
                </a:solidFill>
                <a:latin typeface="Nunito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822191"/>
            <a:ext cx="192024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700" b="1">
                <a:solidFill>
                  <a:srgbClr val="241C3B"/>
                </a:solidFill>
                <a:latin typeface="Nunito Sans"/>
              </a:rPr>
              <a:t>Planera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315968"/>
            <a:ext cx="1920240" cy="47548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0">
                <a:solidFill>
                  <a:srgbClr val="6F6789"/>
                </a:solidFill>
                <a:latin typeface="Nunito Sans"/>
              </a:rPr>
              <a:t>FlowPlan föreslår en ordning.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3063240"/>
            <a:ext cx="2331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4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3273552"/>
            <a:ext cx="36576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400" b="1">
                <a:solidFill>
                  <a:srgbClr val="7C5CE0"/>
                </a:solidFill>
                <a:latin typeface="Nunito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3822191"/>
            <a:ext cx="192024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700" b="1">
                <a:solidFill>
                  <a:srgbClr val="241C3B"/>
                </a:solidFill>
                <a:latin typeface="Nunito Sans"/>
              </a:rPr>
              <a:t>Gör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4315968"/>
            <a:ext cx="1920240" cy="47548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0">
                <a:solidFill>
                  <a:srgbClr val="6F6789"/>
                </a:solidFill>
                <a:latin typeface="Nunito Sans"/>
              </a:rPr>
              <a:t>Idag visar nästa rimliga steg.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11480" y="-411480"/>
            <a:ext cx="2103120" cy="2103120"/>
          </a:xfrm>
          <a:prstGeom prst="roundRect">
            <a:avLst/>
          </a:prstGeom>
          <a:solidFill>
            <a:srgbClr val="7C5CE0"/>
          </a:solidFill>
          <a:ln>
            <a:solidFill>
              <a:srgbClr val="7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81360" y="5577840"/>
            <a:ext cx="1828800" cy="1828800"/>
          </a:xfrm>
          <a:prstGeom prst="roundRect">
            <a:avLst/>
          </a:prstGeom>
          <a:solidFill>
            <a:srgbClr val="F2A8CE"/>
          </a:solidFill>
          <a:ln>
            <a:solidFill>
              <a:srgbClr val="F2A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1">
                <a:solidFill>
                  <a:srgbClr val="7C5CE0"/>
                </a:solidFill>
                <a:latin typeface="Nunito Sans"/>
              </a:rPr>
              <a:t>HÄLSA UTAN BLANDNING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2344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900" b="1">
                <a:solidFill>
                  <a:srgbClr val="241C3B"/>
                </a:solidFill>
                <a:latin typeface="Nunito Sans"/>
              </a:rPr>
              <a:t>Mitt batteri är den enda loggningsvägen.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9966960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400" b="0">
                <a:solidFill>
                  <a:srgbClr val="6F6789"/>
                </a:solidFill>
                <a:latin typeface="Nunito Sans"/>
              </a:rPr>
              <a:t>Hälsa länkar till rätt stöd. Den skapar inte parallella hälsologgar eller automatiska aktiviteter.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5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3337560"/>
            <a:ext cx="438912" cy="82296"/>
          </a:xfrm>
          <a:prstGeom prst="roundRect">
            <a:avLst/>
          </a:prstGeom>
          <a:solidFill>
            <a:srgbClr val="7C5CE0"/>
          </a:solidFill>
          <a:ln>
            <a:solidFill>
              <a:srgbClr val="7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575304"/>
            <a:ext cx="4745736" cy="329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Nunito Sans"/>
              </a:rPr>
              <a:t>En källa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77640"/>
            <a:ext cx="4745736" cy="91439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Nunito Sans"/>
              </a:rPr>
              <a:t>Energi, mående och sömn samlas som nya tidsstämplade observationer.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315468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5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59" y="3337560"/>
            <a:ext cx="438912" cy="82296"/>
          </a:xfrm>
          <a:prstGeom prst="roundRect">
            <a:avLst/>
          </a:prstGeom>
          <a:solidFill>
            <a:srgbClr val="F2A8CE"/>
          </a:solidFill>
          <a:ln>
            <a:solidFill>
              <a:srgbClr val="F2A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3575304"/>
            <a:ext cx="4745736" cy="329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Nunito Sans"/>
              </a:rPr>
              <a:t>En tydlig gräns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3977640"/>
            <a:ext cx="4745736" cy="91439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Nunito Sans"/>
              </a:rPr>
              <a:t>Hur du mår är inte samma sak som vad du ska göra.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11480" y="-411480"/>
            <a:ext cx="2103120" cy="2103120"/>
          </a:xfrm>
          <a:prstGeom prst="roundRect">
            <a:avLst/>
          </a:prstGeom>
          <a:solidFill>
            <a:srgbClr val="7C5CE0"/>
          </a:solidFill>
          <a:ln>
            <a:solidFill>
              <a:srgbClr val="7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81360" y="5577840"/>
            <a:ext cx="1828800" cy="1828800"/>
          </a:xfrm>
          <a:prstGeom prst="roundRect">
            <a:avLst/>
          </a:prstGeom>
          <a:solidFill>
            <a:srgbClr val="F2A8CE"/>
          </a:solidFill>
          <a:ln>
            <a:solidFill>
              <a:srgbClr val="F2A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1">
                <a:solidFill>
                  <a:srgbClr val="7C5CE0"/>
                </a:solidFill>
                <a:latin typeface="Nunito Sans"/>
              </a:rPr>
              <a:t>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2344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900" b="1">
                <a:solidFill>
                  <a:srgbClr val="241C3B"/>
                </a:solidFill>
                <a:latin typeface="Nunito Sans"/>
              </a:rPr>
              <a:t>En följeslagare som säger en sak i taget.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9966960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400" b="0">
                <a:solidFill>
                  <a:srgbClr val="6F6789"/>
                </a:solidFill>
                <a:latin typeface="Nunito Sans"/>
              </a:rPr>
              <a:t>Flow finns genom appen – i Hem, Idag, planeringen och hjälpen – med lugn ton och användaren i kontroll.</a:t>
            </a:r>
          </a:p>
        </p:txBody>
      </p:sp>
      <p:pic>
        <p:nvPicPr>
          <p:cNvPr id="7" name="Picture 6" descr="flow-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377440"/>
            <a:ext cx="1920240" cy="129722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32461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5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3429000"/>
            <a:ext cx="438912" cy="82296"/>
          </a:xfrm>
          <a:prstGeom prst="roundRect">
            <a:avLst/>
          </a:prstGeom>
          <a:solidFill>
            <a:srgbClr val="7C5CE0"/>
          </a:solidFill>
          <a:ln>
            <a:solidFill>
              <a:srgbClr val="7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666744"/>
            <a:ext cx="3099816" cy="329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Nunito Sans"/>
              </a:rPr>
              <a:t>Kontext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069080"/>
            <a:ext cx="3099816" cy="7772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Nunito Sans"/>
              </a:rPr>
              <a:t>Förslag utifrån energi och situation.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2461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5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53712" y="3429000"/>
            <a:ext cx="438912" cy="82296"/>
          </a:xfrm>
          <a:prstGeom prst="roundRect">
            <a:avLst/>
          </a:prstGeom>
          <a:solidFill>
            <a:srgbClr val="F2A8CE"/>
          </a:solidFill>
          <a:ln>
            <a:solidFill>
              <a:srgbClr val="F2A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3666744"/>
            <a:ext cx="3099816" cy="329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Nunito Sans"/>
              </a:rPr>
              <a:t>Närvaro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4069080"/>
            <a:ext cx="3099816" cy="7772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Nunito Sans"/>
              </a:rPr>
              <a:t>En levande karaktär, inte bara en ikon.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11480" y="-411480"/>
            <a:ext cx="2103120" cy="2103120"/>
          </a:xfrm>
          <a:prstGeom prst="roundRect">
            <a:avLst/>
          </a:prstGeom>
          <a:solidFill>
            <a:srgbClr val="7C5CE0"/>
          </a:solidFill>
          <a:ln>
            <a:solidFill>
              <a:srgbClr val="7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81360" y="5577840"/>
            <a:ext cx="1828800" cy="1828800"/>
          </a:xfrm>
          <a:prstGeom prst="roundRect">
            <a:avLst/>
          </a:prstGeom>
          <a:solidFill>
            <a:srgbClr val="F2A8CE"/>
          </a:solidFill>
          <a:ln>
            <a:solidFill>
              <a:srgbClr val="F2A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1">
                <a:solidFill>
                  <a:srgbClr val="7C5CE0"/>
                </a:solidFill>
                <a:latin typeface="Nunito Sans"/>
              </a:rPr>
              <a:t>ARKITEKTUREN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2344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900" b="1">
                <a:solidFill>
                  <a:srgbClr val="241C3B"/>
                </a:solidFill>
                <a:latin typeface="Nunito Sans"/>
              </a:rPr>
              <a:t>Planera bestämmer ordningen. Idag visar 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9966960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400" b="0">
                <a:solidFill>
                  <a:srgbClr val="6F6789"/>
                </a:solidFill>
                <a:latin typeface="Nunito Sans"/>
              </a:rPr>
              <a:t>Tydliga primära vägar gör appen lättare att förstå och minskar dubbletter.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5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3337560"/>
            <a:ext cx="438912" cy="82296"/>
          </a:xfrm>
          <a:prstGeom prst="roundRect">
            <a:avLst/>
          </a:prstGeom>
          <a:solidFill>
            <a:srgbClr val="7C5CE0"/>
          </a:solidFill>
          <a:ln>
            <a:solidFill>
              <a:srgbClr val="7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575304"/>
            <a:ext cx="3099816" cy="329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Nunito Sans"/>
              </a:rPr>
              <a:t>Planera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77640"/>
            <a:ext cx="3099816" cy="10058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Nunito Sans"/>
              </a:rPr>
              <a:t>Ändra och spara dagens förslag.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15468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5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3712" y="3337560"/>
            <a:ext cx="438912" cy="82296"/>
          </a:xfrm>
          <a:prstGeom prst="roundRect">
            <a:avLst/>
          </a:prstGeom>
          <a:solidFill>
            <a:srgbClr val="A98CF0"/>
          </a:solidFill>
          <a:ln>
            <a:solidFill>
              <a:srgbClr val="A98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3575304"/>
            <a:ext cx="3099816" cy="329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Nunito Sans"/>
              </a:rPr>
              <a:t>Idag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977640"/>
            <a:ext cx="3099816" cy="10058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Nunito Sans"/>
              </a:rPr>
              <a:t>Se aktiviteter, uppgifter och ordning.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15468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5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11312" y="3337560"/>
            <a:ext cx="438912" cy="82296"/>
          </a:xfrm>
          <a:prstGeom prst="roundRect">
            <a:avLst/>
          </a:prstGeom>
          <a:solidFill>
            <a:srgbClr val="F2A8CE"/>
          </a:solidFill>
          <a:ln>
            <a:solidFill>
              <a:srgbClr val="F2A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3575304"/>
            <a:ext cx="3099816" cy="329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Nunito Sans"/>
              </a:rPr>
              <a:t>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3977640"/>
            <a:ext cx="3099816" cy="10058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Nunito Sans"/>
              </a:rPr>
              <a:t>En samlad väg till övriga funktioner.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11480" y="-411480"/>
            <a:ext cx="2103120" cy="2103120"/>
          </a:xfrm>
          <a:prstGeom prst="roundRect">
            <a:avLst/>
          </a:prstGeom>
          <a:solidFill>
            <a:srgbClr val="7C5CE0"/>
          </a:solidFill>
          <a:ln>
            <a:solidFill>
              <a:srgbClr val="7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81360" y="5577840"/>
            <a:ext cx="1828800" cy="1828800"/>
          </a:xfrm>
          <a:prstGeom prst="roundRect">
            <a:avLst/>
          </a:prstGeom>
          <a:solidFill>
            <a:srgbClr val="F2A8CE"/>
          </a:solidFill>
          <a:ln>
            <a:solidFill>
              <a:srgbClr val="F2A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1">
                <a:solidFill>
                  <a:srgbClr val="7C5CE0"/>
                </a:solidFill>
                <a:latin typeface="Nunito Sans"/>
              </a:rPr>
              <a:t>DET SOM BYGGTS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2344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900" b="1">
                <a:solidFill>
                  <a:srgbClr val="241C3B"/>
                </a:solidFill>
                <a:latin typeface="Nunito Sans"/>
              </a:rPr>
              <a:t>En app som håller ihop även när livet inte gör det.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5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3108960"/>
            <a:ext cx="438912" cy="82296"/>
          </a:xfrm>
          <a:prstGeom prst="roundRect">
            <a:avLst/>
          </a:prstGeom>
          <a:solidFill>
            <a:srgbClr val="7C5CE0"/>
          </a:solidFill>
          <a:ln>
            <a:solidFill>
              <a:srgbClr val="7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346704"/>
            <a:ext cx="3099816" cy="329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Nunito Sans"/>
              </a:rPr>
              <a:t>Blocksystem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749040"/>
            <a:ext cx="3099816" cy="13258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Nunito Sans"/>
              </a:rPr>
              <a:t>Responsiva tvåkolumns-grid, fullbreddsformulär och expanderbara kort.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92608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5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3712" y="3108960"/>
            <a:ext cx="438912" cy="82296"/>
          </a:xfrm>
          <a:prstGeom prst="roundRect">
            <a:avLst/>
          </a:prstGeom>
          <a:solidFill>
            <a:srgbClr val="F2A8CE"/>
          </a:solidFill>
          <a:ln>
            <a:solidFill>
              <a:srgbClr val="F2A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3346704"/>
            <a:ext cx="3099816" cy="329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Nunito Sans"/>
              </a:rPr>
              <a:t>Tillgänglighet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749040"/>
            <a:ext cx="3099816" cy="13258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Nunito Sans"/>
              </a:rPr>
              <a:t>Reduced motion, tydliga states och tillbaka till rätt plats.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92608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5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11312" y="3108960"/>
            <a:ext cx="438912" cy="82296"/>
          </a:xfrm>
          <a:prstGeom prst="roundRect">
            <a:avLst/>
          </a:prstGeom>
          <a:solidFill>
            <a:srgbClr val="A98CF0"/>
          </a:solidFill>
          <a:ln>
            <a:solidFill>
              <a:srgbClr val="A98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3346704"/>
            <a:ext cx="3099816" cy="329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Nunito Sans"/>
              </a:rPr>
              <a:t>Tillit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3749040"/>
            <a:ext cx="3099816" cy="13258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Nunito Sans"/>
              </a:rPr>
              <a:t>Append-only historik, central statistik och en källa per sak.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11480" y="-411480"/>
            <a:ext cx="2103120" cy="2103120"/>
          </a:xfrm>
          <a:prstGeom prst="roundRect">
            <a:avLst/>
          </a:prstGeom>
          <a:solidFill>
            <a:srgbClr val="7C5CE0"/>
          </a:solidFill>
          <a:ln>
            <a:solidFill>
              <a:srgbClr val="7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81360" y="5577840"/>
            <a:ext cx="1828800" cy="1828800"/>
          </a:xfrm>
          <a:prstGeom prst="roundRect">
            <a:avLst/>
          </a:prstGeom>
          <a:solidFill>
            <a:srgbClr val="F2A8CE"/>
          </a:solidFill>
          <a:ln>
            <a:solidFill>
              <a:srgbClr val="F2A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1">
                <a:solidFill>
                  <a:srgbClr val="7C5CE0"/>
                </a:solidFill>
                <a:latin typeface="Nunito Sans"/>
              </a:rPr>
              <a:t>MÖJLIGHETEN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2344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900" b="1">
                <a:solidFill>
                  <a:srgbClr val="241C3B"/>
                </a:solidFill>
                <a:latin typeface="Nunito Sans"/>
              </a:rPr>
              <a:t>En stor målgrupp med vardagsproblem som fortfarande är splittrade.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9966960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400" b="0">
                <a:solidFill>
                  <a:srgbClr val="6F6789"/>
                </a:solidFill>
                <a:latin typeface="Nunito Sans"/>
              </a:rPr>
              <a:t>Externa uppskattningar – inte MyFloves egna användar- eller intäktssiffror.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8036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5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3063240"/>
            <a:ext cx="438912" cy="82296"/>
          </a:xfrm>
          <a:prstGeom prst="roundRect">
            <a:avLst/>
          </a:prstGeom>
          <a:solidFill>
            <a:srgbClr val="7C5CE0"/>
          </a:solidFill>
          <a:ln>
            <a:solidFill>
              <a:srgbClr val="7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300984"/>
            <a:ext cx="4745736" cy="329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Nunito Sans"/>
              </a:rPr>
              <a:t>vuxna globalt: 140M+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703320"/>
            <a:ext cx="4745736" cy="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Nunito Sans"/>
              </a:rPr>
              <a:t>uppskattning vid 2,58 % ADHD-prevalens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88036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5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82512" y="3063240"/>
            <a:ext cx="438912" cy="82296"/>
          </a:xfrm>
          <a:prstGeom prst="roundRect">
            <a:avLst/>
          </a:prstGeom>
          <a:solidFill>
            <a:srgbClr val="F2A8CE"/>
          </a:solidFill>
          <a:ln>
            <a:solidFill>
              <a:srgbClr val="F2A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3300984"/>
            <a:ext cx="4745736" cy="329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Nunito Sans"/>
              </a:rPr>
              <a:t>vuxna i Sverige: ~3 %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3703320"/>
            <a:ext cx="4745736" cy="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Nunito Sans"/>
              </a:rPr>
              <a:t>Socialstyrelsens angivna nivå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78808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5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4361688"/>
            <a:ext cx="438912" cy="82296"/>
          </a:xfrm>
          <a:prstGeom prst="roundRect">
            <a:avLst/>
          </a:prstGeom>
          <a:solidFill>
            <a:srgbClr val="7C5CE0"/>
          </a:solidFill>
          <a:ln>
            <a:solidFill>
              <a:srgbClr val="7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99432"/>
            <a:ext cx="4745736" cy="329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Nunito Sans"/>
              </a:rPr>
              <a:t>$ ADHD-appar 2025: $1,9B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001768"/>
            <a:ext cx="4745736" cy="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Nunito Sans"/>
              </a:rPr>
              <a:t>extern marknadsuppskattning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78808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5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82512" y="4361688"/>
            <a:ext cx="438912" cy="82296"/>
          </a:xfrm>
          <a:prstGeom prst="roundRect">
            <a:avLst/>
          </a:prstGeom>
          <a:solidFill>
            <a:srgbClr val="F2A8CE"/>
          </a:solidFill>
          <a:ln>
            <a:solidFill>
              <a:srgbClr val="F2A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599432"/>
            <a:ext cx="4745736" cy="329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Nunito Sans"/>
              </a:rPr>
              <a:t>$ ADHD-appar 2033: $6,7B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5001768"/>
            <a:ext cx="4745736" cy="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Nunito Sans"/>
              </a:rPr>
              <a:t>prognos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06440"/>
            <a:ext cx="1051560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900" b="0">
                <a:solidFill>
                  <a:srgbClr val="6F6789"/>
                </a:solidFill>
                <a:latin typeface="Nunito Sans"/>
              </a:rPr>
              <a:t>Källor: PubMed (2021) · Socialstyrelsen · Grand View Research. Marknadssiffror är uppskattningar och prognoser.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C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11480" y="-411480"/>
            <a:ext cx="2103120" cy="2103120"/>
          </a:xfrm>
          <a:prstGeom prst="roundRect">
            <a:avLst/>
          </a:prstGeom>
          <a:solidFill>
            <a:srgbClr val="7C5CE0"/>
          </a:solidFill>
          <a:ln>
            <a:solidFill>
              <a:srgbClr val="7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81360" y="5577840"/>
            <a:ext cx="1828800" cy="1828800"/>
          </a:xfrm>
          <a:prstGeom prst="roundRect">
            <a:avLst/>
          </a:prstGeom>
          <a:solidFill>
            <a:srgbClr val="F2A8CE"/>
          </a:solidFill>
          <a:ln>
            <a:solidFill>
              <a:srgbClr val="F2A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low-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280160"/>
            <a:ext cx="1828800" cy="12354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143000"/>
            <a:ext cx="7315200" cy="548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000" b="1">
                <a:solidFill>
                  <a:srgbClr val="A98CF0"/>
                </a:solidFill>
                <a:latin typeface="Nunito Sans"/>
              </a:rPr>
              <a:t>MYFLOVE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8046720" cy="1463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unito Sans"/>
              </a:rPr>
              <a:t>Vardagen ska inte
kräva att du är någon annan.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7498079" cy="7772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700" b="0">
                <a:solidFill>
                  <a:srgbClr val="DED8EC"/>
                </a:solidFill>
                <a:latin typeface="Nunito Sans"/>
              </a:rPr>
              <a:t>Flow hjälper dig att hitta nästa steg – med mer lugn och mindre mental belastning.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32120"/>
            <a:ext cx="731520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300" b="0">
                <a:solidFill>
                  <a:srgbClr val="A98CF0"/>
                </a:solidFill>
                <a:latin typeface="Nunito Sans"/>
              </a:rPr>
              <a:t>myflove.lovable.app  ·  version 3.7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