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74" r:id="rId25"/>
    <p:sldId id="275" r:id="rId26"/>
    <p:sldId id="276" r:id="rId27"/>
    <p:sldId id="277" r:id="rId28"/>
    <p:sldId id="278" r:id="rId29"/>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41C3B"/>
        </a:solidFill>
        <a:effectLst/>
      </p:bgPr>
    </p:bg>
    <p:spTree>
      <p:nvGrpSpPr>
        <p:cNvPr id="1" name=""/>
        <p:cNvGrpSpPr/>
        <p:nvPr/>
      </p:nvGrpSpPr>
      <p:grpSpPr/>
      <p:sp>
        <p:nvSpPr>
          <p:cNvPr id="2" name="Rounded Rectangle 1"/>
          <p:cNvSpPr/>
          <p:nvPr/>
        </p:nvSpPr>
        <p:spPr>
          <a:xfrm>
            <a:off x="11338560" y="6035040"/>
            <a:ext cx="1463040" cy="1463040"/>
          </a:xfrm>
          <a:prstGeom prst="roundRect">
            <a:avLst/>
          </a:prstGeom>
          <a:solidFill>
            <a:srgbClr val="3A2C5C"/>
          </a:solidFill>
          <a:ln>
            <a:solidFill>
              <a:srgbClr val="3A2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png"/>
          <p:cNvPicPr>
            <a:picLocks noChangeAspect="1"/>
          </p:cNvPicPr>
          <p:nvPr/>
        </p:nvPicPr>
        <p:blipFill>
          <a:blip r:embed="rId2"/>
          <a:stretch>
            <a:fillRect/>
          </a:stretch>
        </p:blipFill>
        <p:spPr>
          <a:xfrm>
            <a:off x="8823960" y="914400"/>
            <a:ext cx="2194560" cy="1482547"/>
          </a:xfrm>
          <a:prstGeom prst="rect">
            <a:avLst/>
          </a:prstGeom>
        </p:spPr>
      </p:pic>
      <p:sp>
        <p:nvSpPr>
          <p:cNvPr id="4" name="TextBox 3"/>
          <p:cNvSpPr txBox="1"/>
          <p:nvPr/>
        </p:nvSpPr>
        <p:spPr>
          <a:xfrm>
            <a:off x="731520" y="1097280"/>
            <a:ext cx="7680960" cy="381000"/>
          </a:xfrm>
          <a:prstGeom prst="rect">
            <a:avLst/>
          </a:prstGeom>
          <a:noFill/>
        </p:spPr>
        <p:txBody>
          <a:bodyPr wrap="square" lIns="0" rIns="0" tIns="0" bIns="0">
            <a:spAutoFit/>
          </a:bodyPr>
          <a:lstStyle/>
          <a:p>
            <a:pPr algn="l"/>
            <a:r>
              <a:rPr sz="2000" b="1" i="0">
                <a:solidFill>
                  <a:srgbClr val="A98CF0"/>
                </a:solidFill>
                <a:latin typeface="Nunito Sans"/>
              </a:rPr>
              <a:t>MYFLOVE</a:t>
            </a:r>
          </a:p>
        </p:txBody>
      </p:sp>
      <p:sp>
        <p:nvSpPr>
          <p:cNvPr id="5" name="TextBox 4"/>
          <p:cNvSpPr txBox="1"/>
          <p:nvPr/>
        </p:nvSpPr>
        <p:spPr>
          <a:xfrm>
            <a:off x="731520" y="1828800"/>
            <a:ext cx="7680960" cy="723900"/>
          </a:xfrm>
          <a:prstGeom prst="rect">
            <a:avLst/>
          </a:prstGeom>
          <a:noFill/>
        </p:spPr>
        <p:txBody>
          <a:bodyPr wrap="square" lIns="0" rIns="0" tIns="0" bIns="0">
            <a:spAutoFit/>
          </a:bodyPr>
          <a:lstStyle/>
          <a:p>
            <a:pPr algn="l">
              <a:lnSpc>
                <a:spcPct val="110000"/>
              </a:lnSpc>
            </a:pPr>
            <a:r>
              <a:rPr sz="3800" b="1" i="0">
                <a:solidFill>
                  <a:srgbClr val="FFFFFF"/>
                </a:solidFill>
                <a:latin typeface="Nunito Sans"/>
              </a:rPr>
              <a:t>En enda lugn väg</a:t>
            </a:r>
          </a:p>
          <a:p>
            <a:pPr algn="l">
              <a:lnSpc>
                <a:spcPct val="110000"/>
              </a:lnSpc>
            </a:pPr>
            <a:r>
              <a:rPr sz="3800" b="1" i="0">
                <a:solidFill>
                  <a:srgbClr val="FFFFFF"/>
                </a:solidFill>
                <a:latin typeface="Nunito Sans"/>
              </a:rPr>
              <a:t>genom vardagen.</a:t>
            </a:r>
          </a:p>
        </p:txBody>
      </p:sp>
      <p:sp>
        <p:nvSpPr>
          <p:cNvPr id="6" name="TextBox 5"/>
          <p:cNvSpPr txBox="1"/>
          <p:nvPr/>
        </p:nvSpPr>
        <p:spPr>
          <a:xfrm>
            <a:off x="731520" y="3977639"/>
            <a:ext cx="7132320" cy="323850"/>
          </a:xfrm>
          <a:prstGeom prst="rect">
            <a:avLst/>
          </a:prstGeom>
          <a:noFill/>
        </p:spPr>
        <p:txBody>
          <a:bodyPr wrap="square" lIns="0" rIns="0" tIns="0" bIns="0">
            <a:spAutoFit/>
          </a:bodyPr>
          <a:lstStyle/>
          <a:p>
            <a:pPr algn="l">
              <a:lnSpc>
                <a:spcPct val="135000"/>
              </a:lnSpc>
            </a:pPr>
            <a:r>
              <a:rPr sz="1700" b="0" i="0">
                <a:solidFill>
                  <a:srgbClr val="A98CF0"/>
                </a:solidFill>
                <a:latin typeface="Nunito Sans"/>
              </a:rPr>
              <a:t>En enkel start.</a:t>
            </a:r>
          </a:p>
          <a:p>
            <a:pPr algn="l">
              <a:lnSpc>
                <a:spcPct val="135000"/>
              </a:lnSpc>
            </a:pPr>
            <a:r>
              <a:rPr sz="1700" b="0" i="0">
                <a:solidFill>
                  <a:srgbClr val="A98CF0"/>
                </a:solidFill>
                <a:latin typeface="Nunito Sans"/>
              </a:rPr>
              <a:t>Energi som kompass.</a:t>
            </a:r>
          </a:p>
          <a:p>
            <a:pPr algn="l">
              <a:lnSpc>
                <a:spcPct val="135000"/>
              </a:lnSpc>
            </a:pPr>
            <a:r>
              <a:rPr sz="1700" b="0" i="0">
                <a:solidFill>
                  <a:srgbClr val="A98CF0"/>
                </a:solidFill>
                <a:latin typeface="Nunito Sans"/>
              </a:rPr>
              <a:t>En app som lär sig din vardag.</a:t>
            </a:r>
          </a:p>
        </p:txBody>
      </p:sp>
      <p:sp>
        <p:nvSpPr>
          <p:cNvPr id="7" name="TextBox 6"/>
          <p:cNvSpPr txBox="1"/>
          <p:nvPr/>
        </p:nvSpPr>
        <p:spPr>
          <a:xfrm>
            <a:off x="731520" y="5349240"/>
            <a:ext cx="7315200" cy="247650"/>
          </a:xfrm>
          <a:prstGeom prst="rect">
            <a:avLst/>
          </a:prstGeom>
          <a:noFill/>
        </p:spPr>
        <p:txBody>
          <a:bodyPr wrap="square" lIns="0" rIns="0" tIns="0" bIns="0">
            <a:spAutoFit/>
          </a:bodyPr>
          <a:lstStyle/>
          <a:p>
            <a:pPr algn="l"/>
            <a:r>
              <a:rPr sz="1300" b="0" i="0">
                <a:solidFill>
                  <a:srgbClr val="DBD3ED"/>
                </a:solidFill>
                <a:latin typeface="Nunito Sans"/>
              </a:rPr>
              <a:t>Pitch 2026 · version 4.1 · 2026-09-04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FÖRORD</a:t>
            </a:r>
          </a:p>
        </p:txBody>
      </p:sp>
      <p:sp>
        <p:nvSpPr>
          <p:cNvPr id="5" name="TextBox 4"/>
          <p:cNvSpPr txBox="1"/>
          <p:nvPr/>
        </p:nvSpPr>
        <p:spPr>
          <a:xfrm>
            <a:off x="731520" y="860000"/>
            <a:ext cx="10698480" cy="476250"/>
          </a:xfrm>
          <a:prstGeom prst="rect">
            <a:avLst/>
          </a:prstGeom>
          <a:noFill/>
        </p:spPr>
        <p:txBody>
          <a:bodyPr wrap="square" lIns="0" rIns="0" tIns="0" bIns="0">
            <a:spAutoFit/>
          </a:bodyPr>
          <a:lstStyle/>
          <a:p>
            <a:pPr algn="l"/>
            <a:r>
              <a:rPr sz="2500" b="1" i="0">
                <a:solidFill>
                  <a:srgbClr val="241C3B"/>
                </a:solidFill>
                <a:latin typeface="Nunito Sans"/>
              </a:rPr>
              <a:t>Varför jag bygger MyFlove</a:t>
            </a:r>
          </a:p>
        </p:txBody>
      </p:sp>
      <p:sp>
        <p:nvSpPr>
          <p:cNvPr id="6" name="Rounded Rectangle 5"/>
          <p:cNvSpPr/>
          <p:nvPr/>
        </p:nvSpPr>
        <p:spPr>
          <a:xfrm>
            <a:off x="731520" y="1440000"/>
            <a:ext cx="10698480" cy="425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20" y="1700000"/>
            <a:ext cx="10058480" cy="228600"/>
          </a:xfrm>
          <a:prstGeom prst="rect">
            <a:avLst/>
          </a:prstGeom>
          <a:noFill/>
        </p:spPr>
        <p:txBody>
          <a:bodyPr wrap="square" lIns="0" rIns="0" tIns="0" bIns="0">
            <a:spAutoFit/>
          </a:bodyPr>
          <a:lstStyle/>
          <a:p>
            <a:pPr algn="l">
              <a:lnSpc>
                <a:spcPct val="132000"/>
              </a:lnSpc>
              <a:spcAft>
                <a:spcPts val="900"/>
              </a:spcAft>
            </a:pPr>
            <a:r>
              <a:rPr sz="1200" b="0" i="1">
                <a:solidFill>
                  <a:srgbClr val="6F6789"/>
                </a:solidFill>
                <a:latin typeface="Nunito Sans"/>
              </a:rPr>
              <a:t>”MyFlove började inte med en idé om att bygga ännu en app. Det började med en frustration och en fråga: varför är det så svårt att få vardagen att fungera, även när man vet vad man behöver göra?”</a:t>
            </a:r>
          </a:p>
          <a:p>
            <a:pPr algn="l">
              <a:lnSpc>
                <a:spcPct val="132000"/>
              </a:lnSpc>
              <a:spcAft>
                <a:spcPts val="900"/>
              </a:spcAft>
            </a:pPr>
            <a:r>
              <a:rPr sz="1200" b="0" i="1">
                <a:solidFill>
                  <a:srgbClr val="6F6789"/>
                </a:solidFill>
                <a:latin typeface="Nunito Sans"/>
              </a:rPr>
              <a:t>”Jag är utbildad humanistisk socialpedagog och har vidareutbildat mig inom NPF, pedagogik, problematisk skolfrånvaro samt professionellt bemötande vid trauma och svåra händelser. Genom mina yrkesroller som ungdomscoach, boendestödjare och barnskötare har jag mött människor ur flera olika perspektiv och sett hur behovet av rätt stöd kan se väldigt olika ut.”</a:t>
            </a:r>
          </a:p>
          <a:p>
            <a:pPr algn="l">
              <a:lnSpc>
                <a:spcPct val="132000"/>
              </a:lnSpc>
              <a:spcAft>
                <a:spcPts val="900"/>
              </a:spcAft>
            </a:pPr>
            <a:r>
              <a:rPr sz="1200" b="0" i="1">
                <a:solidFill>
                  <a:srgbClr val="6F6789"/>
                </a:solidFill>
                <a:latin typeface="Nunito Sans"/>
              </a:rPr>
              <a:t>”Samtidigt har jag själv ADHD och är förälder till en dotter med autism och ADHD. Det har gett mig en personlig förståelse för den mentala belastning som kan uppstå när vardagens krav, ansvar, planering och energi inte går ihop.”</a:t>
            </a:r>
          </a:p>
          <a:p>
            <a:pPr algn="l">
              <a:lnSpc>
                <a:spcPct val="132000"/>
              </a:lnSpc>
              <a:spcAft>
                <a:spcPts val="900"/>
              </a:spcAft>
            </a:pPr>
            <a:r>
              <a:rPr sz="1200" b="0" i="1">
                <a:solidFill>
                  <a:srgbClr val="6F6789"/>
                </a:solidFill>
                <a:latin typeface="Nunito Sans"/>
              </a:rPr>
              <a:t>”I mötet mellan min professionella kunskap och mina egna erfarenheter växte en tydlig bild fram: vi har många digitala verktyg som hjälper oss att hålla reda på vad vi ska göra, men betydligt färre som hjälper oss att förstå vad vi faktiskt har kapacitet att göra.”</a:t>
            </a:r>
          </a:p>
          <a:p>
            <a:pPr algn="l">
              <a:lnSpc>
                <a:spcPct val="132000"/>
              </a:lnSpc>
              <a:spcAft>
                <a:spcPts val="900"/>
              </a:spcAft>
            </a:pPr>
            <a:r>
              <a:rPr sz="1200" b="0" i="1">
                <a:solidFill>
                  <a:srgbClr val="6F6789"/>
                </a:solidFill>
                <a:latin typeface="Nunito Sans"/>
              </a:rPr>
              <a:t>”Det är där MyFlove börjar. Jag vill bygga ett stöd som inte kräver att människan anpassar sig efter systemet, utan ett system som anpassar sig efter människans förutsättningar – och hjälper till att hitta nästa steg.”</a:t>
            </a:r>
          </a:p>
        </p:txBody>
      </p:sp>
      <p:sp>
        <p:nvSpPr>
          <p:cNvPr id="8" name="TextBox 7"/>
          <p:cNvSpPr txBox="1"/>
          <p:nvPr/>
        </p:nvSpPr>
        <p:spPr>
          <a:xfrm>
            <a:off x="1051520" y="5150000"/>
            <a:ext cx="5000000" cy="266700"/>
          </a:xfrm>
          <a:prstGeom prst="rect">
            <a:avLst/>
          </a:prstGeom>
          <a:noFill/>
        </p:spPr>
        <p:txBody>
          <a:bodyPr wrap="square" lIns="0" rIns="0" tIns="0" bIns="0">
            <a:spAutoFit/>
          </a:bodyPr>
          <a:lstStyle/>
          <a:p>
            <a:pPr algn="l"/>
            <a:r>
              <a:rPr sz="1400" b="1" i="0">
                <a:solidFill>
                  <a:srgbClr val="241C3B"/>
                </a:solidFill>
                <a:latin typeface="Nunito Sans"/>
              </a:rPr>
              <a:t>Camilla Baksi</a:t>
            </a:r>
          </a:p>
        </p:txBody>
      </p:sp>
      <p:sp>
        <p:nvSpPr>
          <p:cNvPr id="9" name="TextBox 8"/>
          <p:cNvSpPr txBox="1"/>
          <p:nvPr/>
        </p:nvSpPr>
        <p:spPr>
          <a:xfrm>
            <a:off x="1051520" y="5420000"/>
            <a:ext cx="5000000" cy="228600"/>
          </a:xfrm>
          <a:prstGeom prst="rect">
            <a:avLst/>
          </a:prstGeom>
          <a:noFill/>
        </p:spPr>
        <p:txBody>
          <a:bodyPr wrap="square" lIns="0" rIns="0" tIns="0" bIns="0">
            <a:spAutoFit/>
          </a:bodyPr>
          <a:lstStyle/>
          <a:p>
            <a:pPr algn="l"/>
            <a:r>
              <a:rPr sz="1200" b="0" i="0">
                <a:solidFill>
                  <a:srgbClr val="7C5CE0"/>
                </a:solidFill>
                <a:latin typeface="Nunito Sans"/>
              </a:rPr>
              <a:t>Founder, MyFlove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PROBLEMET</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Vardagen kräver mer än en lista</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När energi, tid och ansvar inte hänger ihop blir användaren själv systemet.</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Kalendern</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Visar när – inte om du orkar.</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Listan</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Växer när kapaciteten sjunker.</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Splittringen</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Tider, hälsa och vardag ligger isär.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INSIKTEN</a:t>
            </a:r>
          </a:p>
        </p:txBody>
      </p:sp>
      <p:sp>
        <p:nvSpPr>
          <p:cNvPr id="5" name="Rounded Rectangle 4"/>
          <p:cNvSpPr/>
          <p:nvPr/>
        </p:nvSpPr>
        <p:spPr>
          <a:xfrm>
            <a:off x="731520" y="1600000"/>
            <a:ext cx="10698480" cy="3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31520" y="1980000"/>
            <a:ext cx="9898480" cy="476250"/>
          </a:xfrm>
          <a:prstGeom prst="rect">
            <a:avLst/>
          </a:prstGeom>
          <a:noFill/>
        </p:spPr>
        <p:txBody>
          <a:bodyPr wrap="square" lIns="0" rIns="0" tIns="0" bIns="0">
            <a:spAutoFit/>
          </a:bodyPr>
          <a:lstStyle/>
          <a:p>
            <a:pPr algn="l">
              <a:lnSpc>
                <a:spcPct val="120000"/>
              </a:lnSpc>
            </a:pPr>
            <a:r>
              <a:rPr sz="2500" b="1" i="0">
                <a:solidFill>
                  <a:srgbClr val="241C3B"/>
                </a:solidFill>
                <a:latin typeface="Nunito Sans"/>
              </a:rPr>
              <a:t>Planera efter energi, inte bara efter tid.</a:t>
            </a:r>
          </a:p>
        </p:txBody>
      </p:sp>
      <p:sp>
        <p:nvSpPr>
          <p:cNvPr id="7" name="TextBox 6"/>
          <p:cNvSpPr txBox="1"/>
          <p:nvPr/>
        </p:nvSpPr>
        <p:spPr>
          <a:xfrm>
            <a:off x="1131520" y="2900000"/>
            <a:ext cx="9898480" cy="266700"/>
          </a:xfrm>
          <a:prstGeom prst="rect">
            <a:avLst/>
          </a:prstGeom>
          <a:noFill/>
        </p:spPr>
        <p:txBody>
          <a:bodyPr wrap="square" lIns="0" rIns="0" tIns="0" bIns="0">
            <a:spAutoFit/>
          </a:bodyPr>
          <a:lstStyle/>
          <a:p>
            <a:pPr algn="l">
              <a:lnSpc>
                <a:spcPct val="140000"/>
              </a:lnSpc>
              <a:spcAft>
                <a:spcPts val="1000"/>
              </a:spcAft>
            </a:pPr>
            <a:r>
              <a:rPr sz="1400" b="0" i="0">
                <a:solidFill>
                  <a:srgbClr val="6F6789"/>
                </a:solidFill>
                <a:latin typeface="Nunito Sans"/>
              </a:rPr>
              <a:t>Ett bra vardagsstöd hjälper dig att välja vad som är rimligt nu – utan att döma.</a:t>
            </a:r>
          </a:p>
          <a:p>
            <a:pPr algn="l">
              <a:lnSpc>
                <a:spcPct val="140000"/>
              </a:lnSpc>
              <a:spcAft>
                <a:spcPts val="1000"/>
              </a:spcAft>
            </a:pPr>
            <a:r>
              <a:rPr sz="1400" b="0" i="0">
                <a:solidFill>
                  <a:srgbClr val="6F6789"/>
                </a:solidFill>
                <a:latin typeface="Nunito Sans"/>
              </a:rPr>
              <a:t>MyFlove gör kapacitet synlig, samlar trådarna och ger en väg vidare.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LÖSNINGEN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Inte ännu en kalender eller att-göra-lista</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MyFlove hjälper människor att förstå, prioritera och genomföra det de faktiskt har kapacitet att göra.</a:t>
            </a:r>
          </a:p>
        </p:txBody>
      </p:sp>
      <p:sp>
        <p:nvSpPr>
          <p:cNvPr id="7" name="Rounded Rectangle 6"/>
          <p:cNvSpPr/>
          <p:nvPr/>
        </p:nvSpPr>
        <p:spPr>
          <a:xfrm>
            <a:off x="7315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Vad behöver göras?</a:t>
            </a:r>
          </a:p>
        </p:txBody>
      </p:sp>
      <p:sp>
        <p:nvSpPr>
          <p:cNvPr id="10" name="TextBox 9"/>
          <p:cNvSpPr txBox="1"/>
          <p:nvPr/>
        </p:nvSpPr>
        <p:spPr>
          <a:xfrm>
            <a:off x="8961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Allt samlas på ett ställe.</a:t>
            </a:r>
          </a:p>
        </p:txBody>
      </p:sp>
      <p:sp>
        <p:nvSpPr>
          <p:cNvPr id="11" name="Rounded Rectangle 10"/>
          <p:cNvSpPr/>
          <p:nvPr/>
        </p:nvSpPr>
        <p:spPr>
          <a:xfrm>
            <a:off x="34747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Hur mycket kapacitet finns?</a:t>
            </a:r>
          </a:p>
        </p:txBody>
      </p:sp>
      <p:sp>
        <p:nvSpPr>
          <p:cNvPr id="14" name="TextBox 13"/>
          <p:cNvSpPr txBox="1"/>
          <p:nvPr/>
        </p:nvSpPr>
        <p:spPr>
          <a:xfrm>
            <a:off x="36393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Energi och mående blir synligt.</a:t>
            </a:r>
          </a:p>
        </p:txBody>
      </p:sp>
      <p:sp>
        <p:nvSpPr>
          <p:cNvPr id="15" name="Rounded Rectangle 14"/>
          <p:cNvSpPr/>
          <p:nvPr/>
        </p:nvSpPr>
        <p:spPr>
          <a:xfrm>
            <a:off x="62179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Vad är rimligt just nu?</a:t>
            </a:r>
          </a:p>
        </p:txBody>
      </p:sp>
      <p:sp>
        <p:nvSpPr>
          <p:cNvPr id="18" name="TextBox 17"/>
          <p:cNvSpPr txBox="1"/>
          <p:nvPr/>
        </p:nvSpPr>
        <p:spPr>
          <a:xfrm>
            <a:off x="63825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Förslag anpassade efter dagen.</a:t>
            </a:r>
          </a:p>
        </p:txBody>
      </p:sp>
      <p:sp>
        <p:nvSpPr>
          <p:cNvPr id="19" name="Rounded Rectangle 18"/>
          <p:cNvSpPr/>
          <p:nvPr/>
        </p:nvSpPr>
        <p:spPr>
          <a:xfrm>
            <a:off x="89611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Vad är nästa steg?</a:t>
            </a:r>
          </a:p>
        </p:txBody>
      </p:sp>
      <p:sp>
        <p:nvSpPr>
          <p:cNvPr id="22" name="TextBox 21"/>
          <p:cNvSpPr txBox="1"/>
          <p:nvPr/>
        </p:nvSpPr>
        <p:spPr>
          <a:xfrm>
            <a:off x="91257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En sak i taget, utan press.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PRODUKTEN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En enkel och lugn start: tre funktioner</a:t>
            </a:r>
          </a:p>
        </p:txBody>
      </p:sp>
      <p:sp>
        <p:nvSpPr>
          <p:cNvPr id="6" name="Rounded Rectangle 5"/>
          <p:cNvSpPr/>
          <p:nvPr/>
        </p:nvSpPr>
        <p:spPr>
          <a:xfrm>
            <a:off x="731520" y="2700000"/>
            <a:ext cx="3383280" cy="2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28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3120000"/>
            <a:ext cx="3054096" cy="304800"/>
          </a:xfrm>
          <a:prstGeom prst="rect">
            <a:avLst/>
          </a:prstGeom>
          <a:noFill/>
        </p:spPr>
        <p:txBody>
          <a:bodyPr wrap="square" lIns="0" rIns="0" tIns="0" bIns="0">
            <a:spAutoFit/>
          </a:bodyPr>
          <a:lstStyle/>
          <a:p>
            <a:pPr algn="l"/>
            <a:r>
              <a:rPr sz="1600" b="1" i="0">
                <a:solidFill>
                  <a:srgbClr val="241C3B"/>
                </a:solidFill>
                <a:latin typeface="Nunito Sans"/>
              </a:rPr>
              <a:t>Quickflow</a:t>
            </a:r>
          </a:p>
        </p:txBody>
      </p:sp>
      <p:sp>
        <p:nvSpPr>
          <p:cNvPr id="9" name="TextBox 8"/>
          <p:cNvSpPr txBox="1"/>
          <p:nvPr/>
        </p:nvSpPr>
        <p:spPr>
          <a:xfrm>
            <a:off x="896112" y="34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Få ner tanken direkt – utan att kategorisera eller planera.</a:t>
            </a:r>
          </a:p>
        </p:txBody>
      </p:sp>
      <p:sp>
        <p:nvSpPr>
          <p:cNvPr id="10" name="Rounded Rectangle 9"/>
          <p:cNvSpPr/>
          <p:nvPr/>
        </p:nvSpPr>
        <p:spPr>
          <a:xfrm>
            <a:off x="4389120" y="2700000"/>
            <a:ext cx="3383280" cy="2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53712" y="28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3120000"/>
            <a:ext cx="3054096" cy="304800"/>
          </a:xfrm>
          <a:prstGeom prst="rect">
            <a:avLst/>
          </a:prstGeom>
          <a:noFill/>
        </p:spPr>
        <p:txBody>
          <a:bodyPr wrap="square" lIns="0" rIns="0" tIns="0" bIns="0">
            <a:spAutoFit/>
          </a:bodyPr>
          <a:lstStyle/>
          <a:p>
            <a:pPr algn="l"/>
            <a:r>
              <a:rPr sz="1600" b="1" i="0">
                <a:solidFill>
                  <a:srgbClr val="241C3B"/>
                </a:solidFill>
                <a:latin typeface="Nunito Sans"/>
              </a:rPr>
              <a:t>Batteriet</a:t>
            </a:r>
          </a:p>
        </p:txBody>
      </p:sp>
      <p:sp>
        <p:nvSpPr>
          <p:cNvPr id="13" name="TextBox 12"/>
          <p:cNvSpPr txBox="1"/>
          <p:nvPr/>
        </p:nvSpPr>
        <p:spPr>
          <a:xfrm>
            <a:off x="4553712" y="34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Hur mycket ork har du idag? Mycket · Okej · Lite · Nästan slut.</a:t>
            </a:r>
          </a:p>
        </p:txBody>
      </p:sp>
      <p:sp>
        <p:nvSpPr>
          <p:cNvPr id="14" name="Rounded Rectangle 13"/>
          <p:cNvSpPr/>
          <p:nvPr/>
        </p:nvSpPr>
        <p:spPr>
          <a:xfrm>
            <a:off x="8046720" y="2700000"/>
            <a:ext cx="3383280" cy="23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11312" y="28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3120000"/>
            <a:ext cx="3054096" cy="304800"/>
          </a:xfrm>
          <a:prstGeom prst="rect">
            <a:avLst/>
          </a:prstGeom>
          <a:noFill/>
        </p:spPr>
        <p:txBody>
          <a:bodyPr wrap="square" lIns="0" rIns="0" tIns="0" bIns="0">
            <a:spAutoFit/>
          </a:bodyPr>
          <a:lstStyle/>
          <a:p>
            <a:pPr algn="l"/>
            <a:r>
              <a:rPr sz="1600" b="1" i="0">
                <a:solidFill>
                  <a:srgbClr val="241C3B"/>
                </a:solidFill>
                <a:latin typeface="Nunito Sans"/>
              </a:rPr>
              <a:t>Kalendern</a:t>
            </a:r>
          </a:p>
        </p:txBody>
      </p:sp>
      <p:sp>
        <p:nvSpPr>
          <p:cNvPr id="17" name="TextBox 16"/>
          <p:cNvSpPr txBox="1"/>
          <p:nvPr/>
        </p:nvSpPr>
        <p:spPr>
          <a:xfrm>
            <a:off x="8211312" y="34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Rätt sak på rätt dag – dag, vecka och månad.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DEN DAGLIGA LOOPEN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Fånga. Förstå. Anpassa. Fortsätt.</a:t>
            </a:r>
          </a:p>
        </p:txBody>
      </p:sp>
      <p:sp>
        <p:nvSpPr>
          <p:cNvPr id="6" name="Rounded Rectangle 5"/>
          <p:cNvSpPr/>
          <p:nvPr/>
        </p:nvSpPr>
        <p:spPr>
          <a:xfrm>
            <a:off x="7315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15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1</a:t>
            </a:r>
          </a:p>
        </p:txBody>
      </p:sp>
      <p:sp>
        <p:nvSpPr>
          <p:cNvPr id="8" name="TextBox 7"/>
          <p:cNvSpPr txBox="1"/>
          <p:nvPr/>
        </p:nvSpPr>
        <p:spPr>
          <a:xfrm>
            <a:off x="9315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Fånga</a:t>
            </a:r>
          </a:p>
        </p:txBody>
      </p:sp>
      <p:sp>
        <p:nvSpPr>
          <p:cNvPr id="9" name="TextBox 8"/>
          <p:cNvSpPr txBox="1"/>
          <p:nvPr/>
        </p:nvSpPr>
        <p:spPr>
          <a:xfrm>
            <a:off x="9315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Quickflow samlar tanken.</a:t>
            </a:r>
          </a:p>
        </p:txBody>
      </p:sp>
      <p:sp>
        <p:nvSpPr>
          <p:cNvPr id="10" name="Rounded Rectangle 9"/>
          <p:cNvSpPr/>
          <p:nvPr/>
        </p:nvSpPr>
        <p:spPr>
          <a:xfrm>
            <a:off x="34747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47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2</a:t>
            </a:r>
          </a:p>
        </p:txBody>
      </p:sp>
      <p:sp>
        <p:nvSpPr>
          <p:cNvPr id="12" name="TextBox 11"/>
          <p:cNvSpPr txBox="1"/>
          <p:nvPr/>
        </p:nvSpPr>
        <p:spPr>
          <a:xfrm>
            <a:off x="36747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Förstå</a:t>
            </a:r>
          </a:p>
        </p:txBody>
      </p:sp>
      <p:sp>
        <p:nvSpPr>
          <p:cNvPr id="13" name="TextBox 12"/>
          <p:cNvSpPr txBox="1"/>
          <p:nvPr/>
        </p:nvSpPr>
        <p:spPr>
          <a:xfrm>
            <a:off x="36747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Batteriet: en enkel ork-check-in.</a:t>
            </a:r>
          </a:p>
        </p:txBody>
      </p:sp>
      <p:sp>
        <p:nvSpPr>
          <p:cNvPr id="14" name="Rounded Rectangle 13"/>
          <p:cNvSpPr/>
          <p:nvPr/>
        </p:nvSpPr>
        <p:spPr>
          <a:xfrm>
            <a:off x="62179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79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3</a:t>
            </a:r>
          </a:p>
        </p:txBody>
      </p:sp>
      <p:sp>
        <p:nvSpPr>
          <p:cNvPr id="16" name="TextBox 15"/>
          <p:cNvSpPr txBox="1"/>
          <p:nvPr/>
        </p:nvSpPr>
        <p:spPr>
          <a:xfrm>
            <a:off x="64179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Anpassa</a:t>
            </a:r>
          </a:p>
        </p:txBody>
      </p:sp>
      <p:sp>
        <p:nvSpPr>
          <p:cNvPr id="17" name="TextBox 16"/>
          <p:cNvSpPr txBox="1"/>
          <p:nvPr/>
        </p:nvSpPr>
        <p:spPr>
          <a:xfrm>
            <a:off x="64179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MyFlove analyserar bakom kulisserna.</a:t>
            </a:r>
          </a:p>
        </p:txBody>
      </p:sp>
      <p:sp>
        <p:nvSpPr>
          <p:cNvPr id="18" name="Rounded Rectangle 17"/>
          <p:cNvSpPr/>
          <p:nvPr/>
        </p:nvSpPr>
        <p:spPr>
          <a:xfrm>
            <a:off x="8961120" y="2900000"/>
            <a:ext cx="2468880" cy="2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1120" y="3150000"/>
            <a:ext cx="2068880" cy="457200"/>
          </a:xfrm>
          <a:prstGeom prst="rect">
            <a:avLst/>
          </a:prstGeom>
          <a:noFill/>
        </p:spPr>
        <p:txBody>
          <a:bodyPr wrap="square" lIns="0" rIns="0" tIns="0" bIns="0">
            <a:spAutoFit/>
          </a:bodyPr>
          <a:lstStyle/>
          <a:p>
            <a:pPr algn="l"/>
            <a:r>
              <a:rPr sz="2400" b="1" i="0">
                <a:solidFill>
                  <a:srgbClr val="A98CF0"/>
                </a:solidFill>
                <a:latin typeface="Nunito Sans"/>
              </a:rPr>
              <a:t>4</a:t>
            </a:r>
          </a:p>
        </p:txBody>
      </p:sp>
      <p:sp>
        <p:nvSpPr>
          <p:cNvPr id="20" name="TextBox 19"/>
          <p:cNvSpPr txBox="1"/>
          <p:nvPr/>
        </p:nvSpPr>
        <p:spPr>
          <a:xfrm>
            <a:off x="9161120" y="3650000"/>
            <a:ext cx="2068880" cy="323850"/>
          </a:xfrm>
          <a:prstGeom prst="rect">
            <a:avLst/>
          </a:prstGeom>
          <a:noFill/>
        </p:spPr>
        <p:txBody>
          <a:bodyPr wrap="square" lIns="0" rIns="0" tIns="0" bIns="0">
            <a:spAutoFit/>
          </a:bodyPr>
          <a:lstStyle/>
          <a:p>
            <a:pPr algn="l"/>
            <a:r>
              <a:rPr sz="1700" b="1" i="0">
                <a:solidFill>
                  <a:srgbClr val="241C3B"/>
                </a:solidFill>
                <a:latin typeface="Nunito Sans"/>
              </a:rPr>
              <a:t>Fortsätt</a:t>
            </a:r>
          </a:p>
        </p:txBody>
      </p:sp>
      <p:sp>
        <p:nvSpPr>
          <p:cNvPr id="21" name="TextBox 20"/>
          <p:cNvSpPr txBox="1"/>
          <p:nvPr/>
        </p:nvSpPr>
        <p:spPr>
          <a:xfrm>
            <a:off x="9161120" y="4080000"/>
            <a:ext cx="2068880"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Kalendern visar nästa rimliga steg.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FLOW</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En följeslagare som säger en sak i taget.</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Flow finns genom appen – i Hem, Idag, planeringen och hjälpen – med lugn ton och användaren i kontroll.</a:t>
            </a:r>
          </a:p>
        </p:txBody>
      </p:sp>
      <p:sp>
        <p:nvSpPr>
          <p:cNvPr id="7" name="Rounded Rectangle 6"/>
          <p:cNvSpPr/>
          <p:nvPr/>
        </p:nvSpPr>
        <p:spPr>
          <a:xfrm>
            <a:off x="731520" y="3154680"/>
            <a:ext cx="38120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5304"/>
            <a:ext cx="3482896" cy="304800"/>
          </a:xfrm>
          <a:prstGeom prst="rect">
            <a:avLst/>
          </a:prstGeom>
          <a:noFill/>
        </p:spPr>
        <p:txBody>
          <a:bodyPr wrap="square" lIns="0" rIns="0" tIns="0" bIns="0">
            <a:spAutoFit/>
          </a:bodyPr>
          <a:lstStyle/>
          <a:p>
            <a:pPr algn="l"/>
            <a:r>
              <a:rPr sz="1600" b="1" i="0">
                <a:solidFill>
                  <a:srgbClr val="241C3B"/>
                </a:solidFill>
                <a:latin typeface="Nunito Sans"/>
              </a:rPr>
              <a:t>Kontext</a:t>
            </a:r>
          </a:p>
        </p:txBody>
      </p:sp>
      <p:sp>
        <p:nvSpPr>
          <p:cNvPr id="10" name="TextBox 9"/>
          <p:cNvSpPr txBox="1"/>
          <p:nvPr/>
        </p:nvSpPr>
        <p:spPr>
          <a:xfrm>
            <a:off x="896112" y="3960000"/>
            <a:ext cx="34828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Förslag utifrån energi och situation.</a:t>
            </a:r>
          </a:p>
        </p:txBody>
      </p:sp>
      <p:sp>
        <p:nvSpPr>
          <p:cNvPr id="11" name="Rounded Rectangle 10"/>
          <p:cNvSpPr/>
          <p:nvPr/>
        </p:nvSpPr>
        <p:spPr>
          <a:xfrm>
            <a:off x="4817920" y="3154680"/>
            <a:ext cx="38120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82512" y="3575304"/>
            <a:ext cx="3482896" cy="304800"/>
          </a:xfrm>
          <a:prstGeom prst="rect">
            <a:avLst/>
          </a:prstGeom>
          <a:noFill/>
        </p:spPr>
        <p:txBody>
          <a:bodyPr wrap="square" lIns="0" rIns="0" tIns="0" bIns="0">
            <a:spAutoFit/>
          </a:bodyPr>
          <a:lstStyle/>
          <a:p>
            <a:pPr algn="l"/>
            <a:r>
              <a:rPr sz="1600" b="1" i="0">
                <a:solidFill>
                  <a:srgbClr val="241C3B"/>
                </a:solidFill>
                <a:latin typeface="Nunito Sans"/>
              </a:rPr>
              <a:t>Närvaro</a:t>
            </a:r>
          </a:p>
        </p:txBody>
      </p:sp>
      <p:sp>
        <p:nvSpPr>
          <p:cNvPr id="14" name="TextBox 13"/>
          <p:cNvSpPr txBox="1"/>
          <p:nvPr/>
        </p:nvSpPr>
        <p:spPr>
          <a:xfrm>
            <a:off x="4982512" y="3960000"/>
            <a:ext cx="34828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En levande karaktär, inte bara en ikon.</a:t>
            </a:r>
          </a:p>
        </p:txBody>
      </p:sp>
      <p:pic>
        <p:nvPicPr>
          <p:cNvPr id="15" name="Picture 14" descr="image1.png"/>
          <p:cNvPicPr>
            <a:picLocks noChangeAspect="1"/>
          </p:cNvPicPr>
          <p:nvPr/>
        </p:nvPicPr>
        <p:blipFill>
          <a:blip r:embed="rId2"/>
          <a:stretch>
            <a:fillRect/>
          </a:stretch>
        </p:blipFill>
        <p:spPr>
          <a:xfrm>
            <a:off x="8900000" y="3300000"/>
            <a:ext cx="2194560" cy="148254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DET SOM BYGGTS</a:t>
            </a:r>
          </a:p>
        </p:txBody>
      </p:sp>
      <p:sp>
        <p:nvSpPr>
          <p:cNvPr id="5" name="TextBox 4"/>
          <p:cNvSpPr txBox="1"/>
          <p:nvPr/>
        </p:nvSpPr>
        <p:spPr>
          <a:xfrm>
            <a:off x="731520" y="880000"/>
            <a:ext cx="10698480" cy="438150"/>
          </a:xfrm>
          <a:prstGeom prst="rect">
            <a:avLst/>
          </a:prstGeom>
          <a:noFill/>
        </p:spPr>
        <p:txBody>
          <a:bodyPr wrap="square" lIns="0" rIns="0" tIns="0" bIns="0">
            <a:spAutoFit/>
          </a:bodyPr>
          <a:lstStyle/>
          <a:p>
            <a:pPr algn="l"/>
            <a:r>
              <a:rPr sz="2300" b="1" i="0">
                <a:solidFill>
                  <a:srgbClr val="241C3B"/>
                </a:solidFill>
                <a:latin typeface="Nunito Sans"/>
              </a:rPr>
              <a:t>MyFlove är inte bara en idé – en fungerande produkt är byggd.</a:t>
            </a:r>
          </a:p>
        </p:txBody>
      </p:sp>
      <p:sp>
        <p:nvSpPr>
          <p:cNvPr id="6" name="TextBox 5"/>
          <p:cNvSpPr txBox="1"/>
          <p:nvPr/>
        </p:nvSpPr>
        <p:spPr>
          <a:xfrm>
            <a:off x="731520" y="155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En app som håller ihop även när livet inte gör det.</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Blocksystem</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Responsiva tvåkolumns-grid, fullbreddsformulär och expanderbara kort.</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Tillgänglighet</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Reduced motion, tydliga states och tillbaka till rätt plats.</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Tillit</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Historik på faktiska händelser, central statistik och en källa per sak.</a:t>
            </a:r>
          </a:p>
        </p:txBody>
      </p:sp>
      <p:sp>
        <p:nvSpPr>
          <p:cNvPr id="19" name="TextBox 18"/>
          <p:cNvSpPr txBox="1"/>
          <p:nvPr/>
        </p:nvSpPr>
        <p:spPr>
          <a:xfrm>
            <a:off x="731520" y="6200000"/>
            <a:ext cx="10698480" cy="171450"/>
          </a:xfrm>
          <a:prstGeom prst="rect">
            <a:avLst/>
          </a:prstGeom>
          <a:noFill/>
        </p:spPr>
        <p:txBody>
          <a:bodyPr wrap="square" lIns="0" rIns="0" tIns="0" bIns="0">
            <a:spAutoFit/>
          </a:bodyPr>
          <a:lstStyle/>
          <a:p>
            <a:pPr algn="l"/>
            <a:r>
              <a:rPr sz="900" b="0" i="0">
                <a:solidFill>
                  <a:srgbClr val="6F6789"/>
                </a:solidFill>
                <a:latin typeface="Nunito Sans"/>
              </a:rPr>
              <a:t>Status: Built – i drift som webbapp med veckoöversikt, energihistorik och datumkorrekt kalender. Nästa steg: validering och mobila appar.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FOUNDER &amp; KOMPETENS</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Varför jag kan bygga MyFlove</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Kombinationen av professionell kunskap, yrkeserfarenhet, egen erfarenhet och produktutveckling.</a:t>
            </a:r>
          </a:p>
        </p:txBody>
      </p:sp>
      <p:sp>
        <p:nvSpPr>
          <p:cNvPr id="7" name="Rounded Rectangle 6"/>
          <p:cNvSpPr/>
          <p:nvPr/>
        </p:nvSpPr>
        <p:spPr>
          <a:xfrm>
            <a:off x="7315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Camilla Baksi – Founder</a:t>
            </a:r>
          </a:p>
        </p:txBody>
      </p:sp>
      <p:sp>
        <p:nvSpPr>
          <p:cNvPr id="10" name="TextBox 9"/>
          <p:cNvSpPr txBox="1"/>
          <p:nvPr/>
        </p:nvSpPr>
        <p:spPr>
          <a:xfrm>
            <a:off x="8961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Humanistisk socialpedagog</a:t>
            </a:r>
          </a:p>
          <a:p>
            <a:pPr algn="l">
              <a:lnSpc>
                <a:spcPct val="135000"/>
              </a:lnSpc>
              <a:spcAft>
                <a:spcPts val="500"/>
              </a:spcAft>
            </a:pPr>
            <a:r>
              <a:rPr sz="1200" b="0" i="0">
                <a:solidFill>
                  <a:srgbClr val="6F6789"/>
                </a:solidFill>
                <a:latin typeface="Nunito Sans"/>
              </a:rPr>
              <a:t>Utbildning inom NPF och pedagogik</a:t>
            </a:r>
          </a:p>
          <a:p>
            <a:pPr algn="l">
              <a:lnSpc>
                <a:spcPct val="135000"/>
              </a:lnSpc>
              <a:spcAft>
                <a:spcPts val="500"/>
              </a:spcAft>
            </a:pPr>
            <a:r>
              <a:rPr sz="1200" b="0" i="0">
                <a:solidFill>
                  <a:srgbClr val="6F6789"/>
                </a:solidFill>
                <a:latin typeface="Nunito Sans"/>
              </a:rPr>
              <a:t>Utbildning inom problematisk skolfrånvaro</a:t>
            </a:r>
          </a:p>
          <a:p>
            <a:pPr algn="l">
              <a:lnSpc>
                <a:spcPct val="135000"/>
              </a:lnSpc>
              <a:spcAft>
                <a:spcPts val="500"/>
              </a:spcAft>
            </a:pPr>
            <a:r>
              <a:rPr sz="1200" b="0" i="0">
                <a:solidFill>
                  <a:srgbClr val="6F6789"/>
                </a:solidFill>
                <a:latin typeface="Nunito Sans"/>
              </a:rPr>
              <a:t>Professionellt bemötande vid trauma</a:t>
            </a:r>
          </a:p>
        </p:txBody>
      </p:sp>
      <p:sp>
        <p:nvSpPr>
          <p:cNvPr id="11" name="Rounded Rectangle 10"/>
          <p:cNvSpPr/>
          <p:nvPr/>
        </p:nvSpPr>
        <p:spPr>
          <a:xfrm>
            <a:off x="43891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Yrkeserfarenhet</a:t>
            </a:r>
          </a:p>
        </p:txBody>
      </p:sp>
      <p:sp>
        <p:nvSpPr>
          <p:cNvPr id="14" name="TextBox 13"/>
          <p:cNvSpPr txBox="1"/>
          <p:nvPr/>
        </p:nvSpPr>
        <p:spPr>
          <a:xfrm>
            <a:off x="45537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Ungdomscoach</a:t>
            </a:r>
          </a:p>
          <a:p>
            <a:pPr algn="l">
              <a:lnSpc>
                <a:spcPct val="135000"/>
              </a:lnSpc>
              <a:spcAft>
                <a:spcPts val="500"/>
              </a:spcAft>
            </a:pPr>
            <a:r>
              <a:rPr sz="1200" b="0" i="0">
                <a:solidFill>
                  <a:srgbClr val="6F6789"/>
                </a:solidFill>
                <a:latin typeface="Nunito Sans"/>
              </a:rPr>
              <a:t>Boendestödjare</a:t>
            </a:r>
          </a:p>
          <a:p>
            <a:pPr algn="l">
              <a:lnSpc>
                <a:spcPct val="135000"/>
              </a:lnSpc>
              <a:spcAft>
                <a:spcPts val="500"/>
              </a:spcAft>
            </a:pPr>
            <a:r>
              <a:rPr sz="1200" b="0" i="0">
                <a:solidFill>
                  <a:srgbClr val="6F6789"/>
                </a:solidFill>
                <a:latin typeface="Nunito Sans"/>
              </a:rPr>
              <a:t>Barnskötare</a:t>
            </a:r>
          </a:p>
          <a:p>
            <a:pPr algn="l">
              <a:lnSpc>
                <a:spcPct val="135000"/>
              </a:lnSpc>
              <a:spcAft>
                <a:spcPts val="500"/>
              </a:spcAft>
            </a:pPr>
            <a:r>
              <a:rPr sz="1200" b="0" i="0">
                <a:solidFill>
                  <a:srgbClr val="6F6789"/>
                </a:solidFill>
                <a:latin typeface="Nunito Sans"/>
              </a:rPr>
              <a:t>Möter behov ur flera perspektiv</a:t>
            </a:r>
          </a:p>
        </p:txBody>
      </p:sp>
      <p:sp>
        <p:nvSpPr>
          <p:cNvPr id="15" name="Rounded Rectangle 14"/>
          <p:cNvSpPr/>
          <p:nvPr/>
        </p:nvSpPr>
        <p:spPr>
          <a:xfrm>
            <a:off x="80467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Levd erfarenhet</a:t>
            </a:r>
          </a:p>
        </p:txBody>
      </p:sp>
      <p:sp>
        <p:nvSpPr>
          <p:cNvPr id="18" name="TextBox 17"/>
          <p:cNvSpPr txBox="1"/>
          <p:nvPr/>
        </p:nvSpPr>
        <p:spPr>
          <a:xfrm>
            <a:off x="82113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Egen ADHD</a:t>
            </a:r>
          </a:p>
          <a:p>
            <a:pPr algn="l">
              <a:lnSpc>
                <a:spcPct val="135000"/>
              </a:lnSpc>
              <a:spcAft>
                <a:spcPts val="500"/>
              </a:spcAft>
            </a:pPr>
            <a:r>
              <a:rPr sz="1200" b="0" i="0">
                <a:solidFill>
                  <a:srgbClr val="6F6789"/>
                </a:solidFill>
                <a:latin typeface="Nunito Sans"/>
              </a:rPr>
              <a:t>Förälder till barn med autism och ADHD</a:t>
            </a:r>
          </a:p>
          <a:p>
            <a:pPr algn="l">
              <a:lnSpc>
                <a:spcPct val="135000"/>
              </a:lnSpc>
              <a:spcAft>
                <a:spcPts val="500"/>
              </a:spcAft>
            </a:pPr>
            <a:r>
              <a:rPr sz="1200" b="0" i="0">
                <a:solidFill>
                  <a:srgbClr val="6F6789"/>
                </a:solidFill>
                <a:latin typeface="Nunito Sans"/>
              </a:rPr>
              <a:t>Bygger och driver MyFlove som produkt</a:t>
            </a:r>
          </a:p>
          <a:p>
            <a:pPr algn="l">
              <a:lnSpc>
                <a:spcPct val="135000"/>
              </a:lnSpc>
              <a:spcAft>
                <a:spcPts val="500"/>
              </a:spcAft>
            </a:pPr>
            <a:r>
              <a:rPr sz="1200" b="0" i="0">
                <a:solidFill>
                  <a:srgbClr val="6F6789"/>
                </a:solidFill>
                <a:latin typeface="Nunito Sans"/>
              </a:rPr>
              <a:t>Entreprenörskap och produktutveckling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VALIDATION / TRACTION</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From product to proof</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MyFlove går nu in i strukturerad validering. Inga användar-, intäkts- eller effektsiffror redovisas innan de är mätta.</a:t>
            </a:r>
          </a:p>
        </p:txBody>
      </p:sp>
      <p:sp>
        <p:nvSpPr>
          <p:cNvPr id="7" name="Rounded Rectangle 6"/>
          <p:cNvSpPr/>
          <p:nvPr/>
        </p:nvSpPr>
        <p:spPr>
          <a:xfrm>
            <a:off x="731520" y="2950000"/>
            <a:ext cx="3383280" cy="25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13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370000"/>
            <a:ext cx="3054096" cy="304800"/>
          </a:xfrm>
          <a:prstGeom prst="rect">
            <a:avLst/>
          </a:prstGeom>
          <a:noFill/>
        </p:spPr>
        <p:txBody>
          <a:bodyPr wrap="square" lIns="0" rIns="0" tIns="0" bIns="0">
            <a:spAutoFit/>
          </a:bodyPr>
          <a:lstStyle/>
          <a:p>
            <a:pPr algn="l"/>
            <a:r>
              <a:rPr sz="1600" b="1" i="0">
                <a:solidFill>
                  <a:srgbClr val="241C3B"/>
                </a:solidFill>
                <a:latin typeface="Nunito Sans"/>
              </a:rPr>
              <a:t>Built</a:t>
            </a:r>
          </a:p>
        </p:txBody>
      </p:sp>
      <p:sp>
        <p:nvSpPr>
          <p:cNvPr id="10" name="TextBox 9"/>
          <p:cNvSpPr txBox="1"/>
          <p:nvPr/>
        </p:nvSpPr>
        <p:spPr>
          <a:xfrm>
            <a:off x="896112" y="374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Fungerande webbapp i drift</a:t>
            </a:r>
          </a:p>
          <a:p>
            <a:pPr algn="l">
              <a:lnSpc>
                <a:spcPct val="135000"/>
              </a:lnSpc>
              <a:spcAft>
                <a:spcPts val="500"/>
              </a:spcAft>
            </a:pPr>
            <a:r>
              <a:rPr sz="1200" b="0" i="0">
                <a:solidFill>
                  <a:srgbClr val="6F6789"/>
                </a:solidFill>
                <a:latin typeface="Nunito Sans"/>
              </a:rPr>
              <a:t>Quickflow, Batteriet, Kalendern</a:t>
            </a:r>
          </a:p>
          <a:p>
            <a:pPr algn="l">
              <a:lnSpc>
                <a:spcPct val="135000"/>
              </a:lnSpc>
              <a:spcAft>
                <a:spcPts val="500"/>
              </a:spcAft>
            </a:pPr>
            <a:r>
              <a:rPr sz="1200" b="0" i="0">
                <a:solidFill>
                  <a:srgbClr val="6F6789"/>
                </a:solidFill>
                <a:latin typeface="Nunito Sans"/>
              </a:rPr>
              <a:t>Veckoöversikt och energihistorik</a:t>
            </a:r>
          </a:p>
          <a:p>
            <a:pPr algn="l">
              <a:lnSpc>
                <a:spcPct val="135000"/>
              </a:lnSpc>
              <a:spcAft>
                <a:spcPts val="500"/>
              </a:spcAft>
            </a:pPr>
            <a:r>
              <a:rPr sz="1200" b="0" i="0">
                <a:solidFill>
                  <a:srgbClr val="6F6789"/>
                </a:solidFill>
                <a:latin typeface="Nunito Sans"/>
              </a:rPr>
              <a:t>Demo-/investerarkonto</a:t>
            </a:r>
          </a:p>
        </p:txBody>
      </p:sp>
      <p:sp>
        <p:nvSpPr>
          <p:cNvPr id="11" name="Rounded Rectangle 10"/>
          <p:cNvSpPr/>
          <p:nvPr/>
        </p:nvSpPr>
        <p:spPr>
          <a:xfrm>
            <a:off x="4389120" y="2950000"/>
            <a:ext cx="3383280" cy="25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13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370000"/>
            <a:ext cx="3054096" cy="304800"/>
          </a:xfrm>
          <a:prstGeom prst="rect">
            <a:avLst/>
          </a:prstGeom>
          <a:noFill/>
        </p:spPr>
        <p:txBody>
          <a:bodyPr wrap="square" lIns="0" rIns="0" tIns="0" bIns="0">
            <a:spAutoFit/>
          </a:bodyPr>
          <a:lstStyle/>
          <a:p>
            <a:pPr algn="l"/>
            <a:r>
              <a:rPr sz="1600" b="1" i="0">
                <a:solidFill>
                  <a:srgbClr val="241C3B"/>
                </a:solidFill>
                <a:latin typeface="Nunito Sans"/>
              </a:rPr>
              <a:t>Being validated – pilot</a:t>
            </a:r>
          </a:p>
        </p:txBody>
      </p:sp>
      <p:sp>
        <p:nvSpPr>
          <p:cNvPr id="14" name="TextBox 13"/>
          <p:cNvSpPr txBox="1"/>
          <p:nvPr/>
        </p:nvSpPr>
        <p:spPr>
          <a:xfrm>
            <a:off x="4553712" y="374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Användning och återkommande användning</a:t>
            </a:r>
          </a:p>
          <a:p>
            <a:pPr algn="l">
              <a:lnSpc>
                <a:spcPct val="135000"/>
              </a:lnSpc>
              <a:spcAft>
                <a:spcPts val="500"/>
              </a:spcAft>
            </a:pPr>
            <a:r>
              <a:rPr sz="1200" b="0" i="0">
                <a:solidFill>
                  <a:srgbClr val="6F6789"/>
                </a:solidFill>
                <a:latin typeface="Nunito Sans"/>
              </a:rPr>
              <a:t>Quickflow och Batteriet</a:t>
            </a:r>
          </a:p>
          <a:p>
            <a:pPr algn="l">
              <a:lnSpc>
                <a:spcPct val="135000"/>
              </a:lnSpc>
              <a:spcAft>
                <a:spcPts val="500"/>
              </a:spcAft>
            </a:pPr>
            <a:r>
              <a:rPr sz="1200" b="0" i="0">
                <a:solidFill>
                  <a:srgbClr val="6F6789"/>
                </a:solidFill>
                <a:latin typeface="Nunito Sans"/>
              </a:rPr>
              <a:t>Flow/AI-upplevelse</a:t>
            </a:r>
          </a:p>
          <a:p>
            <a:pPr algn="l">
              <a:lnSpc>
                <a:spcPct val="135000"/>
              </a:lnSpc>
              <a:spcAft>
                <a:spcPts val="500"/>
              </a:spcAft>
            </a:pPr>
            <a:r>
              <a:rPr sz="1200" b="0" i="0">
                <a:solidFill>
                  <a:srgbClr val="6F6789"/>
                </a:solidFill>
                <a:latin typeface="Nunito Sans"/>
              </a:rPr>
              <a:t>Upplevd mental belastning och kontroll</a:t>
            </a:r>
          </a:p>
          <a:p>
            <a:pPr algn="l">
              <a:lnSpc>
                <a:spcPct val="135000"/>
              </a:lnSpc>
              <a:spcAft>
                <a:spcPts val="500"/>
              </a:spcAft>
            </a:pPr>
            <a:r>
              <a:rPr sz="1200" b="0" i="0">
                <a:solidFill>
                  <a:srgbClr val="6F6789"/>
                </a:solidFill>
                <a:latin typeface="Nunito Sans"/>
              </a:rPr>
              <a:t>Förmåga att prioritera</a:t>
            </a:r>
          </a:p>
        </p:txBody>
      </p:sp>
      <p:sp>
        <p:nvSpPr>
          <p:cNvPr id="15" name="Rounded Rectangle 14"/>
          <p:cNvSpPr/>
          <p:nvPr/>
        </p:nvSpPr>
        <p:spPr>
          <a:xfrm>
            <a:off x="8046720" y="2950000"/>
            <a:ext cx="3383280" cy="25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13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370000"/>
            <a:ext cx="3054096" cy="304800"/>
          </a:xfrm>
          <a:prstGeom prst="rect">
            <a:avLst/>
          </a:prstGeom>
          <a:noFill/>
        </p:spPr>
        <p:txBody>
          <a:bodyPr wrap="square" lIns="0" rIns="0" tIns="0" bIns="0">
            <a:spAutoFit/>
          </a:bodyPr>
          <a:lstStyle/>
          <a:p>
            <a:pPr algn="l"/>
            <a:r>
              <a:rPr sz="1600" b="1" i="0">
                <a:solidFill>
                  <a:srgbClr val="241C3B"/>
                </a:solidFill>
                <a:latin typeface="Nunito Sans"/>
              </a:rPr>
              <a:t>To be validated</a:t>
            </a:r>
          </a:p>
        </p:txBody>
      </p:sp>
      <p:sp>
        <p:nvSpPr>
          <p:cNvPr id="18" name="TextBox 17"/>
          <p:cNvSpPr txBox="1"/>
          <p:nvPr/>
        </p:nvSpPr>
        <p:spPr>
          <a:xfrm>
            <a:off x="8211312" y="374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Vilja att fortsätta använda</a:t>
            </a:r>
          </a:p>
          <a:p>
            <a:pPr algn="l">
              <a:lnSpc>
                <a:spcPct val="135000"/>
              </a:lnSpc>
              <a:spcAft>
                <a:spcPts val="500"/>
              </a:spcAft>
            </a:pPr>
            <a:r>
              <a:rPr sz="1200" b="0" i="0">
                <a:solidFill>
                  <a:srgbClr val="6F6789"/>
                </a:solidFill>
                <a:latin typeface="Nunito Sans"/>
              </a:rPr>
              <a:t>Betalningsvilja</a:t>
            </a:r>
          </a:p>
          <a:p>
            <a:pPr algn="l">
              <a:lnSpc>
                <a:spcPct val="135000"/>
              </a:lnSpc>
              <a:spcAft>
                <a:spcPts val="500"/>
              </a:spcAft>
            </a:pPr>
            <a:r>
              <a:rPr sz="1200" b="0" i="0">
                <a:solidFill>
                  <a:srgbClr val="6F6789"/>
                </a:solidFill>
                <a:latin typeface="Nunito Sans"/>
              </a:rPr>
              <a:t>Effekt över tid</a:t>
            </a:r>
          </a:p>
          <a:p>
            <a:pPr algn="l">
              <a:lnSpc>
                <a:spcPct val="135000"/>
              </a:lnSpc>
              <a:spcAft>
                <a:spcPts val="500"/>
              </a:spcAft>
            </a:pPr>
            <a:r>
              <a:rPr sz="1200" b="0" i="0">
                <a:solidFill>
                  <a:srgbClr val="6F6789"/>
                </a:solidFill>
                <a:latin typeface="Nunito Sans"/>
              </a:rPr>
              <a:t>B2B/B2G-intresse</a:t>
            </a:r>
          </a:p>
        </p:txBody>
      </p:sp>
      <p:sp>
        <p:nvSpPr>
          <p:cNvPr id="19" name="TextBox 18"/>
          <p:cNvSpPr txBox="1"/>
          <p:nvPr/>
        </p:nvSpPr>
        <p:spPr>
          <a:xfrm>
            <a:off x="731520" y="6200000"/>
            <a:ext cx="10698480" cy="171450"/>
          </a:xfrm>
          <a:prstGeom prst="rect">
            <a:avLst/>
          </a:prstGeom>
          <a:noFill/>
        </p:spPr>
        <p:txBody>
          <a:bodyPr wrap="square" lIns="0" rIns="0" tIns="0" bIns="0">
            <a:spAutoFit/>
          </a:bodyPr>
          <a:lstStyle/>
          <a:p>
            <a:pPr algn="l"/>
            <a:r>
              <a:rPr sz="900" b="0" i="0">
                <a:solidFill>
                  <a:srgbClr val="6F6789"/>
                </a:solidFill>
                <a:latin typeface="Nunito Sans"/>
              </a:rPr>
              <a:t>Placeholder: pilotens omfattning, deltagarantal och mätperiod fylls i inför investerarmöte.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AFFÄRSMODELL</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Flera möjliga intäktsvägar – en valideras först</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Prissättning är ännu inte satt. Inga priser eller intäktsantaganden presenteras innan de är validerade.</a:t>
            </a:r>
          </a:p>
        </p:txBody>
      </p:sp>
      <p:sp>
        <p:nvSpPr>
          <p:cNvPr id="7" name="Rounded Rectangle 6"/>
          <p:cNvSpPr/>
          <p:nvPr/>
        </p:nvSpPr>
        <p:spPr>
          <a:xfrm>
            <a:off x="7315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B2C – Free / Premium</a:t>
            </a:r>
          </a:p>
        </p:txBody>
      </p:sp>
      <p:sp>
        <p:nvSpPr>
          <p:cNvPr id="10" name="TextBox 9"/>
          <p:cNvSpPr txBox="1"/>
          <p:nvPr/>
        </p:nvSpPr>
        <p:spPr>
          <a:xfrm>
            <a:off x="8961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Grundfunktioner fria</a:t>
            </a:r>
          </a:p>
          <a:p>
            <a:pPr algn="l">
              <a:lnSpc>
                <a:spcPct val="135000"/>
              </a:lnSpc>
              <a:spcAft>
                <a:spcPts val="500"/>
              </a:spcAft>
            </a:pPr>
            <a:r>
              <a:rPr sz="1200" b="0" i="0">
                <a:solidFill>
                  <a:srgbClr val="6F6789"/>
                </a:solidFill>
                <a:latin typeface="Nunito Sans"/>
              </a:rPr>
              <a:t>Premium för fördjupning</a:t>
            </a:r>
          </a:p>
          <a:p>
            <a:pPr algn="l">
              <a:lnSpc>
                <a:spcPct val="135000"/>
              </a:lnSpc>
              <a:spcAft>
                <a:spcPts val="500"/>
              </a:spcAft>
            </a:pPr>
            <a:r>
              <a:rPr sz="1200" b="0" i="0">
                <a:solidFill>
                  <a:srgbClr val="6F6789"/>
                </a:solidFill>
                <a:latin typeface="Nunito Sans"/>
              </a:rPr>
              <a:t>Pris: to be validated</a:t>
            </a:r>
          </a:p>
        </p:txBody>
      </p:sp>
      <p:sp>
        <p:nvSpPr>
          <p:cNvPr id="11" name="Rounded Rectangle 10"/>
          <p:cNvSpPr/>
          <p:nvPr/>
        </p:nvSpPr>
        <p:spPr>
          <a:xfrm>
            <a:off x="43891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B2B – Arbetsgivare</a:t>
            </a:r>
          </a:p>
        </p:txBody>
      </p:sp>
      <p:sp>
        <p:nvSpPr>
          <p:cNvPr id="14" name="TextBox 13"/>
          <p:cNvSpPr txBox="1"/>
          <p:nvPr/>
        </p:nvSpPr>
        <p:spPr>
          <a:xfrm>
            <a:off x="45537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Stöd för medarbetare</a:t>
            </a:r>
          </a:p>
          <a:p>
            <a:pPr algn="l">
              <a:lnSpc>
                <a:spcPct val="135000"/>
              </a:lnSpc>
              <a:spcAft>
                <a:spcPts val="500"/>
              </a:spcAft>
            </a:pPr>
            <a:r>
              <a:rPr sz="1200" b="0" i="0">
                <a:solidFill>
                  <a:srgbClr val="6F6789"/>
                </a:solidFill>
                <a:latin typeface="Nunito Sans"/>
              </a:rPr>
              <a:t>Hållbar arbetsvardag</a:t>
            </a:r>
          </a:p>
          <a:p>
            <a:pPr algn="l">
              <a:lnSpc>
                <a:spcPct val="135000"/>
              </a:lnSpc>
              <a:spcAft>
                <a:spcPts val="500"/>
              </a:spcAft>
            </a:pPr>
            <a:r>
              <a:rPr sz="1200" b="0" i="0">
                <a:solidFill>
                  <a:srgbClr val="6F6789"/>
                </a:solidFill>
                <a:latin typeface="Nunito Sans"/>
              </a:rPr>
              <a:t>To be validated</a:t>
            </a:r>
          </a:p>
        </p:txBody>
      </p:sp>
      <p:sp>
        <p:nvSpPr>
          <p:cNvPr id="15" name="Rounded Rectangle 14"/>
          <p:cNvSpPr/>
          <p:nvPr/>
        </p:nvSpPr>
        <p:spPr>
          <a:xfrm>
            <a:off x="8046720" y="3000000"/>
            <a:ext cx="3383280" cy="24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1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420000"/>
            <a:ext cx="3054096" cy="304800"/>
          </a:xfrm>
          <a:prstGeom prst="rect">
            <a:avLst/>
          </a:prstGeom>
          <a:noFill/>
        </p:spPr>
        <p:txBody>
          <a:bodyPr wrap="square" lIns="0" rIns="0" tIns="0" bIns="0">
            <a:spAutoFit/>
          </a:bodyPr>
          <a:lstStyle/>
          <a:p>
            <a:pPr algn="l"/>
            <a:r>
              <a:rPr sz="1600" b="1" i="0">
                <a:solidFill>
                  <a:srgbClr val="241C3B"/>
                </a:solidFill>
                <a:latin typeface="Nunito Sans"/>
              </a:rPr>
              <a:t>B2G – Offentlig sektor</a:t>
            </a:r>
          </a:p>
        </p:txBody>
      </p:sp>
      <p:sp>
        <p:nvSpPr>
          <p:cNvPr id="18" name="TextBox 17"/>
          <p:cNvSpPr txBox="1"/>
          <p:nvPr/>
        </p:nvSpPr>
        <p:spPr>
          <a:xfrm>
            <a:off x="8211312" y="37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Stöd inom vård, skola och omsorg</a:t>
            </a:r>
          </a:p>
          <a:p>
            <a:pPr algn="l">
              <a:lnSpc>
                <a:spcPct val="135000"/>
              </a:lnSpc>
              <a:spcAft>
                <a:spcPts val="500"/>
              </a:spcAft>
            </a:pPr>
            <a:r>
              <a:rPr sz="1200" b="0" i="0">
                <a:solidFill>
                  <a:srgbClr val="6F6789"/>
                </a:solidFill>
                <a:latin typeface="Nunito Sans"/>
              </a:rPr>
              <a:t>Upphandling som väg</a:t>
            </a:r>
          </a:p>
          <a:p>
            <a:pPr algn="l">
              <a:lnSpc>
                <a:spcPct val="135000"/>
              </a:lnSpc>
              <a:spcAft>
                <a:spcPts val="500"/>
              </a:spcAft>
            </a:pPr>
            <a:r>
              <a:rPr sz="1200" b="0" i="0">
                <a:solidFill>
                  <a:srgbClr val="6F6789"/>
                </a:solidFill>
                <a:latin typeface="Nunito Sans"/>
              </a:rPr>
              <a:t>To be validated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DIFFERENTIERING</a:t>
            </a:r>
          </a:p>
        </p:txBody>
      </p:sp>
      <p:sp>
        <p:nvSpPr>
          <p:cNvPr id="5" name="TextBox 4"/>
          <p:cNvSpPr txBox="1"/>
          <p:nvPr/>
        </p:nvSpPr>
        <p:spPr>
          <a:xfrm>
            <a:off x="731520" y="880000"/>
            <a:ext cx="10698480" cy="438150"/>
          </a:xfrm>
          <a:prstGeom prst="rect">
            <a:avLst/>
          </a:prstGeom>
          <a:noFill/>
        </p:spPr>
        <p:txBody>
          <a:bodyPr wrap="square" lIns="0" rIns="0" tIns="0" bIns="0">
            <a:spAutoFit/>
          </a:bodyPr>
          <a:lstStyle/>
          <a:p>
            <a:pPr algn="l"/>
            <a:r>
              <a:rPr sz="2300" b="1" i="0">
                <a:solidFill>
                  <a:srgbClr val="241C3B"/>
                </a:solidFill>
                <a:latin typeface="Nunito Sans"/>
              </a:rPr>
              <a:t>Traditional tools organize tasks. MyFlove connects tasks with human capacity.</a:t>
            </a:r>
          </a:p>
        </p:txBody>
      </p:sp>
      <p:sp>
        <p:nvSpPr>
          <p:cNvPr id="6" name="TextBox 5"/>
          <p:cNvSpPr txBox="1"/>
          <p:nvPr/>
        </p:nvSpPr>
        <p:spPr>
          <a:xfrm>
            <a:off x="731520" y="155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Jämförelsen beskriver fokus och utgångspunkt – inte påståenden om andra produkters funktioner.</a:t>
            </a:r>
          </a:p>
        </p:txBody>
      </p:sp>
      <p:sp>
        <p:nvSpPr>
          <p:cNvPr id="7" name="Rounded Rectangle 6"/>
          <p:cNvSpPr/>
          <p:nvPr/>
        </p:nvSpPr>
        <p:spPr>
          <a:xfrm>
            <a:off x="7315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Kalendrar &amp; task managers</a:t>
            </a:r>
          </a:p>
        </p:txBody>
      </p:sp>
      <p:sp>
        <p:nvSpPr>
          <p:cNvPr id="10" name="TextBox 9"/>
          <p:cNvSpPr txBox="1"/>
          <p:nvPr/>
        </p:nvSpPr>
        <p:spPr>
          <a:xfrm>
            <a:off x="896112" y="415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Utgår från tid och uppgifter.</a:t>
            </a:r>
          </a:p>
        </p:txBody>
      </p:sp>
      <p:sp>
        <p:nvSpPr>
          <p:cNvPr id="11" name="Rounded Rectangle 10"/>
          <p:cNvSpPr/>
          <p:nvPr/>
        </p:nvSpPr>
        <p:spPr>
          <a:xfrm>
            <a:off x="34747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Habit trackers</a:t>
            </a:r>
          </a:p>
        </p:txBody>
      </p:sp>
      <p:sp>
        <p:nvSpPr>
          <p:cNvPr id="14" name="TextBox 13"/>
          <p:cNvSpPr txBox="1"/>
          <p:nvPr/>
        </p:nvSpPr>
        <p:spPr>
          <a:xfrm>
            <a:off x="3639312" y="415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Utgår från upprepning och streaks.</a:t>
            </a:r>
          </a:p>
        </p:txBody>
      </p:sp>
      <p:sp>
        <p:nvSpPr>
          <p:cNvPr id="15" name="Rounded Rectangle 14"/>
          <p:cNvSpPr/>
          <p:nvPr/>
        </p:nvSpPr>
        <p:spPr>
          <a:xfrm>
            <a:off x="62179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NPF-appar</a:t>
            </a:r>
          </a:p>
        </p:txBody>
      </p:sp>
      <p:sp>
        <p:nvSpPr>
          <p:cNvPr id="18" name="TextBox 17"/>
          <p:cNvSpPr txBox="1"/>
          <p:nvPr/>
        </p:nvSpPr>
        <p:spPr>
          <a:xfrm>
            <a:off x="6382512" y="415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Utgår ofta från struktur och påminnelser.</a:t>
            </a:r>
          </a:p>
        </p:txBody>
      </p:sp>
      <p:sp>
        <p:nvSpPr>
          <p:cNvPr id="19" name="Rounded Rectangle 18"/>
          <p:cNvSpPr/>
          <p:nvPr/>
        </p:nvSpPr>
        <p:spPr>
          <a:xfrm>
            <a:off x="8961120" y="3154680"/>
            <a:ext cx="2468880" cy="201168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7C5CE0"/>
          </a:solidFill>
          <a:ln>
            <a:solidFill>
              <a:srgbClr val="7C5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MyFlove</a:t>
            </a:r>
          </a:p>
        </p:txBody>
      </p:sp>
      <p:sp>
        <p:nvSpPr>
          <p:cNvPr id="22" name="TextBox 21"/>
          <p:cNvSpPr txBox="1"/>
          <p:nvPr/>
        </p:nvSpPr>
        <p:spPr>
          <a:xfrm>
            <a:off x="9125712" y="4150000"/>
            <a:ext cx="2139696" cy="228600"/>
          </a:xfrm>
          <a:prstGeom prst="rect">
            <a:avLst/>
          </a:prstGeom>
          <a:noFill/>
        </p:spPr>
        <p:txBody>
          <a:bodyPr wrap="square" lIns="0" rIns="0" tIns="0" bIns="0">
            <a:spAutoFit/>
          </a:bodyPr>
          <a:lstStyle/>
          <a:p>
            <a:pPr algn="l">
              <a:lnSpc>
                <a:spcPct val="135000"/>
              </a:lnSpc>
            </a:pPr>
            <a:r>
              <a:rPr sz="1200" b="0" i="0">
                <a:solidFill>
                  <a:srgbClr val="241C3B"/>
                </a:solidFill>
                <a:latin typeface="Nunito Sans"/>
              </a:rPr>
              <a:t>Utgår från kapaciteten just nu.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GO-TO-MARKET</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Bevisa värdet först – skala sedan</a:t>
            </a:r>
          </a:p>
        </p:txBody>
      </p:sp>
      <p:sp>
        <p:nvSpPr>
          <p:cNvPr id="6" name="Rounded Rectangle 5"/>
          <p:cNvSpPr/>
          <p:nvPr/>
        </p:nvSpPr>
        <p:spPr>
          <a:xfrm>
            <a:off x="731520" y="3000000"/>
            <a:ext cx="1554480" cy="110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1520" y="3380000"/>
            <a:ext cx="1314480" cy="247650"/>
          </a:xfrm>
          <a:prstGeom prst="rect">
            <a:avLst/>
          </a:prstGeom>
          <a:noFill/>
        </p:spPr>
        <p:txBody>
          <a:bodyPr wrap="square" lIns="0" rIns="0" tIns="0" bIns="0">
            <a:spAutoFit/>
          </a:bodyPr>
          <a:lstStyle/>
          <a:p>
            <a:pPr algn="ctr"/>
            <a:r>
              <a:rPr sz="1300" b="1" i="0">
                <a:solidFill>
                  <a:srgbClr val="241C3B"/>
                </a:solidFill>
                <a:latin typeface="Nunito Sans"/>
              </a:rPr>
              <a:t>Pilot</a:t>
            </a:r>
          </a:p>
        </p:txBody>
      </p:sp>
      <p:sp>
        <p:nvSpPr>
          <p:cNvPr id="8" name="Rounded Rectangle 7"/>
          <p:cNvSpPr/>
          <p:nvPr/>
        </p:nvSpPr>
        <p:spPr>
          <a:xfrm>
            <a:off x="2560320" y="3000000"/>
            <a:ext cx="1554480" cy="110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80320" y="3380000"/>
            <a:ext cx="1314480" cy="247650"/>
          </a:xfrm>
          <a:prstGeom prst="rect">
            <a:avLst/>
          </a:prstGeom>
          <a:noFill/>
        </p:spPr>
        <p:txBody>
          <a:bodyPr wrap="square" lIns="0" rIns="0" tIns="0" bIns="0">
            <a:spAutoFit/>
          </a:bodyPr>
          <a:lstStyle/>
          <a:p>
            <a:pPr algn="ctr"/>
            <a:r>
              <a:rPr sz="1300" b="1" i="0">
                <a:solidFill>
                  <a:srgbClr val="241C3B"/>
                </a:solidFill>
                <a:latin typeface="Nunito Sans"/>
              </a:rPr>
              <a:t>Validation</a:t>
            </a:r>
          </a:p>
        </p:txBody>
      </p:sp>
      <p:sp>
        <p:nvSpPr>
          <p:cNvPr id="10" name="Rounded Rectangle 9"/>
          <p:cNvSpPr/>
          <p:nvPr/>
        </p:nvSpPr>
        <p:spPr>
          <a:xfrm>
            <a:off x="43891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091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Launch</a:t>
            </a:r>
          </a:p>
        </p:txBody>
      </p:sp>
      <p:sp>
        <p:nvSpPr>
          <p:cNvPr id="12" name="Rounded Rectangle 11"/>
          <p:cNvSpPr/>
          <p:nvPr/>
        </p:nvSpPr>
        <p:spPr>
          <a:xfrm>
            <a:off x="62179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79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B2C</a:t>
            </a:r>
          </a:p>
        </p:txBody>
      </p:sp>
      <p:sp>
        <p:nvSpPr>
          <p:cNvPr id="14" name="Rounded Rectangle 13"/>
          <p:cNvSpPr/>
          <p:nvPr/>
        </p:nvSpPr>
        <p:spPr>
          <a:xfrm>
            <a:off x="80467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667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B2B / B2G</a:t>
            </a:r>
          </a:p>
        </p:txBody>
      </p:sp>
      <p:sp>
        <p:nvSpPr>
          <p:cNvPr id="16" name="Rounded Rectangle 15"/>
          <p:cNvSpPr/>
          <p:nvPr/>
        </p:nvSpPr>
        <p:spPr>
          <a:xfrm>
            <a:off x="9875520" y="3000000"/>
            <a:ext cx="1554480" cy="11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95520" y="3380000"/>
            <a:ext cx="1314480" cy="247650"/>
          </a:xfrm>
          <a:prstGeom prst="rect">
            <a:avLst/>
          </a:prstGeom>
          <a:noFill/>
        </p:spPr>
        <p:txBody>
          <a:bodyPr wrap="square" lIns="0" rIns="0" tIns="0" bIns="0">
            <a:spAutoFit/>
          </a:bodyPr>
          <a:lstStyle/>
          <a:p>
            <a:pPr algn="ctr"/>
            <a:r>
              <a:rPr sz="1300" b="1" i="0">
                <a:solidFill>
                  <a:srgbClr val="6F6789"/>
                </a:solidFill>
                <a:latin typeface="Nunito Sans"/>
              </a:rPr>
              <a:t>Scale</a:t>
            </a:r>
          </a:p>
        </p:txBody>
      </p:sp>
      <p:sp>
        <p:nvSpPr>
          <p:cNvPr id="18" name="TextBox 17"/>
          <p:cNvSpPr txBox="1"/>
          <p:nvPr/>
        </p:nvSpPr>
        <p:spPr>
          <a:xfrm>
            <a:off x="731520" y="4400000"/>
            <a:ext cx="10698480" cy="247650"/>
          </a:xfrm>
          <a:prstGeom prst="rect">
            <a:avLst/>
          </a:prstGeom>
          <a:noFill/>
        </p:spPr>
        <p:txBody>
          <a:bodyPr wrap="square" lIns="0" rIns="0" tIns="0" bIns="0">
            <a:spAutoFit/>
          </a:bodyPr>
          <a:lstStyle/>
          <a:p>
            <a:pPr algn="l">
              <a:lnSpc>
                <a:spcPct val="140000"/>
              </a:lnSpc>
              <a:spcAft>
                <a:spcPts val="700"/>
              </a:spcAft>
            </a:pPr>
            <a:r>
              <a:rPr sz="1300" b="0" i="0">
                <a:solidFill>
                  <a:srgbClr val="6F6789"/>
                </a:solidFill>
                <a:latin typeface="Nunito Sans"/>
              </a:rPr>
              <a:t>Fas 1 – Pilot och validering: mäta effekt, användning och nytta i verkliga vardagar.</a:t>
            </a:r>
          </a:p>
          <a:p>
            <a:pPr algn="l">
              <a:lnSpc>
                <a:spcPct val="140000"/>
              </a:lnSpc>
              <a:spcAft>
                <a:spcPts val="700"/>
              </a:spcAft>
            </a:pPr>
            <a:r>
              <a:rPr sz="1300" b="0" i="0">
                <a:solidFill>
                  <a:srgbClr val="6F6789"/>
                </a:solidFill>
                <a:latin typeface="Nunito Sans"/>
              </a:rPr>
              <a:t>Fas 2 – Lansering och B2C-tillväxt när värdet är belagt.</a:t>
            </a:r>
          </a:p>
          <a:p>
            <a:pPr algn="l">
              <a:lnSpc>
                <a:spcPct val="140000"/>
              </a:lnSpc>
              <a:spcAft>
                <a:spcPts val="700"/>
              </a:spcAft>
            </a:pPr>
            <a:r>
              <a:rPr sz="1300" b="0" i="0">
                <a:solidFill>
                  <a:srgbClr val="6F6789"/>
                </a:solidFill>
                <a:latin typeface="Nunito Sans"/>
              </a:rPr>
              <a:t>Fas 3 – B2B/B2G och internationell skalning.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KAPITAL</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What we are raising</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Belopp och fördelning fylls i inför investerarmöte – inga budgetantaganden presenteras här.</a:t>
            </a:r>
          </a:p>
        </p:txBody>
      </p:sp>
      <p:sp>
        <p:nvSpPr>
          <p:cNvPr id="7" name="Rounded Rectangle 6"/>
          <p:cNvSpPr/>
          <p:nvPr/>
        </p:nvSpPr>
        <p:spPr>
          <a:xfrm>
            <a:off x="731520" y="2700000"/>
            <a:ext cx="3474720" cy="90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81520" y="2900000"/>
            <a:ext cx="2974720" cy="266700"/>
          </a:xfrm>
          <a:prstGeom prst="rect">
            <a:avLst/>
          </a:prstGeom>
          <a:noFill/>
        </p:spPr>
        <p:txBody>
          <a:bodyPr wrap="square" lIns="0" rIns="0" tIns="0" bIns="0">
            <a:spAutoFit/>
          </a:bodyPr>
          <a:lstStyle/>
          <a:p>
            <a:pPr algn="l"/>
            <a:r>
              <a:rPr sz="1400" b="1" i="0">
                <a:solidFill>
                  <a:srgbClr val="241C3B"/>
                </a:solidFill>
                <a:latin typeface="Nunito Sans"/>
              </a:rPr>
              <a:t>Belopp: [placeholder – fylls i]</a:t>
            </a:r>
          </a:p>
        </p:txBody>
      </p:sp>
      <p:sp>
        <p:nvSpPr>
          <p:cNvPr id="9" name="Rounded Rectangle 8"/>
          <p:cNvSpPr/>
          <p:nvPr/>
        </p:nvSpPr>
        <p:spPr>
          <a:xfrm>
            <a:off x="731520" y="3800000"/>
            <a:ext cx="3383280" cy="19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96112" y="39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4220000"/>
            <a:ext cx="3054096" cy="304800"/>
          </a:xfrm>
          <a:prstGeom prst="rect">
            <a:avLst/>
          </a:prstGeom>
          <a:noFill/>
        </p:spPr>
        <p:txBody>
          <a:bodyPr wrap="square" lIns="0" rIns="0" tIns="0" bIns="0">
            <a:spAutoFit/>
          </a:bodyPr>
          <a:lstStyle/>
          <a:p>
            <a:pPr algn="l"/>
            <a:r>
              <a:rPr sz="1600" b="1" i="0">
                <a:solidFill>
                  <a:srgbClr val="241C3B"/>
                </a:solidFill>
                <a:latin typeface="Nunito Sans"/>
              </a:rPr>
              <a:t>Produkt &amp; teknik</a:t>
            </a:r>
          </a:p>
        </p:txBody>
      </p:sp>
      <p:sp>
        <p:nvSpPr>
          <p:cNvPr id="12" name="TextBox 11"/>
          <p:cNvSpPr txBox="1"/>
          <p:nvPr/>
        </p:nvSpPr>
        <p:spPr>
          <a:xfrm>
            <a:off x="896112" y="45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iOS och Android</a:t>
            </a:r>
          </a:p>
          <a:p>
            <a:pPr algn="l">
              <a:lnSpc>
                <a:spcPct val="135000"/>
              </a:lnSpc>
              <a:spcAft>
                <a:spcPts val="500"/>
              </a:spcAft>
            </a:pPr>
            <a:r>
              <a:rPr sz="1200" b="0" i="0">
                <a:solidFill>
                  <a:srgbClr val="6F6789"/>
                </a:solidFill>
                <a:latin typeface="Nunito Sans"/>
              </a:rPr>
              <a:t>Teknisk stabilisering</a:t>
            </a:r>
          </a:p>
          <a:p>
            <a:pPr algn="l">
              <a:lnSpc>
                <a:spcPct val="135000"/>
              </a:lnSpc>
              <a:spcAft>
                <a:spcPts val="500"/>
              </a:spcAft>
            </a:pPr>
            <a:r>
              <a:rPr sz="1200" b="0" i="0">
                <a:solidFill>
                  <a:srgbClr val="6F6789"/>
                </a:solidFill>
                <a:latin typeface="Nunito Sans"/>
              </a:rPr>
              <a:t>Backend och skalbarhet</a:t>
            </a:r>
          </a:p>
        </p:txBody>
      </p:sp>
      <p:sp>
        <p:nvSpPr>
          <p:cNvPr id="13" name="Rounded Rectangle 12"/>
          <p:cNvSpPr/>
          <p:nvPr/>
        </p:nvSpPr>
        <p:spPr>
          <a:xfrm>
            <a:off x="4389120" y="3800000"/>
            <a:ext cx="3383280" cy="19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53712" y="39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4220000"/>
            <a:ext cx="3054096" cy="304800"/>
          </a:xfrm>
          <a:prstGeom prst="rect">
            <a:avLst/>
          </a:prstGeom>
          <a:noFill/>
        </p:spPr>
        <p:txBody>
          <a:bodyPr wrap="square" lIns="0" rIns="0" tIns="0" bIns="0">
            <a:spAutoFit/>
          </a:bodyPr>
          <a:lstStyle/>
          <a:p>
            <a:pPr algn="l"/>
            <a:r>
              <a:rPr sz="1600" b="1" i="0">
                <a:solidFill>
                  <a:srgbClr val="241C3B"/>
                </a:solidFill>
                <a:latin typeface="Nunito Sans"/>
              </a:rPr>
              <a:t>Tillit &amp; data</a:t>
            </a:r>
          </a:p>
        </p:txBody>
      </p:sp>
      <p:sp>
        <p:nvSpPr>
          <p:cNvPr id="16" name="TextBox 15"/>
          <p:cNvSpPr txBox="1"/>
          <p:nvPr/>
        </p:nvSpPr>
        <p:spPr>
          <a:xfrm>
            <a:off x="4553712" y="45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Säkerhet och GDPR</a:t>
            </a:r>
          </a:p>
          <a:p>
            <a:pPr algn="l">
              <a:lnSpc>
                <a:spcPct val="135000"/>
              </a:lnSpc>
              <a:spcAft>
                <a:spcPts val="500"/>
              </a:spcAft>
            </a:pPr>
            <a:r>
              <a:rPr sz="1200" b="0" i="0">
                <a:solidFill>
                  <a:srgbClr val="6F6789"/>
                </a:solidFill>
                <a:latin typeface="Nunito Sans"/>
              </a:rPr>
              <a:t>Analytics</a:t>
            </a:r>
          </a:p>
          <a:p>
            <a:pPr algn="l">
              <a:lnSpc>
                <a:spcPct val="135000"/>
              </a:lnSpc>
              <a:spcAft>
                <a:spcPts val="500"/>
              </a:spcAft>
            </a:pPr>
            <a:r>
              <a:rPr sz="1200" b="0" i="0">
                <a:solidFill>
                  <a:srgbClr val="6F6789"/>
                </a:solidFill>
                <a:latin typeface="Nunito Sans"/>
              </a:rPr>
              <a:t>AI/Flow-utveckling</a:t>
            </a:r>
          </a:p>
        </p:txBody>
      </p:sp>
      <p:sp>
        <p:nvSpPr>
          <p:cNvPr id="17" name="Rounded Rectangle 16"/>
          <p:cNvSpPr/>
          <p:nvPr/>
        </p:nvSpPr>
        <p:spPr>
          <a:xfrm>
            <a:off x="8046720" y="3800000"/>
            <a:ext cx="3383280" cy="19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11312" y="398288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4220000"/>
            <a:ext cx="3054096" cy="304800"/>
          </a:xfrm>
          <a:prstGeom prst="rect">
            <a:avLst/>
          </a:prstGeom>
          <a:noFill/>
        </p:spPr>
        <p:txBody>
          <a:bodyPr wrap="square" lIns="0" rIns="0" tIns="0" bIns="0">
            <a:spAutoFit/>
          </a:bodyPr>
          <a:lstStyle/>
          <a:p>
            <a:pPr algn="l"/>
            <a:r>
              <a:rPr sz="1600" b="1" i="0">
                <a:solidFill>
                  <a:srgbClr val="241C3B"/>
                </a:solidFill>
                <a:latin typeface="Nunito Sans"/>
              </a:rPr>
              <a:t>Marknad &amp; bevis</a:t>
            </a:r>
          </a:p>
        </p:txBody>
      </p:sp>
      <p:sp>
        <p:nvSpPr>
          <p:cNvPr id="20" name="TextBox 19"/>
          <p:cNvSpPr txBox="1"/>
          <p:nvPr/>
        </p:nvSpPr>
        <p:spPr>
          <a:xfrm>
            <a:off x="8211312" y="459000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Onboarding</a:t>
            </a:r>
          </a:p>
          <a:p>
            <a:pPr algn="l">
              <a:lnSpc>
                <a:spcPct val="135000"/>
              </a:lnSpc>
              <a:spcAft>
                <a:spcPts val="500"/>
              </a:spcAft>
            </a:pPr>
            <a:r>
              <a:rPr sz="1200" b="0" i="0">
                <a:solidFill>
                  <a:srgbClr val="6F6789"/>
                </a:solidFill>
                <a:latin typeface="Nunito Sans"/>
              </a:rPr>
              <a:t>Pilot och validering</a:t>
            </a:r>
          </a:p>
          <a:p>
            <a:pPr algn="l">
              <a:lnSpc>
                <a:spcPct val="135000"/>
              </a:lnSpc>
              <a:spcAft>
                <a:spcPts val="500"/>
              </a:spcAft>
            </a:pPr>
            <a:r>
              <a:rPr sz="1200" b="0" i="0">
                <a:solidFill>
                  <a:srgbClr val="6F6789"/>
                </a:solidFill>
                <a:latin typeface="Nunito Sans"/>
              </a:rPr>
              <a:t>Kommersiell lansering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ROADMAP</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Från fungerande produkt till bevisad effekt och skala</a:t>
            </a:r>
          </a:p>
        </p:txBody>
      </p:sp>
      <p:sp>
        <p:nvSpPr>
          <p:cNvPr id="6" name="Rounded Rectangle 5"/>
          <p:cNvSpPr/>
          <p:nvPr/>
        </p:nvSpPr>
        <p:spPr>
          <a:xfrm>
            <a:off x="731520" y="2350000"/>
            <a:ext cx="10698480" cy="620000"/>
          </a:xfrm>
          <a:prstGeom prst="roundRect">
            <a:avLst/>
          </a:prstGeom>
          <a:solidFill>
            <a:srgbClr val="E9E0FB"/>
          </a:solidFill>
          <a:ln>
            <a:solidFill>
              <a:srgbClr val="A98C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1520" y="2560000"/>
            <a:ext cx="2200000" cy="228600"/>
          </a:xfrm>
          <a:prstGeom prst="rect">
            <a:avLst/>
          </a:prstGeom>
          <a:noFill/>
        </p:spPr>
        <p:txBody>
          <a:bodyPr wrap="square" lIns="0" rIns="0" tIns="0" bIns="0">
            <a:spAutoFit/>
          </a:bodyPr>
          <a:lstStyle/>
          <a:p>
            <a:pPr algn="l"/>
            <a:r>
              <a:rPr sz="1200" b="1" i="0">
                <a:solidFill>
                  <a:srgbClr val="7C5CE0"/>
                </a:solidFill>
                <a:latin typeface="Nunito Sans"/>
              </a:rPr>
              <a:t>NOW</a:t>
            </a:r>
          </a:p>
        </p:txBody>
      </p:sp>
      <p:sp>
        <p:nvSpPr>
          <p:cNvPr id="8" name="TextBox 7"/>
          <p:cNvSpPr txBox="1"/>
          <p:nvPr/>
        </p:nvSpPr>
        <p:spPr>
          <a:xfrm>
            <a:off x="3331520" y="2545000"/>
            <a:ext cx="7798480" cy="266700"/>
          </a:xfrm>
          <a:prstGeom prst="rect">
            <a:avLst/>
          </a:prstGeom>
          <a:noFill/>
        </p:spPr>
        <p:txBody>
          <a:bodyPr wrap="square" lIns="0" rIns="0" tIns="0" bIns="0">
            <a:spAutoFit/>
          </a:bodyPr>
          <a:lstStyle/>
          <a:p>
            <a:pPr algn="l"/>
            <a:r>
              <a:rPr sz="1400" b="1" i="0">
                <a:solidFill>
                  <a:srgbClr val="241C3B"/>
                </a:solidFill>
                <a:latin typeface="Nunito Sans"/>
              </a:rPr>
              <a:t>Validation + pilot</a:t>
            </a:r>
          </a:p>
        </p:txBody>
      </p:sp>
      <p:sp>
        <p:nvSpPr>
          <p:cNvPr id="9" name="Rounded Rectangle 8"/>
          <p:cNvSpPr/>
          <p:nvPr/>
        </p:nvSpPr>
        <p:spPr>
          <a:xfrm>
            <a:off x="731520" y="311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1520" y="3320000"/>
            <a:ext cx="2200000" cy="228600"/>
          </a:xfrm>
          <a:prstGeom prst="rect">
            <a:avLst/>
          </a:prstGeom>
          <a:noFill/>
        </p:spPr>
        <p:txBody>
          <a:bodyPr wrap="square" lIns="0" rIns="0" tIns="0" bIns="0">
            <a:spAutoFit/>
          </a:bodyPr>
          <a:lstStyle/>
          <a:p>
            <a:pPr algn="l"/>
            <a:r>
              <a:rPr sz="1200" b="1" i="0">
                <a:solidFill>
                  <a:srgbClr val="7C5CE0"/>
                </a:solidFill>
                <a:latin typeface="Nunito Sans"/>
              </a:rPr>
              <a:t>NEXT</a:t>
            </a:r>
          </a:p>
        </p:txBody>
      </p:sp>
      <p:sp>
        <p:nvSpPr>
          <p:cNvPr id="11" name="TextBox 10"/>
          <p:cNvSpPr txBox="1"/>
          <p:nvPr/>
        </p:nvSpPr>
        <p:spPr>
          <a:xfrm>
            <a:off x="3331520" y="3305000"/>
            <a:ext cx="7798480" cy="266700"/>
          </a:xfrm>
          <a:prstGeom prst="rect">
            <a:avLst/>
          </a:prstGeom>
          <a:noFill/>
        </p:spPr>
        <p:txBody>
          <a:bodyPr wrap="square" lIns="0" rIns="0" tIns="0" bIns="0">
            <a:spAutoFit/>
          </a:bodyPr>
          <a:lstStyle/>
          <a:p>
            <a:pPr algn="l"/>
            <a:r>
              <a:rPr sz="1400" b="0" i="0">
                <a:solidFill>
                  <a:srgbClr val="241C3B"/>
                </a:solidFill>
                <a:latin typeface="Nunito Sans"/>
              </a:rPr>
              <a:t>iOS / Android + technical scale</a:t>
            </a:r>
          </a:p>
        </p:txBody>
      </p:sp>
      <p:sp>
        <p:nvSpPr>
          <p:cNvPr id="12" name="Rounded Rectangle 11"/>
          <p:cNvSpPr/>
          <p:nvPr/>
        </p:nvSpPr>
        <p:spPr>
          <a:xfrm>
            <a:off x="731520" y="387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1520" y="4080000"/>
            <a:ext cx="2200000" cy="228600"/>
          </a:xfrm>
          <a:prstGeom prst="rect">
            <a:avLst/>
          </a:prstGeom>
          <a:noFill/>
        </p:spPr>
        <p:txBody>
          <a:bodyPr wrap="square" lIns="0" rIns="0" tIns="0" bIns="0">
            <a:spAutoFit/>
          </a:bodyPr>
          <a:lstStyle/>
          <a:p>
            <a:pPr algn="l"/>
            <a:r>
              <a:rPr sz="1200" b="1" i="0">
                <a:solidFill>
                  <a:srgbClr val="7C5CE0"/>
                </a:solidFill>
                <a:latin typeface="Nunito Sans"/>
              </a:rPr>
              <a:t>THEN</a:t>
            </a:r>
          </a:p>
        </p:txBody>
      </p:sp>
      <p:sp>
        <p:nvSpPr>
          <p:cNvPr id="14" name="TextBox 13"/>
          <p:cNvSpPr txBox="1"/>
          <p:nvPr/>
        </p:nvSpPr>
        <p:spPr>
          <a:xfrm>
            <a:off x="3331520" y="4065000"/>
            <a:ext cx="7798480" cy="266700"/>
          </a:xfrm>
          <a:prstGeom prst="rect">
            <a:avLst/>
          </a:prstGeom>
          <a:noFill/>
        </p:spPr>
        <p:txBody>
          <a:bodyPr wrap="square" lIns="0" rIns="0" tIns="0" bIns="0">
            <a:spAutoFit/>
          </a:bodyPr>
          <a:lstStyle/>
          <a:p>
            <a:pPr algn="l"/>
            <a:r>
              <a:rPr sz="1400" b="0" i="0">
                <a:solidFill>
                  <a:srgbClr val="241C3B"/>
                </a:solidFill>
                <a:latin typeface="Nunito Sans"/>
              </a:rPr>
              <a:t>B2C growth</a:t>
            </a:r>
          </a:p>
        </p:txBody>
      </p:sp>
      <p:sp>
        <p:nvSpPr>
          <p:cNvPr id="15" name="Rounded Rectangle 14"/>
          <p:cNvSpPr/>
          <p:nvPr/>
        </p:nvSpPr>
        <p:spPr>
          <a:xfrm>
            <a:off x="731520" y="463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1520" y="4840000"/>
            <a:ext cx="2200000" cy="228600"/>
          </a:xfrm>
          <a:prstGeom prst="rect">
            <a:avLst/>
          </a:prstGeom>
          <a:noFill/>
        </p:spPr>
        <p:txBody>
          <a:bodyPr wrap="square" lIns="0" rIns="0" tIns="0" bIns="0">
            <a:spAutoFit/>
          </a:bodyPr>
          <a:lstStyle/>
          <a:p>
            <a:pPr algn="l"/>
            <a:r>
              <a:rPr sz="1200" b="1" i="0">
                <a:solidFill>
                  <a:srgbClr val="7C5CE0"/>
                </a:solidFill>
                <a:latin typeface="Nunito Sans"/>
              </a:rPr>
              <a:t>NEXT</a:t>
            </a:r>
          </a:p>
        </p:txBody>
      </p:sp>
      <p:sp>
        <p:nvSpPr>
          <p:cNvPr id="17" name="TextBox 16"/>
          <p:cNvSpPr txBox="1"/>
          <p:nvPr/>
        </p:nvSpPr>
        <p:spPr>
          <a:xfrm>
            <a:off x="3331520" y="4825000"/>
            <a:ext cx="7798480" cy="266700"/>
          </a:xfrm>
          <a:prstGeom prst="rect">
            <a:avLst/>
          </a:prstGeom>
          <a:noFill/>
        </p:spPr>
        <p:txBody>
          <a:bodyPr wrap="square" lIns="0" rIns="0" tIns="0" bIns="0">
            <a:spAutoFit/>
          </a:bodyPr>
          <a:lstStyle/>
          <a:p>
            <a:pPr algn="l"/>
            <a:r>
              <a:rPr sz="1400" b="0" i="0">
                <a:solidFill>
                  <a:srgbClr val="241C3B"/>
                </a:solidFill>
                <a:latin typeface="Nunito Sans"/>
              </a:rPr>
              <a:t>B2B / B2G</a:t>
            </a:r>
          </a:p>
        </p:txBody>
      </p:sp>
      <p:sp>
        <p:nvSpPr>
          <p:cNvPr id="18" name="Rounded Rectangle 17"/>
          <p:cNvSpPr/>
          <p:nvPr/>
        </p:nvSpPr>
        <p:spPr>
          <a:xfrm>
            <a:off x="731520" y="5390000"/>
            <a:ext cx="10698480" cy="62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1520" y="5600000"/>
            <a:ext cx="2200000" cy="228600"/>
          </a:xfrm>
          <a:prstGeom prst="rect">
            <a:avLst/>
          </a:prstGeom>
          <a:noFill/>
        </p:spPr>
        <p:txBody>
          <a:bodyPr wrap="square" lIns="0" rIns="0" tIns="0" bIns="0">
            <a:spAutoFit/>
          </a:bodyPr>
          <a:lstStyle/>
          <a:p>
            <a:pPr algn="l"/>
            <a:r>
              <a:rPr sz="1200" b="1" i="0">
                <a:solidFill>
                  <a:srgbClr val="7C5CE0"/>
                </a:solidFill>
                <a:latin typeface="Nunito Sans"/>
              </a:rPr>
              <a:t>LONG TERM</a:t>
            </a:r>
          </a:p>
        </p:txBody>
      </p:sp>
      <p:sp>
        <p:nvSpPr>
          <p:cNvPr id="20" name="TextBox 19"/>
          <p:cNvSpPr txBox="1"/>
          <p:nvPr/>
        </p:nvSpPr>
        <p:spPr>
          <a:xfrm>
            <a:off x="3331520" y="5585000"/>
            <a:ext cx="7798480" cy="266700"/>
          </a:xfrm>
          <a:prstGeom prst="rect">
            <a:avLst/>
          </a:prstGeom>
          <a:noFill/>
        </p:spPr>
        <p:txBody>
          <a:bodyPr wrap="square" lIns="0" rIns="0" tIns="0" bIns="0">
            <a:spAutoFit/>
          </a:bodyPr>
          <a:lstStyle/>
          <a:p>
            <a:pPr algn="l"/>
            <a:r>
              <a:rPr sz="1400" b="0" i="0">
                <a:solidFill>
                  <a:srgbClr val="241C3B"/>
                </a:solidFill>
                <a:latin typeface="Nunito Sans"/>
              </a:rPr>
              <a:t>International expansion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MÖJLIGHETEN</a:t>
            </a:r>
          </a:p>
        </p:txBody>
      </p:sp>
      <p:sp>
        <p:nvSpPr>
          <p:cNvPr id="5" name="TextBox 4"/>
          <p:cNvSpPr txBox="1"/>
          <p:nvPr/>
        </p:nvSpPr>
        <p:spPr>
          <a:xfrm>
            <a:off x="731520" y="880000"/>
            <a:ext cx="10698480" cy="476250"/>
          </a:xfrm>
          <a:prstGeom prst="rect">
            <a:avLst/>
          </a:prstGeom>
          <a:noFill/>
        </p:spPr>
        <p:txBody>
          <a:bodyPr wrap="square" lIns="0" rIns="0" tIns="0" bIns="0">
            <a:spAutoFit/>
          </a:bodyPr>
          <a:lstStyle/>
          <a:p>
            <a:pPr algn="l"/>
            <a:r>
              <a:rPr sz="2500" b="1" i="0">
                <a:solidFill>
                  <a:srgbClr val="241C3B"/>
                </a:solidFill>
                <a:latin typeface="Nunito Sans"/>
              </a:rPr>
              <a:t>En stor målgrupp med vardagsproblem som fortfarande är splittrade.</a:t>
            </a:r>
          </a:p>
        </p:txBody>
      </p:sp>
      <p:sp>
        <p:nvSpPr>
          <p:cNvPr id="6" name="TextBox 5"/>
          <p:cNvSpPr txBox="1"/>
          <p:nvPr/>
        </p:nvSpPr>
        <p:spPr>
          <a:xfrm>
            <a:off x="731520" y="155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Externa uppskattningar – inte MyFloves egna användar- eller intäktssiffror.</a:t>
            </a:r>
          </a:p>
        </p:txBody>
      </p:sp>
      <p:sp>
        <p:nvSpPr>
          <p:cNvPr id="7" name="Rounded Rectangle 6"/>
          <p:cNvSpPr/>
          <p:nvPr/>
        </p:nvSpPr>
        <p:spPr>
          <a:xfrm>
            <a:off x="7315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vuxna globalt: 140M+</a:t>
            </a:r>
          </a:p>
        </p:txBody>
      </p:sp>
      <p:sp>
        <p:nvSpPr>
          <p:cNvPr id="10" name="TextBox 9"/>
          <p:cNvSpPr txBox="1"/>
          <p:nvPr/>
        </p:nvSpPr>
        <p:spPr>
          <a:xfrm>
            <a:off x="8961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uppskattning vid 2,58 % ADHD-prevalens</a:t>
            </a:r>
          </a:p>
        </p:txBody>
      </p:sp>
      <p:sp>
        <p:nvSpPr>
          <p:cNvPr id="11" name="Rounded Rectangle 10"/>
          <p:cNvSpPr/>
          <p:nvPr/>
        </p:nvSpPr>
        <p:spPr>
          <a:xfrm>
            <a:off x="34747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vuxna i Sverige: ~3 %</a:t>
            </a:r>
          </a:p>
        </p:txBody>
      </p:sp>
      <p:sp>
        <p:nvSpPr>
          <p:cNvPr id="14" name="TextBox 13"/>
          <p:cNvSpPr txBox="1"/>
          <p:nvPr/>
        </p:nvSpPr>
        <p:spPr>
          <a:xfrm>
            <a:off x="36393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Socialstyrelsens angivna nivå</a:t>
            </a:r>
          </a:p>
        </p:txBody>
      </p:sp>
      <p:sp>
        <p:nvSpPr>
          <p:cNvPr id="15" name="Rounded Rectangle 14"/>
          <p:cNvSpPr/>
          <p:nvPr/>
        </p:nvSpPr>
        <p:spPr>
          <a:xfrm>
            <a:off x="62179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 ADHD-appar 2025: $1,9B</a:t>
            </a:r>
          </a:p>
        </p:txBody>
      </p:sp>
      <p:sp>
        <p:nvSpPr>
          <p:cNvPr id="18" name="TextBox 17"/>
          <p:cNvSpPr txBox="1"/>
          <p:nvPr/>
        </p:nvSpPr>
        <p:spPr>
          <a:xfrm>
            <a:off x="63825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extern marknadsuppskattning</a:t>
            </a:r>
          </a:p>
        </p:txBody>
      </p:sp>
      <p:sp>
        <p:nvSpPr>
          <p:cNvPr id="19" name="Rounded Rectangle 18"/>
          <p:cNvSpPr/>
          <p:nvPr/>
        </p:nvSpPr>
        <p:spPr>
          <a:xfrm>
            <a:off x="8961120" y="3154680"/>
            <a:ext cx="2468880" cy="180000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 ADHD-appar 2033: $6,7B</a:t>
            </a:r>
          </a:p>
        </p:txBody>
      </p:sp>
      <p:sp>
        <p:nvSpPr>
          <p:cNvPr id="22" name="TextBox 21"/>
          <p:cNvSpPr txBox="1"/>
          <p:nvPr/>
        </p:nvSpPr>
        <p:spPr>
          <a:xfrm>
            <a:off x="9125712" y="4200000"/>
            <a:ext cx="2139696" cy="209550"/>
          </a:xfrm>
          <a:prstGeom prst="rect">
            <a:avLst/>
          </a:prstGeom>
          <a:noFill/>
        </p:spPr>
        <p:txBody>
          <a:bodyPr wrap="square" lIns="0" rIns="0" tIns="0" bIns="0">
            <a:spAutoFit/>
          </a:bodyPr>
          <a:lstStyle/>
          <a:p>
            <a:pPr algn="l">
              <a:lnSpc>
                <a:spcPct val="130000"/>
              </a:lnSpc>
            </a:pPr>
            <a:r>
              <a:rPr sz="1100" b="0" i="0">
                <a:solidFill>
                  <a:srgbClr val="6F6789"/>
                </a:solidFill>
                <a:latin typeface="Nunito Sans"/>
              </a:rPr>
              <a:t>prognos</a:t>
            </a:r>
          </a:p>
        </p:txBody>
      </p:sp>
      <p:sp>
        <p:nvSpPr>
          <p:cNvPr id="23" name="TextBox 22"/>
          <p:cNvSpPr txBox="1"/>
          <p:nvPr/>
        </p:nvSpPr>
        <p:spPr>
          <a:xfrm>
            <a:off x="731520" y="6200000"/>
            <a:ext cx="10698480" cy="171450"/>
          </a:xfrm>
          <a:prstGeom prst="rect">
            <a:avLst/>
          </a:prstGeom>
          <a:noFill/>
        </p:spPr>
        <p:txBody>
          <a:bodyPr wrap="square" lIns="0" rIns="0" tIns="0" bIns="0">
            <a:spAutoFit/>
          </a:bodyPr>
          <a:lstStyle/>
          <a:p>
            <a:pPr algn="l"/>
            <a:r>
              <a:rPr sz="900" b="0" i="0">
                <a:solidFill>
                  <a:srgbClr val="6F6789"/>
                </a:solidFill>
                <a:latin typeface="Nunito Sans"/>
              </a:rPr>
              <a:t>Källor: PubMed (2021) · Socialstyrelsen · Grand View Research. Marknadssiffror är uppskattningar och prognoser.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41C3B"/>
        </a:solidFill>
        <a:effectLst/>
      </p:bgPr>
    </p:bg>
    <p:spTree>
      <p:nvGrpSpPr>
        <p:cNvPr id="1" name=""/>
        <p:cNvGrpSpPr/>
        <p:nvPr/>
      </p:nvGrpSpPr>
      <p:grpSpPr/>
      <p:sp>
        <p:nvSpPr>
          <p:cNvPr id="2" name="Rounded Rectangle 1"/>
          <p:cNvSpPr/>
          <p:nvPr/>
        </p:nvSpPr>
        <p:spPr>
          <a:xfrm>
            <a:off x="11338560" y="6035040"/>
            <a:ext cx="1463040" cy="1463040"/>
          </a:xfrm>
          <a:prstGeom prst="roundRect">
            <a:avLst/>
          </a:prstGeom>
          <a:solidFill>
            <a:srgbClr val="3A2C5C"/>
          </a:solidFill>
          <a:ln>
            <a:solidFill>
              <a:srgbClr val="3A2C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00000"/>
            <a:ext cx="9000000" cy="381000"/>
          </a:xfrm>
          <a:prstGeom prst="rect">
            <a:avLst/>
          </a:prstGeom>
          <a:noFill/>
        </p:spPr>
        <p:txBody>
          <a:bodyPr wrap="square" lIns="0" rIns="0" tIns="0" bIns="0">
            <a:spAutoFit/>
          </a:bodyPr>
          <a:lstStyle/>
          <a:p>
            <a:pPr algn="l"/>
            <a:r>
              <a:rPr sz="2000" b="1" i="0">
                <a:solidFill>
                  <a:srgbClr val="A98CF0"/>
                </a:solidFill>
                <a:latin typeface="Nunito Sans"/>
              </a:rPr>
              <a:t>MYFLOVE</a:t>
            </a:r>
          </a:p>
        </p:txBody>
      </p:sp>
      <p:sp>
        <p:nvSpPr>
          <p:cNvPr id="4" name="TextBox 3"/>
          <p:cNvSpPr txBox="1"/>
          <p:nvPr/>
        </p:nvSpPr>
        <p:spPr>
          <a:xfrm>
            <a:off x="731520" y="2300000"/>
            <a:ext cx="9200000" cy="647700"/>
          </a:xfrm>
          <a:prstGeom prst="rect">
            <a:avLst/>
          </a:prstGeom>
          <a:noFill/>
        </p:spPr>
        <p:txBody>
          <a:bodyPr wrap="square" lIns="0" rIns="0" tIns="0" bIns="0">
            <a:spAutoFit/>
          </a:bodyPr>
          <a:lstStyle/>
          <a:p>
            <a:pPr algn="l">
              <a:lnSpc>
                <a:spcPct val="115000"/>
              </a:lnSpc>
            </a:pPr>
            <a:r>
              <a:rPr sz="3400" b="1" i="0">
                <a:solidFill>
                  <a:srgbClr val="FFFFFF"/>
                </a:solidFill>
                <a:latin typeface="Nunito Sans"/>
              </a:rPr>
              <a:t>Vardagen ska inte kräva</a:t>
            </a:r>
          </a:p>
          <a:p>
            <a:pPr algn="l">
              <a:lnSpc>
                <a:spcPct val="115000"/>
              </a:lnSpc>
            </a:pPr>
            <a:r>
              <a:rPr sz="3400" b="1" i="0">
                <a:solidFill>
                  <a:srgbClr val="FFFFFF"/>
                </a:solidFill>
                <a:latin typeface="Nunito Sans"/>
              </a:rPr>
              <a:t>att du är någon annan.</a:t>
            </a:r>
          </a:p>
        </p:txBody>
      </p:sp>
      <p:sp>
        <p:nvSpPr>
          <p:cNvPr id="5" name="TextBox 4"/>
          <p:cNvSpPr txBox="1"/>
          <p:nvPr/>
        </p:nvSpPr>
        <p:spPr>
          <a:xfrm>
            <a:off x="731520" y="4100000"/>
            <a:ext cx="9200000" cy="323850"/>
          </a:xfrm>
          <a:prstGeom prst="rect">
            <a:avLst/>
          </a:prstGeom>
          <a:noFill/>
        </p:spPr>
        <p:txBody>
          <a:bodyPr wrap="square" lIns="0" rIns="0" tIns="0" bIns="0">
            <a:spAutoFit/>
          </a:bodyPr>
          <a:lstStyle/>
          <a:p>
            <a:pPr algn="l">
              <a:lnSpc>
                <a:spcPct val="135000"/>
              </a:lnSpc>
            </a:pPr>
            <a:r>
              <a:rPr sz="1700" b="0" i="0">
                <a:solidFill>
                  <a:srgbClr val="A98CF0"/>
                </a:solidFill>
                <a:latin typeface="Nunito Sans"/>
              </a:rPr>
              <a:t>Flow hjälper dig att hitta nästa steg – med mer lugn och mindre mental belastning.</a:t>
            </a:r>
          </a:p>
        </p:txBody>
      </p:sp>
      <p:sp>
        <p:nvSpPr>
          <p:cNvPr id="6" name="TextBox 5"/>
          <p:cNvSpPr txBox="1"/>
          <p:nvPr/>
        </p:nvSpPr>
        <p:spPr>
          <a:xfrm>
            <a:off x="731520" y="5349240"/>
            <a:ext cx="9200000" cy="247650"/>
          </a:xfrm>
          <a:prstGeom prst="rect">
            <a:avLst/>
          </a:prstGeom>
          <a:noFill/>
        </p:spPr>
        <p:txBody>
          <a:bodyPr wrap="square" lIns="0" rIns="0" tIns="0" bIns="0">
            <a:spAutoFit/>
          </a:bodyPr>
          <a:lstStyle/>
          <a:p>
            <a:pPr algn="l"/>
            <a:r>
              <a:rPr sz="1300" b="0" i="0">
                <a:solidFill>
                  <a:srgbClr val="DED8EC"/>
                </a:solidFill>
                <a:latin typeface="Nunito Sans"/>
              </a:rPr>
              <a:t>myflove.lovable.app  ·  version 4.1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GEMENSAM START &amp; ADAPTIV PERSONALISERING</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Alla börjar från samma neutrala grund</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MyFlove antar ingenting om familjesituation, diagnoser, behov, energinivå eller livssituation. Personaliseringen är datadriven och gradvis.</a:t>
            </a:r>
          </a:p>
        </p:txBody>
      </p:sp>
      <p:sp>
        <p:nvSpPr>
          <p:cNvPr id="7" name="Rounded Rectangle 6"/>
          <p:cNvSpPr/>
          <p:nvPr/>
        </p:nvSpPr>
        <p:spPr>
          <a:xfrm>
            <a:off x="7315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1. Gemensam grund</a:t>
            </a:r>
          </a:p>
        </p:txBody>
      </p:sp>
      <p:sp>
        <p:nvSpPr>
          <p:cNvPr id="10" name="TextBox 9"/>
          <p:cNvSpPr txBox="1"/>
          <p:nvPr/>
        </p:nvSpPr>
        <p:spPr>
          <a:xfrm>
            <a:off x="8961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Samma enkla upplevelse för alla från dag ett.</a:t>
            </a:r>
          </a:p>
        </p:txBody>
      </p:sp>
      <p:sp>
        <p:nvSpPr>
          <p:cNvPr id="11" name="Rounded Rectangle 10"/>
          <p:cNvSpPr/>
          <p:nvPr/>
        </p:nvSpPr>
        <p:spPr>
          <a:xfrm>
            <a:off x="34747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2. Du ger signaler</a:t>
            </a:r>
          </a:p>
        </p:txBody>
      </p:sp>
      <p:sp>
        <p:nvSpPr>
          <p:cNvPr id="14" name="TextBox 13"/>
          <p:cNvSpPr txBox="1"/>
          <p:nvPr/>
        </p:nvSpPr>
        <p:spPr>
          <a:xfrm>
            <a:off x="36393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Det du fyller i, använder och registrerar.</a:t>
            </a:r>
          </a:p>
        </p:txBody>
      </p:sp>
      <p:sp>
        <p:nvSpPr>
          <p:cNvPr id="15" name="Rounded Rectangle 14"/>
          <p:cNvSpPr/>
          <p:nvPr/>
        </p:nvSpPr>
        <p:spPr>
          <a:xfrm>
            <a:off x="62179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3. MyFlove lär sig</a:t>
            </a:r>
          </a:p>
        </p:txBody>
      </p:sp>
      <p:sp>
        <p:nvSpPr>
          <p:cNvPr id="18" name="TextBox 17"/>
          <p:cNvSpPr txBox="1"/>
          <p:nvPr/>
        </p:nvSpPr>
        <p:spPr>
          <a:xfrm>
            <a:off x="63825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Mönster byggs bara på din faktiska data.</a:t>
            </a:r>
          </a:p>
        </p:txBody>
      </p:sp>
      <p:sp>
        <p:nvSpPr>
          <p:cNvPr id="19" name="Rounded Rectangle 18"/>
          <p:cNvSpPr/>
          <p:nvPr/>
        </p:nvSpPr>
        <p:spPr>
          <a:xfrm>
            <a:off x="89611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4. Upplevelsen anpassas</a:t>
            </a:r>
          </a:p>
        </p:txBody>
      </p:sp>
      <p:sp>
        <p:nvSpPr>
          <p:cNvPr id="22" name="TextBox 21"/>
          <p:cNvSpPr txBox="1"/>
          <p:nvPr/>
        </p:nvSpPr>
        <p:spPr>
          <a:xfrm>
            <a:off x="91257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Gradvis personalisering – i din takt.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BATTERIET</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En enkel check-in – inte ett mätsystem</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Användaren fyller aldrig i komplexa mått på stress, belastning eller återhämtning. MyFlove gör analysen bakom kulisserna.</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Orken</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”Hur mycket ork har du idag?” Fyra svar: Mycket · Okej · Lite · Nästan slut.</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Måendet – separat</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”Hur känns det just nu?” Fem enkla känslolägen.</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Analysen</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Trender och mönster räknas fram i bakgrunden – aldrig av användaren.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KALENDERN &amp; DATUMLOGIK</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Rätt aktivitet på rätt dag</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En aktivitet finns bara på de dagar den är planerad eller faktiskt genomförs. Återkommande aktiviteter är separata datuminstanser.</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Fem statusar</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Planerad, pågående, genomförd, inställd och flyttad.</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Flytt utan spökposter</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Flyttas en aktivitet räknas den gamla dagen aldrig som genomförd.</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Egen instans</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Varje förekomst har egen status och egen energipåverkan.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ENERGIHISTORIK</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Vad ger energi – och vad tar den?</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Efter en genomförd aktivitet: ett frivilligt svar med ett klick. Historiken visas per faktisk aktivitet och datum. Förväntad och faktisk energipåverkan är två separata datapunkter – ingen tvingas fylla i båda.</a:t>
            </a:r>
          </a:p>
        </p:txBody>
      </p:sp>
      <p:sp>
        <p:nvSpPr>
          <p:cNvPr id="7" name="Rounded Rectangle 6"/>
          <p:cNvSpPr/>
          <p:nvPr/>
        </p:nvSpPr>
        <p:spPr>
          <a:xfrm>
            <a:off x="7315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Gav energi</a:t>
            </a:r>
          </a:p>
        </p:txBody>
      </p:sp>
      <p:sp>
        <p:nvSpPr>
          <p:cNvPr id="10" name="TextBox 9"/>
          <p:cNvSpPr txBox="1"/>
          <p:nvPr/>
        </p:nvSpPr>
        <p:spPr>
          <a:xfrm>
            <a:off x="8961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Aktiviteter som laddar batteriet.</a:t>
            </a:r>
          </a:p>
        </p:txBody>
      </p:sp>
      <p:sp>
        <p:nvSpPr>
          <p:cNvPr id="11" name="Rounded Rectangle 10"/>
          <p:cNvSpPr/>
          <p:nvPr/>
        </p:nvSpPr>
        <p:spPr>
          <a:xfrm>
            <a:off x="34747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39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93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Neutral</a:t>
            </a:r>
          </a:p>
        </p:txBody>
      </p:sp>
      <p:sp>
        <p:nvSpPr>
          <p:cNvPr id="14" name="TextBox 13"/>
          <p:cNvSpPr txBox="1"/>
          <p:nvPr/>
        </p:nvSpPr>
        <p:spPr>
          <a:xfrm>
            <a:off x="36393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Varken gav eller tog energi.</a:t>
            </a:r>
          </a:p>
        </p:txBody>
      </p:sp>
      <p:sp>
        <p:nvSpPr>
          <p:cNvPr id="15" name="Rounded Rectangle 14"/>
          <p:cNvSpPr/>
          <p:nvPr/>
        </p:nvSpPr>
        <p:spPr>
          <a:xfrm>
            <a:off x="62179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Tog lite energi</a:t>
            </a:r>
          </a:p>
        </p:txBody>
      </p:sp>
      <p:sp>
        <p:nvSpPr>
          <p:cNvPr id="18" name="TextBox 17"/>
          <p:cNvSpPr txBox="1"/>
          <p:nvPr/>
        </p:nvSpPr>
        <p:spPr>
          <a:xfrm>
            <a:off x="63825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Märkbart men hanterbart.</a:t>
            </a:r>
          </a:p>
        </p:txBody>
      </p:sp>
      <p:sp>
        <p:nvSpPr>
          <p:cNvPr id="19" name="Rounded Rectangle 18"/>
          <p:cNvSpPr/>
          <p:nvPr/>
        </p:nvSpPr>
        <p:spPr>
          <a:xfrm>
            <a:off x="8961120" y="3154680"/>
            <a:ext cx="24688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25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5712" y="3560000"/>
            <a:ext cx="2139696" cy="266700"/>
          </a:xfrm>
          <a:prstGeom prst="rect">
            <a:avLst/>
          </a:prstGeom>
          <a:noFill/>
        </p:spPr>
        <p:txBody>
          <a:bodyPr wrap="square" lIns="0" rIns="0" tIns="0" bIns="0">
            <a:spAutoFit/>
          </a:bodyPr>
          <a:lstStyle/>
          <a:p>
            <a:pPr algn="l">
              <a:lnSpc>
                <a:spcPct val="120000"/>
              </a:lnSpc>
            </a:pPr>
            <a:r>
              <a:rPr sz="1400" b="1" i="0">
                <a:solidFill>
                  <a:srgbClr val="241C3B"/>
                </a:solidFill>
                <a:latin typeface="Nunito Sans"/>
              </a:rPr>
              <a:t>Tog mycket energi</a:t>
            </a:r>
          </a:p>
        </p:txBody>
      </p:sp>
      <p:sp>
        <p:nvSpPr>
          <p:cNvPr id="22" name="TextBox 21"/>
          <p:cNvSpPr txBox="1"/>
          <p:nvPr/>
        </p:nvSpPr>
        <p:spPr>
          <a:xfrm>
            <a:off x="9125712" y="4100000"/>
            <a:ext cx="2139696" cy="228600"/>
          </a:xfrm>
          <a:prstGeom prst="rect">
            <a:avLst/>
          </a:prstGeom>
          <a:noFill/>
        </p:spPr>
        <p:txBody>
          <a:bodyPr wrap="square" lIns="0" rIns="0" tIns="0" bIns="0">
            <a:spAutoFit/>
          </a:bodyPr>
          <a:lstStyle/>
          <a:p>
            <a:pPr algn="l">
              <a:lnSpc>
                <a:spcPct val="135000"/>
              </a:lnSpc>
            </a:pPr>
            <a:r>
              <a:rPr sz="1200" b="0" i="0">
                <a:solidFill>
                  <a:srgbClr val="6F6789"/>
                </a:solidFill>
                <a:latin typeface="Nunito Sans"/>
              </a:rPr>
              <a:t>Viktig signal för planeringen.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3FE"/>
        </a:solidFill>
        <a:effectLst/>
      </p:bgPr>
    </p:bg>
    <p:spTree>
      <p:nvGrpSpPr>
        <p:cNvPr id="1" name=""/>
        <p:cNvGrpSpPr/>
        <p:nvPr/>
      </p:nvGrpSpPr>
      <p:grpSpPr/>
      <p:sp>
        <p:nvSpPr>
          <p:cNvPr id="2" name="Rounded Rectangle 1"/>
          <p:cNvSpPr/>
          <p:nvPr/>
        </p:nvSpPr>
        <p:spPr>
          <a:xfrm>
            <a:off x="-548640" y="-548640"/>
            <a:ext cx="1737360" cy="1737360"/>
          </a:xfrm>
          <a:prstGeom prst="roundRect">
            <a:avLst/>
          </a:prstGeom>
          <a:solidFill>
            <a:srgbClr val="E9E0FB"/>
          </a:solidFill>
          <a:ln>
            <a:solidFill>
              <a:srgbClr val="E9E0F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1247120" y="5943600"/>
            <a:ext cx="1554480" cy="1554480"/>
          </a:xfrm>
          <a:prstGeom prst="roundRect">
            <a:avLst/>
          </a:prstGeom>
          <a:solidFill>
            <a:srgbClr val="FAE5F0"/>
          </a:solidFill>
          <a:ln>
            <a:solidFill>
              <a:srgbClr val="FA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698480" cy="209550"/>
          </a:xfrm>
          <a:prstGeom prst="rect">
            <a:avLst/>
          </a:prstGeom>
          <a:noFill/>
        </p:spPr>
        <p:txBody>
          <a:bodyPr wrap="square" lIns="0" rIns="0" tIns="0" bIns="0">
            <a:spAutoFit/>
          </a:bodyPr>
          <a:lstStyle/>
          <a:p>
            <a:pPr algn="l"/>
            <a:r>
              <a:rPr sz="1100" b="1" i="0">
                <a:solidFill>
                  <a:srgbClr val="7C5CE0"/>
                </a:solidFill>
                <a:latin typeface="Nunito Sans"/>
              </a:rPr>
              <a:t>VECKOÖVERSIKT</a:t>
            </a:r>
          </a:p>
        </p:txBody>
      </p:sp>
      <p:sp>
        <p:nvSpPr>
          <p:cNvPr id="5" name="TextBox 4"/>
          <p:cNvSpPr txBox="1"/>
          <p:nvPr/>
        </p:nvSpPr>
        <p:spPr>
          <a:xfrm>
            <a:off x="731520" y="880000"/>
            <a:ext cx="10698480" cy="552450"/>
          </a:xfrm>
          <a:prstGeom prst="rect">
            <a:avLst/>
          </a:prstGeom>
          <a:noFill/>
        </p:spPr>
        <p:txBody>
          <a:bodyPr wrap="square" lIns="0" rIns="0" tIns="0" bIns="0">
            <a:spAutoFit/>
          </a:bodyPr>
          <a:lstStyle/>
          <a:p>
            <a:pPr algn="l"/>
            <a:r>
              <a:rPr sz="2900" b="1" i="0">
                <a:solidFill>
                  <a:srgbClr val="241C3B"/>
                </a:solidFill>
                <a:latin typeface="Nunito Sans"/>
              </a:rPr>
              <a:t>Din vecka – varje söndag</a:t>
            </a:r>
          </a:p>
        </p:txBody>
      </p:sp>
      <p:sp>
        <p:nvSpPr>
          <p:cNvPr id="6" name="TextBox 5"/>
          <p:cNvSpPr txBox="1"/>
          <p:nvPr/>
        </p:nvSpPr>
        <p:spPr>
          <a:xfrm>
            <a:off x="731520" y="1560000"/>
            <a:ext cx="9949586" cy="266700"/>
          </a:xfrm>
          <a:prstGeom prst="rect">
            <a:avLst/>
          </a:prstGeom>
          <a:noFill/>
        </p:spPr>
        <p:txBody>
          <a:bodyPr wrap="square" lIns="0" rIns="0" tIns="0" bIns="0">
            <a:spAutoFit/>
          </a:bodyPr>
          <a:lstStyle/>
          <a:p>
            <a:pPr algn="l">
              <a:lnSpc>
                <a:spcPct val="130000"/>
              </a:lnSpc>
            </a:pPr>
            <a:r>
              <a:rPr sz="1400" b="0" i="0">
                <a:solidFill>
                  <a:srgbClr val="6F6789"/>
                </a:solidFill>
                <a:latin typeface="Nunito Sans"/>
              </a:rPr>
              <a:t>En enkel sammanfattning av veckan, byggd på faktisk data. Fokus på förståelse och stöd – inte prestation.</a:t>
            </a:r>
          </a:p>
        </p:txBody>
      </p:sp>
      <p:sp>
        <p:nvSpPr>
          <p:cNvPr id="7" name="Rounded Rectangle 6"/>
          <p:cNvSpPr/>
          <p:nvPr/>
        </p:nvSpPr>
        <p:spPr>
          <a:xfrm>
            <a:off x="7315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Vad som hänt</a:t>
            </a:r>
          </a:p>
        </p:txBody>
      </p:sp>
      <p:sp>
        <p:nvSpPr>
          <p:cNvPr id="10" name="TextBox 9"/>
          <p:cNvSpPr txBox="1"/>
          <p:nvPr/>
        </p:nvSpPr>
        <p:spPr>
          <a:xfrm>
            <a:off x="8961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Aktiviteter, Quickflow, ork och mående under veckan.</a:t>
            </a:r>
          </a:p>
        </p:txBody>
      </p:sp>
      <p:sp>
        <p:nvSpPr>
          <p:cNvPr id="11" name="Rounded Rectangle 10"/>
          <p:cNvSpPr/>
          <p:nvPr/>
        </p:nvSpPr>
        <p:spPr>
          <a:xfrm>
            <a:off x="43891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37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Trender när datan räcker</a:t>
            </a:r>
          </a:p>
        </p:txBody>
      </p:sp>
      <p:sp>
        <p:nvSpPr>
          <p:cNvPr id="14" name="TextBox 13"/>
          <p:cNvSpPr txBox="1"/>
          <p:nvPr/>
        </p:nvSpPr>
        <p:spPr>
          <a:xfrm>
            <a:off x="45537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Ork- och måendetrender visas bara med tillräckligt underlag.</a:t>
            </a:r>
          </a:p>
        </p:txBody>
      </p:sp>
      <p:sp>
        <p:nvSpPr>
          <p:cNvPr id="15" name="Rounded Rectangle 14"/>
          <p:cNvSpPr/>
          <p:nvPr/>
        </p:nvSpPr>
        <p:spPr>
          <a:xfrm>
            <a:off x="8046720" y="3154680"/>
            <a:ext cx="3383280" cy="2011680"/>
          </a:xfrm>
          <a:prstGeom prst="roundRect">
            <a:avLst/>
          </a:prstGeom>
          <a:solidFill>
            <a:srgbClr val="FFFFFF"/>
          </a:solidFill>
          <a:ln>
            <a:solidFill>
              <a:srgbClr val="E5D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11312" y="3337560"/>
            <a:ext cx="438912" cy="82296"/>
          </a:xfrm>
          <a:prstGeom prst="roundRect">
            <a:avLst/>
          </a:prstGeom>
          <a:solidFill>
            <a:srgbClr val="F2A8CE"/>
          </a:solidFill>
          <a:ln>
            <a:solidFill>
              <a:srgbClr val="F2A8C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574680"/>
            <a:ext cx="3054096" cy="304800"/>
          </a:xfrm>
          <a:prstGeom prst="rect">
            <a:avLst/>
          </a:prstGeom>
          <a:noFill/>
        </p:spPr>
        <p:txBody>
          <a:bodyPr wrap="square" lIns="0" rIns="0" tIns="0" bIns="0">
            <a:spAutoFit/>
          </a:bodyPr>
          <a:lstStyle/>
          <a:p>
            <a:pPr algn="l"/>
            <a:r>
              <a:rPr sz="1600" b="1" i="0">
                <a:solidFill>
                  <a:srgbClr val="241C3B"/>
                </a:solidFill>
                <a:latin typeface="Nunito Sans"/>
              </a:rPr>
              <a:t>Försiktiga reflektioner</a:t>
            </a:r>
          </a:p>
        </p:txBody>
      </p:sp>
      <p:sp>
        <p:nvSpPr>
          <p:cNvPr id="18" name="TextBox 17"/>
          <p:cNvSpPr txBox="1"/>
          <p:nvPr/>
        </p:nvSpPr>
        <p:spPr>
          <a:xfrm>
            <a:off x="8211312" y="3944680"/>
            <a:ext cx="3054096" cy="228600"/>
          </a:xfrm>
          <a:prstGeom prst="rect">
            <a:avLst/>
          </a:prstGeom>
          <a:noFill/>
        </p:spPr>
        <p:txBody>
          <a:bodyPr wrap="square" lIns="0" rIns="0" tIns="0" bIns="0">
            <a:spAutoFit/>
          </a:bodyPr>
          <a:lstStyle/>
          <a:p>
            <a:pPr algn="l">
              <a:lnSpc>
                <a:spcPct val="135000"/>
              </a:lnSpc>
              <a:spcAft>
                <a:spcPts val="500"/>
              </a:spcAft>
            </a:pPr>
            <a:r>
              <a:rPr sz="1200" b="0" i="0">
                <a:solidFill>
                  <a:srgbClr val="6F6789"/>
                </a:solidFill>
                <a:latin typeface="Nunito Sans"/>
              </a:rPr>
              <a:t>Handlingsinriktade förslag inför nästa vecka – aldrig påhittade mönster.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