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7.jpg"/><Relationship Id="rId5" Type="http://schemas.openxmlformats.org/officeDocument/2006/relationships/image" Target="../media/image3.jpg"/><Relationship Id="rId6"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315200" y="-457200"/>
            <a:ext cx="5212080" cy="7680960"/>
          </a:xfrm>
          <a:prstGeom prst="roundRect">
            <a:avLst/>
          </a:prstGeom>
          <a:solidFill>
            <a:srgbClr val="6C4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900416" y="521208"/>
            <a:ext cx="3392424" cy="50383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yflove-demo-minday-phone.jpg"/>
          <p:cNvPicPr>
            <a:picLocks noChangeAspect="1"/>
          </p:cNvPicPr>
          <p:nvPr/>
        </p:nvPicPr>
        <p:blipFill>
          <a:blip r:embed="rId4"/>
          <a:srcRect t="4940" b="4940"/>
          <a:stretch>
            <a:fillRect/>
          </a:stretch>
        </p:blipFill>
        <p:spPr>
          <a:xfrm>
            <a:off x="7973568" y="594360"/>
            <a:ext cx="3246120" cy="4892040"/>
          </a:xfrm>
          <a:prstGeom prst="rect">
            <a:avLst/>
          </a:prstGeom>
        </p:spPr>
      </p:pic>
      <p:sp>
        <p:nvSpPr>
          <p:cNvPr id="5" name="TextBox 4"/>
          <p:cNvSpPr txBox="1"/>
          <p:nvPr/>
        </p:nvSpPr>
        <p:spPr>
          <a:xfrm>
            <a:off x="685800" y="594360"/>
            <a:ext cx="27432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MYFLOVE</a:t>
            </a:r>
          </a:p>
        </p:txBody>
      </p:sp>
      <p:sp>
        <p:nvSpPr>
          <p:cNvPr id="6" name="TextBox 5"/>
          <p:cNvSpPr txBox="1"/>
          <p:nvPr/>
        </p:nvSpPr>
        <p:spPr>
          <a:xfrm>
            <a:off x="685800" y="1234440"/>
            <a:ext cx="6217920" cy="1874519"/>
          </a:xfrm>
          <a:prstGeom prst="rect">
            <a:avLst/>
          </a:prstGeom>
          <a:noFill/>
        </p:spPr>
        <p:txBody>
          <a:bodyPr wrap="square" lIns="0" rIns="0" tIns="0" bIns="0" anchor="t">
            <a:spAutoFit/>
          </a:bodyPr>
          <a:lstStyle/>
          <a:p>
            <a:pPr algn="l">
              <a:defRPr sz="3600" b="1" i="0">
                <a:solidFill>
                  <a:srgbClr val="FFFFFF"/>
                </a:solidFill>
                <a:latin typeface="Aptos Display"/>
              </a:defRPr>
            </a:pPr>
            <a:r>
              <a:t>One calm way</a:t>
            </a:r>
            <a:br/>
            <a:r>
              <a:t>through everyday life.</a:t>
            </a:r>
          </a:p>
        </p:txBody>
      </p:sp>
      <p:sp>
        <p:nvSpPr>
          <p:cNvPr id="7" name="TextBox 6"/>
          <p:cNvSpPr txBox="1"/>
          <p:nvPr/>
        </p:nvSpPr>
        <p:spPr>
          <a:xfrm>
            <a:off x="713232" y="3429000"/>
            <a:ext cx="5029200" cy="822960"/>
          </a:xfrm>
          <a:prstGeom prst="rect">
            <a:avLst/>
          </a:prstGeom>
          <a:noFill/>
        </p:spPr>
        <p:txBody>
          <a:bodyPr wrap="square" lIns="0" rIns="0" tIns="0" bIns="0" anchor="t">
            <a:spAutoFit/>
          </a:bodyPr>
          <a:lstStyle/>
          <a:p>
            <a:pPr algn="l">
              <a:defRPr sz="2300" b="1" i="0">
                <a:solidFill>
                  <a:srgbClr val="F2BED8"/>
                </a:solidFill>
                <a:latin typeface="Aptos Display"/>
              </a:defRPr>
            </a:pPr>
            <a:r>
              <a:t>Plan for your capacity.</a:t>
            </a:r>
            <a:br/>
            <a:r>
              <a:t>Not just your time.</a:t>
            </a:r>
          </a:p>
        </p:txBody>
      </p:sp>
      <p:sp>
        <p:nvSpPr>
          <p:cNvPr id="8" name="TextBox 7"/>
          <p:cNvSpPr txBox="1"/>
          <p:nvPr/>
        </p:nvSpPr>
        <p:spPr>
          <a:xfrm>
            <a:off x="713232" y="4617720"/>
            <a:ext cx="5212080" cy="320040"/>
          </a:xfrm>
          <a:prstGeom prst="rect">
            <a:avLst/>
          </a:prstGeom>
          <a:noFill/>
        </p:spPr>
        <p:txBody>
          <a:bodyPr wrap="square" lIns="0" rIns="0" tIns="0" bIns="0" anchor="t">
            <a:spAutoFit/>
          </a:bodyPr>
          <a:lstStyle/>
          <a:p>
            <a:pPr algn="l">
              <a:defRPr sz="1500" b="0" i="0">
                <a:solidFill>
                  <a:srgbClr val="EDE3FA"/>
                </a:solidFill>
                <a:latin typeface="Aptos"/>
              </a:defRPr>
            </a:pPr>
            <a:r>
              <a:t>AI-supported digital everyday support</a:t>
            </a:r>
          </a:p>
        </p:txBody>
      </p:sp>
      <p:sp>
        <p:nvSpPr>
          <p:cNvPr id="9" name="TextBox 8"/>
          <p:cNvSpPr txBox="1"/>
          <p:nvPr/>
        </p:nvSpPr>
        <p:spPr>
          <a:xfrm>
            <a:off x="713232" y="6080760"/>
            <a:ext cx="5852160" cy="274320"/>
          </a:xfrm>
          <a:prstGeom prst="rect">
            <a:avLst/>
          </a:prstGeom>
          <a:noFill/>
        </p:spPr>
        <p:txBody>
          <a:bodyPr wrap="square" lIns="0" rIns="0" tIns="0" bIns="0" anchor="t">
            <a:spAutoFit/>
          </a:bodyPr>
          <a:lstStyle/>
          <a:p>
            <a:pPr algn="l">
              <a:defRPr sz="1200" b="0" i="0">
                <a:solidFill>
                  <a:srgbClr val="CFC2DF"/>
                </a:solidFill>
                <a:latin typeface="Aptos"/>
              </a:defRPr>
            </a:pPr>
            <a:r>
              <a:t>Connect Öst · Online Pitch Review · September 10, 2026</a:t>
            </a:r>
          </a:p>
        </p:txBody>
      </p:sp>
      <p:sp>
        <p:nvSpPr>
          <p:cNvPr id="10" name="TextBox 9"/>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1" name="TextBox 10"/>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PROBLEM</a:t>
            </a:r>
          </a:p>
        </p:txBody>
      </p:sp>
      <p:sp>
        <p:nvSpPr>
          <p:cNvPr id="3" name="TextBox 2"/>
          <p:cNvSpPr txBox="1"/>
          <p:nvPr/>
        </p:nvSpPr>
        <p:spPr>
          <a:xfrm>
            <a:off x="640080" y="914400"/>
            <a:ext cx="5486400" cy="1325880"/>
          </a:xfrm>
          <a:prstGeom prst="rect">
            <a:avLst/>
          </a:prstGeom>
          <a:noFill/>
        </p:spPr>
        <p:txBody>
          <a:bodyPr wrap="square" lIns="0" rIns="0" tIns="0" bIns="0" anchor="t">
            <a:spAutoFit/>
          </a:bodyPr>
          <a:lstStyle/>
          <a:p>
            <a:pPr algn="l">
              <a:defRPr sz="3300" b="1" i="0">
                <a:solidFill>
                  <a:srgbClr val="2F2345"/>
                </a:solidFill>
                <a:latin typeface="Aptos Display"/>
              </a:defRPr>
            </a:pPr>
            <a:r>
              <a:t>Knowing what to do</a:t>
            </a:r>
            <a:br/>
            <a:r>
              <a:t>is not the hard part.</a:t>
            </a:r>
          </a:p>
        </p:txBody>
      </p:sp>
      <p:sp>
        <p:nvSpPr>
          <p:cNvPr id="4" name="TextBox 3"/>
          <p:cNvSpPr txBox="1"/>
          <p:nvPr/>
        </p:nvSpPr>
        <p:spPr>
          <a:xfrm>
            <a:off x="658368" y="2450592"/>
            <a:ext cx="5212080" cy="960120"/>
          </a:xfrm>
          <a:prstGeom prst="rect">
            <a:avLst/>
          </a:prstGeom>
          <a:noFill/>
        </p:spPr>
        <p:txBody>
          <a:bodyPr wrap="square" lIns="0" rIns="0" tIns="0" bIns="0" anchor="t">
            <a:spAutoFit/>
          </a:bodyPr>
          <a:lstStyle/>
          <a:p>
            <a:pPr algn="l">
              <a:defRPr sz="1800" b="0" i="0">
                <a:solidFill>
                  <a:srgbClr val="6E6382"/>
                </a:solidFill>
                <a:latin typeface="Aptos"/>
              </a:defRPr>
            </a:pPr>
            <a:r>
              <a:t>Making the day work when energy, mental load and invisible work keep changing — that is the hard part.</a:t>
            </a:r>
          </a:p>
        </p:txBody>
      </p:sp>
      <p:sp>
        <p:nvSpPr>
          <p:cNvPr id="5" name="Rounded Rectangle 4"/>
          <p:cNvSpPr/>
          <p:nvPr/>
        </p:nvSpPr>
        <p:spPr>
          <a:xfrm>
            <a:off x="6373368" y="521208"/>
            <a:ext cx="5221224" cy="32735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4359" r="4359"/>
          <a:stretch>
            <a:fillRect/>
          </a:stretch>
        </p:blipFill>
        <p:spPr>
          <a:xfrm>
            <a:off x="6446520" y="594360"/>
            <a:ext cx="5074920" cy="3127248"/>
          </a:xfrm>
          <a:prstGeom prst="rect">
            <a:avLst/>
          </a:prstGeom>
        </p:spPr>
      </p:pic>
      <p:sp>
        <p:nvSpPr>
          <p:cNvPr id="7" name="Rounded Rectangle 6"/>
          <p:cNvSpPr/>
          <p:nvPr/>
        </p:nvSpPr>
        <p:spPr>
          <a:xfrm>
            <a:off x="640080" y="4160520"/>
            <a:ext cx="525780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407408"/>
            <a:ext cx="2011680" cy="228600"/>
          </a:xfrm>
          <a:prstGeom prst="rect">
            <a:avLst/>
          </a:prstGeom>
          <a:noFill/>
        </p:spPr>
        <p:txBody>
          <a:bodyPr wrap="square" lIns="0" rIns="0" tIns="0" bIns="0" anchor="t">
            <a:spAutoFit/>
          </a:bodyPr>
          <a:lstStyle/>
          <a:p>
            <a:pPr algn="l">
              <a:defRPr sz="1100" b="1" i="0">
                <a:solidFill>
                  <a:srgbClr val="7653C6"/>
                </a:solidFill>
                <a:latin typeface="Aptos Display"/>
              </a:defRPr>
            </a:pPr>
            <a:r>
              <a:t>TRADITIONAL TOOLS</a:t>
            </a:r>
          </a:p>
        </p:txBody>
      </p:sp>
      <p:sp>
        <p:nvSpPr>
          <p:cNvPr id="9" name="TextBox 8"/>
          <p:cNvSpPr txBox="1"/>
          <p:nvPr/>
        </p:nvSpPr>
        <p:spPr>
          <a:xfrm>
            <a:off x="868680" y="4754880"/>
            <a:ext cx="4297680" cy="320040"/>
          </a:xfrm>
          <a:prstGeom prst="rect">
            <a:avLst/>
          </a:prstGeom>
          <a:noFill/>
        </p:spPr>
        <p:txBody>
          <a:bodyPr wrap="square" lIns="0" rIns="0" tIns="0" bIns="0" anchor="t">
            <a:spAutoFit/>
          </a:bodyPr>
          <a:lstStyle/>
          <a:p>
            <a:pPr algn="l">
              <a:defRPr sz="1900" b="1" i="0">
                <a:solidFill>
                  <a:srgbClr val="2F2345"/>
                </a:solidFill>
                <a:latin typeface="Aptos Display"/>
              </a:defRPr>
            </a:pPr>
            <a:r>
              <a:t>Tasks · time · reminders</a:t>
            </a:r>
          </a:p>
        </p:txBody>
      </p:sp>
      <p:sp>
        <p:nvSpPr>
          <p:cNvPr id="10" name="Rounded Rectangle 9"/>
          <p:cNvSpPr/>
          <p:nvPr/>
        </p:nvSpPr>
        <p:spPr>
          <a:xfrm>
            <a:off x="6172200" y="4160520"/>
            <a:ext cx="5349240" cy="1298448"/>
          </a:xfrm>
          <a:prstGeom prst="roundRect">
            <a:avLst/>
          </a:prstGeom>
          <a:solidFill>
            <a:srgbClr val="FCEAF3"/>
          </a:solidFill>
          <a:ln w="12700">
            <a:solidFill>
              <a:srgbClr val="E9C8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407408"/>
            <a:ext cx="2011680" cy="228600"/>
          </a:xfrm>
          <a:prstGeom prst="rect">
            <a:avLst/>
          </a:prstGeom>
          <a:noFill/>
        </p:spPr>
        <p:txBody>
          <a:bodyPr wrap="square" lIns="0" rIns="0" tIns="0" bIns="0" anchor="t">
            <a:spAutoFit/>
          </a:bodyPr>
          <a:lstStyle/>
          <a:p>
            <a:pPr algn="l">
              <a:defRPr sz="1100" b="1" i="0">
                <a:solidFill>
                  <a:srgbClr val="A63D70"/>
                </a:solidFill>
                <a:latin typeface="Aptos Display"/>
              </a:defRPr>
            </a:pPr>
            <a:r>
              <a:t>REAL LIFE</a:t>
            </a:r>
          </a:p>
        </p:txBody>
      </p:sp>
      <p:sp>
        <p:nvSpPr>
          <p:cNvPr id="12" name="TextBox 11"/>
          <p:cNvSpPr txBox="1"/>
          <p:nvPr/>
        </p:nvSpPr>
        <p:spPr>
          <a:xfrm>
            <a:off x="6400800" y="4754880"/>
            <a:ext cx="4572000" cy="320040"/>
          </a:xfrm>
          <a:prstGeom prst="rect">
            <a:avLst/>
          </a:prstGeom>
          <a:noFill/>
        </p:spPr>
        <p:txBody>
          <a:bodyPr wrap="square" lIns="0" rIns="0" tIns="0" bIns="0" anchor="t">
            <a:spAutoFit/>
          </a:bodyPr>
          <a:lstStyle/>
          <a:p>
            <a:pPr algn="l">
              <a:defRPr sz="1900" b="1" i="0">
                <a:solidFill>
                  <a:srgbClr val="2F2345"/>
                </a:solidFill>
                <a:latin typeface="Aptos Display"/>
              </a:defRPr>
            </a:pPr>
            <a:r>
              <a:t>Energy · capacity · invisible work</a:t>
            </a:r>
          </a:p>
        </p:txBody>
      </p:sp>
      <p:sp>
        <p:nvSpPr>
          <p:cNvPr id="13" name="TextBox 12"/>
          <p:cNvSpPr txBox="1"/>
          <p:nvPr/>
        </p:nvSpPr>
        <p:spPr>
          <a:xfrm>
            <a:off x="640080" y="5733288"/>
            <a:ext cx="10881360" cy="411480"/>
          </a:xfrm>
          <a:prstGeom prst="rect">
            <a:avLst/>
          </a:prstGeom>
          <a:noFill/>
        </p:spPr>
        <p:txBody>
          <a:bodyPr wrap="square" lIns="0" rIns="0" tIns="0" bIns="0" anchor="t">
            <a:spAutoFit/>
          </a:bodyPr>
          <a:lstStyle/>
          <a:p>
            <a:pPr algn="ctr">
              <a:defRPr sz="2200" b="1" i="0">
                <a:solidFill>
                  <a:srgbClr val="7653C6"/>
                </a:solidFill>
                <a:latin typeface="Aptos Display"/>
              </a:defRPr>
            </a:pPr>
            <a:r>
              <a:t>When demands exceed capacity, the person becomes the system.</a:t>
            </a:r>
          </a:p>
        </p:txBody>
      </p:sp>
      <p:sp>
        <p:nvSpPr>
          <p:cNvPr id="14" name="TextBox 13"/>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5" name="TextBox 14"/>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AFB"/>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INSIGHT</a:t>
            </a:r>
          </a:p>
        </p:txBody>
      </p:sp>
      <p:sp>
        <p:nvSpPr>
          <p:cNvPr id="3" name="TextBox 2"/>
          <p:cNvSpPr txBox="1"/>
          <p:nvPr/>
        </p:nvSpPr>
        <p:spPr>
          <a:xfrm>
            <a:off x="685800" y="1097280"/>
            <a:ext cx="5760720" cy="1417320"/>
          </a:xfrm>
          <a:prstGeom prst="rect">
            <a:avLst/>
          </a:prstGeom>
          <a:noFill/>
        </p:spPr>
        <p:txBody>
          <a:bodyPr wrap="square" lIns="0" rIns="0" tIns="0" bIns="0" anchor="t">
            <a:spAutoFit/>
          </a:bodyPr>
          <a:lstStyle/>
          <a:p>
            <a:pPr algn="l">
              <a:defRPr sz="3900" b="1" i="0">
                <a:solidFill>
                  <a:srgbClr val="2F2345"/>
                </a:solidFill>
                <a:latin typeface="Aptos Display"/>
              </a:defRPr>
            </a:pPr>
            <a:r>
              <a:t>Plan for capacity,</a:t>
            </a:r>
            <a:br/>
            <a:r>
              <a:t>not just time.</a:t>
            </a:r>
          </a:p>
        </p:txBody>
      </p:sp>
      <p:sp>
        <p:nvSpPr>
          <p:cNvPr id="4" name="Rounded Rectangle 3"/>
          <p:cNvSpPr/>
          <p:nvPr/>
        </p:nvSpPr>
        <p:spPr>
          <a:xfrm>
            <a:off x="6858000" y="731520"/>
            <a:ext cx="4480560" cy="5166360"/>
          </a:xfrm>
          <a:prstGeom prst="roundRect">
            <a:avLst/>
          </a:prstGeom>
          <a:solidFill>
            <a:srgbClr val="FFFFFF"/>
          </a:solidFill>
          <a:ln w="12700">
            <a:solidFill>
              <a:srgbClr val="E2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0" y="1143000"/>
            <a:ext cx="3566160" cy="274320"/>
          </a:xfrm>
          <a:prstGeom prst="rect">
            <a:avLst/>
          </a:prstGeom>
          <a:noFill/>
        </p:spPr>
        <p:txBody>
          <a:bodyPr wrap="square" lIns="0" rIns="0" tIns="0" bIns="0" anchor="t">
            <a:spAutoFit/>
          </a:bodyPr>
          <a:lstStyle/>
          <a:p>
            <a:pPr algn="l">
              <a:defRPr sz="1300" b="1" i="0">
                <a:solidFill>
                  <a:srgbClr val="6E6382"/>
                </a:solidFill>
                <a:latin typeface="Aptos Display"/>
              </a:defRPr>
            </a:pPr>
            <a:r>
              <a:t>A calendar says</a:t>
            </a:r>
          </a:p>
        </p:txBody>
      </p:sp>
      <p:sp>
        <p:nvSpPr>
          <p:cNvPr id="6" name="TextBox 5"/>
          <p:cNvSpPr txBox="1"/>
          <p:nvPr/>
        </p:nvSpPr>
        <p:spPr>
          <a:xfrm>
            <a:off x="7223760" y="1600200"/>
            <a:ext cx="3566160" cy="914400"/>
          </a:xfrm>
          <a:prstGeom prst="rect">
            <a:avLst/>
          </a:prstGeom>
          <a:noFill/>
        </p:spPr>
        <p:txBody>
          <a:bodyPr wrap="square" lIns="0" rIns="0" tIns="0" bIns="0" anchor="t">
            <a:spAutoFit/>
          </a:bodyPr>
          <a:lstStyle/>
          <a:p>
            <a:pPr algn="l">
              <a:defRPr sz="2300" b="1" i="0">
                <a:solidFill>
                  <a:srgbClr val="2F2345"/>
                </a:solidFill>
                <a:latin typeface="Aptos Display"/>
              </a:defRPr>
            </a:pPr>
            <a:r>
              <a:t>“You have three things</a:t>
            </a:r>
            <a:br/>
            <a:r>
              <a:t>scheduled today.”</a:t>
            </a:r>
          </a:p>
        </p:txBody>
      </p:sp>
      <p:sp>
        <p:nvSpPr>
          <p:cNvPr id="7" name="Rectangle 6"/>
          <p:cNvSpPr/>
          <p:nvPr/>
        </p:nvSpPr>
        <p:spPr>
          <a:xfrm>
            <a:off x="7223760" y="2743200"/>
            <a:ext cx="3566160" cy="36576"/>
          </a:xfrm>
          <a:prstGeom prst="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3154680"/>
            <a:ext cx="3566160" cy="274320"/>
          </a:xfrm>
          <a:prstGeom prst="rect">
            <a:avLst/>
          </a:prstGeom>
          <a:noFill/>
        </p:spPr>
        <p:txBody>
          <a:bodyPr wrap="square" lIns="0" rIns="0" tIns="0" bIns="0" anchor="t">
            <a:spAutoFit/>
          </a:bodyPr>
          <a:lstStyle/>
          <a:p>
            <a:pPr algn="l">
              <a:defRPr sz="1300" b="1" i="0">
                <a:solidFill>
                  <a:srgbClr val="7653C6"/>
                </a:solidFill>
                <a:latin typeface="Aptos Display"/>
              </a:defRPr>
            </a:pPr>
            <a:r>
              <a:t>MyFlove asks</a:t>
            </a:r>
          </a:p>
        </p:txBody>
      </p:sp>
      <p:sp>
        <p:nvSpPr>
          <p:cNvPr id="9" name="TextBox 8"/>
          <p:cNvSpPr txBox="1"/>
          <p:nvPr/>
        </p:nvSpPr>
        <p:spPr>
          <a:xfrm>
            <a:off x="7223760" y="3611880"/>
            <a:ext cx="3566160" cy="1097280"/>
          </a:xfrm>
          <a:prstGeom prst="rect">
            <a:avLst/>
          </a:prstGeom>
          <a:noFill/>
        </p:spPr>
        <p:txBody>
          <a:bodyPr wrap="square" lIns="0" rIns="0" tIns="0" bIns="0" anchor="t">
            <a:spAutoFit/>
          </a:bodyPr>
          <a:lstStyle/>
          <a:p>
            <a:pPr algn="l">
              <a:defRPr sz="2300" b="1" i="0">
                <a:solidFill>
                  <a:srgbClr val="7653C6"/>
                </a:solidFill>
                <a:latin typeface="Aptos Display"/>
              </a:defRPr>
            </a:pPr>
            <a:r>
              <a:t>“Given how you are today,</a:t>
            </a:r>
            <a:br/>
            <a:r>
              <a:t>what is actually reasonable?”</a:t>
            </a:r>
          </a:p>
        </p:txBody>
      </p:sp>
      <p:sp>
        <p:nvSpPr>
          <p:cNvPr id="10" name="Rounded Rectangle 9"/>
          <p:cNvSpPr/>
          <p:nvPr/>
        </p:nvSpPr>
        <p:spPr>
          <a:xfrm>
            <a:off x="685800" y="3063240"/>
            <a:ext cx="5394960" cy="96012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328416"/>
            <a:ext cx="4846320" cy="384048"/>
          </a:xfrm>
          <a:prstGeom prst="rect">
            <a:avLst/>
          </a:prstGeom>
          <a:noFill/>
        </p:spPr>
        <p:txBody>
          <a:bodyPr wrap="square" lIns="0" rIns="0" tIns="0" bIns="0" anchor="t">
            <a:spAutoFit/>
          </a:bodyPr>
          <a:lstStyle/>
          <a:p>
            <a:pPr algn="ctr">
              <a:defRPr sz="2400" b="1" i="0">
                <a:solidFill>
                  <a:srgbClr val="FFFFFF"/>
                </a:solidFill>
                <a:latin typeface="Aptos Display"/>
              </a:defRPr>
            </a:pPr>
            <a:r>
              <a:t>TIME  →  CAPACITY</a:t>
            </a:r>
          </a:p>
        </p:txBody>
      </p:sp>
      <p:sp>
        <p:nvSpPr>
          <p:cNvPr id="12" name="TextBox 11"/>
          <p:cNvSpPr txBox="1"/>
          <p:nvPr/>
        </p:nvSpPr>
        <p:spPr>
          <a:xfrm>
            <a:off x="713232" y="4389120"/>
            <a:ext cx="5303520" cy="457200"/>
          </a:xfrm>
          <a:prstGeom prst="rect">
            <a:avLst/>
          </a:prstGeom>
          <a:noFill/>
        </p:spPr>
        <p:txBody>
          <a:bodyPr wrap="square" lIns="0" rIns="0" tIns="0" bIns="0" anchor="t">
            <a:spAutoFit/>
          </a:bodyPr>
          <a:lstStyle/>
          <a:p>
            <a:pPr algn="l">
              <a:defRPr sz="1800" b="0" i="0">
                <a:solidFill>
                  <a:srgbClr val="6E6382"/>
                </a:solidFill>
                <a:latin typeface="Aptos"/>
              </a:defRPr>
            </a:pPr>
            <a:r>
              <a:t>That single shift is the product.</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SOLUTION</a:t>
            </a:r>
          </a:p>
        </p:txBody>
      </p:sp>
      <p:sp>
        <p:nvSpPr>
          <p:cNvPr id="3" name="TextBox 2"/>
          <p:cNvSpPr txBox="1"/>
          <p:nvPr/>
        </p:nvSpPr>
        <p:spPr>
          <a:xfrm>
            <a:off x="621792" y="822960"/>
            <a:ext cx="7406640" cy="594360"/>
          </a:xfrm>
          <a:prstGeom prst="rect">
            <a:avLst/>
          </a:prstGeom>
          <a:noFill/>
        </p:spPr>
        <p:txBody>
          <a:bodyPr wrap="square" lIns="0" rIns="0" tIns="0" bIns="0" anchor="t">
            <a:spAutoFit/>
          </a:bodyPr>
          <a:lstStyle/>
          <a:p>
            <a:pPr algn="l">
              <a:defRPr sz="3000" b="1" i="0">
                <a:solidFill>
                  <a:srgbClr val="2F2345"/>
                </a:solidFill>
                <a:latin typeface="Aptos Display"/>
              </a:defRPr>
            </a:pPr>
            <a:r>
              <a:t>Capacity becomes a planning signal.</a:t>
            </a:r>
          </a:p>
        </p:txBody>
      </p:sp>
      <p:sp>
        <p:nvSpPr>
          <p:cNvPr id="4" name="Rounded Rectangle 3"/>
          <p:cNvSpPr/>
          <p:nvPr/>
        </p:nvSpPr>
        <p:spPr>
          <a:xfrm>
            <a:off x="621792"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1</a:t>
            </a:r>
          </a:p>
        </p:txBody>
      </p:sp>
      <p:sp>
        <p:nvSpPr>
          <p:cNvPr id="7" name="TextBox 6"/>
          <p:cNvSpPr txBox="1"/>
          <p:nvPr/>
        </p:nvSpPr>
        <p:spPr>
          <a:xfrm>
            <a:off x="1335024"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How are you?</a:t>
            </a:r>
          </a:p>
        </p:txBody>
      </p:sp>
      <p:sp>
        <p:nvSpPr>
          <p:cNvPr id="8" name="TextBox 7"/>
          <p:cNvSpPr txBox="1"/>
          <p:nvPr/>
        </p:nvSpPr>
        <p:spPr>
          <a:xfrm>
            <a:off x="1335024"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Energy, mood and what affects capacity.</a:t>
            </a:r>
          </a:p>
        </p:txBody>
      </p:sp>
      <p:sp>
        <p:nvSpPr>
          <p:cNvPr id="9" name="Rounded Rectangle 8"/>
          <p:cNvSpPr/>
          <p:nvPr/>
        </p:nvSpPr>
        <p:spPr>
          <a:xfrm>
            <a:off x="4425696"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08576"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2</a:t>
            </a:r>
          </a:p>
        </p:txBody>
      </p:sp>
      <p:sp>
        <p:nvSpPr>
          <p:cNvPr id="12" name="TextBox 11"/>
          <p:cNvSpPr txBox="1"/>
          <p:nvPr/>
        </p:nvSpPr>
        <p:spPr>
          <a:xfrm>
            <a:off x="5138928"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What's happening?</a:t>
            </a:r>
          </a:p>
        </p:txBody>
      </p:sp>
      <p:sp>
        <p:nvSpPr>
          <p:cNvPr id="13" name="TextBox 12"/>
          <p:cNvSpPr txBox="1"/>
          <p:nvPr/>
        </p:nvSpPr>
        <p:spPr>
          <a:xfrm>
            <a:off x="5138928"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Tasks, events and invisible work.</a:t>
            </a:r>
          </a:p>
        </p:txBody>
      </p:sp>
      <p:sp>
        <p:nvSpPr>
          <p:cNvPr id="14" name="Rounded Rectangle 13"/>
          <p:cNvSpPr/>
          <p:nvPr/>
        </p:nvSpPr>
        <p:spPr>
          <a:xfrm>
            <a:off x="8229600"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3</a:t>
            </a:r>
          </a:p>
        </p:txBody>
      </p:sp>
      <p:sp>
        <p:nvSpPr>
          <p:cNvPr id="17" name="TextBox 16"/>
          <p:cNvSpPr txBox="1"/>
          <p:nvPr/>
        </p:nvSpPr>
        <p:spPr>
          <a:xfrm>
            <a:off x="8942832"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Need to adapt?</a:t>
            </a:r>
          </a:p>
        </p:txBody>
      </p:sp>
      <p:sp>
        <p:nvSpPr>
          <p:cNvPr id="18" name="TextBox 17"/>
          <p:cNvSpPr txBox="1"/>
          <p:nvPr/>
        </p:nvSpPr>
        <p:spPr>
          <a:xfrm>
            <a:off x="8942832"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FlowPlan moves, simplifies or splits.</a:t>
            </a:r>
          </a:p>
        </p:txBody>
      </p:sp>
      <p:sp>
        <p:nvSpPr>
          <p:cNvPr id="19" name="Rounded Rectangle 18"/>
          <p:cNvSpPr/>
          <p:nvPr/>
        </p:nvSpPr>
        <p:spPr>
          <a:xfrm>
            <a:off x="548640"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3"/>
          <a:srcRect l="511" r="511"/>
          <a:stretch>
            <a:fillRect/>
          </a:stretch>
        </p:blipFill>
        <p:spPr>
          <a:xfrm>
            <a:off x="621792" y="3337560"/>
            <a:ext cx="3346704" cy="1901952"/>
          </a:xfrm>
          <a:prstGeom prst="rect">
            <a:avLst/>
          </a:prstGeom>
        </p:spPr>
      </p:pic>
      <p:sp>
        <p:nvSpPr>
          <p:cNvPr id="21" name="Rounded Rectangle 20"/>
          <p:cNvSpPr/>
          <p:nvPr/>
        </p:nvSpPr>
        <p:spPr>
          <a:xfrm>
            <a:off x="4352544"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jpg"/>
          <p:cNvPicPr>
            <a:picLocks noChangeAspect="1"/>
          </p:cNvPicPr>
          <p:nvPr/>
        </p:nvPicPr>
        <p:blipFill>
          <a:blip r:embed="rId4"/>
          <a:srcRect l="511" r="511"/>
          <a:stretch>
            <a:fillRect/>
          </a:stretch>
        </p:blipFill>
        <p:spPr>
          <a:xfrm>
            <a:off x="4425696" y="3337560"/>
            <a:ext cx="3346704" cy="1901952"/>
          </a:xfrm>
          <a:prstGeom prst="rect">
            <a:avLst/>
          </a:prstGeom>
        </p:spPr>
      </p:pic>
      <p:sp>
        <p:nvSpPr>
          <p:cNvPr id="23" name="Rounded Rectangle 22"/>
          <p:cNvSpPr/>
          <p:nvPr/>
        </p:nvSpPr>
        <p:spPr>
          <a:xfrm>
            <a:off x="8156448"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jpg"/>
          <p:cNvPicPr>
            <a:picLocks noChangeAspect="1"/>
          </p:cNvPicPr>
          <p:nvPr/>
        </p:nvPicPr>
        <p:blipFill>
          <a:blip r:embed="rId5"/>
          <a:srcRect l="511" r="511"/>
          <a:stretch>
            <a:fillRect/>
          </a:stretch>
        </p:blipFill>
        <p:spPr>
          <a:xfrm>
            <a:off x="8229600" y="3337560"/>
            <a:ext cx="3346704" cy="1901952"/>
          </a:xfrm>
          <a:prstGeom prst="rect">
            <a:avLst/>
          </a:prstGeom>
        </p:spPr>
      </p:pic>
      <p:sp>
        <p:nvSpPr>
          <p:cNvPr id="25" name="TextBox 24"/>
          <p:cNvSpPr txBox="1"/>
          <p:nvPr/>
        </p:nvSpPr>
        <p:spPr>
          <a:xfrm>
            <a:off x="1508760" y="5468112"/>
            <a:ext cx="146304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CAPTURE</a:t>
            </a:r>
          </a:p>
        </p:txBody>
      </p:sp>
      <p:sp>
        <p:nvSpPr>
          <p:cNvPr id="26" name="TextBox 25"/>
          <p:cNvSpPr txBox="1"/>
          <p:nvPr/>
        </p:nvSpPr>
        <p:spPr>
          <a:xfrm>
            <a:off x="4983480" y="5468112"/>
            <a:ext cx="219456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UNDERSTAND + ADAPT</a:t>
            </a:r>
          </a:p>
        </p:txBody>
      </p:sp>
      <p:sp>
        <p:nvSpPr>
          <p:cNvPr id="27" name="TextBox 26"/>
          <p:cNvSpPr txBox="1"/>
          <p:nvPr/>
        </p:nvSpPr>
        <p:spPr>
          <a:xfrm>
            <a:off x="9464040" y="5468112"/>
            <a:ext cx="137160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CONTINUE</a:t>
            </a:r>
          </a:p>
        </p:txBody>
      </p:sp>
      <p:sp>
        <p:nvSpPr>
          <p:cNvPr id="28" name="TextBox 2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9" name="TextBox 2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PRODUCT</a:t>
            </a:r>
          </a:p>
        </p:txBody>
      </p:sp>
      <p:sp>
        <p:nvSpPr>
          <p:cNvPr id="3" name="TextBox 2"/>
          <p:cNvSpPr txBox="1"/>
          <p:nvPr/>
        </p:nvSpPr>
        <p:spPr>
          <a:xfrm>
            <a:off x="621792" y="822960"/>
            <a:ext cx="7498079" cy="566928"/>
          </a:xfrm>
          <a:prstGeom prst="rect">
            <a:avLst/>
          </a:prstGeom>
          <a:noFill/>
        </p:spPr>
        <p:txBody>
          <a:bodyPr wrap="square" lIns="0" rIns="0" tIns="0" bIns="0" anchor="t">
            <a:spAutoFit/>
          </a:bodyPr>
          <a:lstStyle/>
          <a:p>
            <a:pPr algn="l">
              <a:defRPr sz="3100" b="1" i="0">
                <a:solidFill>
                  <a:srgbClr val="2F2345"/>
                </a:solidFill>
                <a:latin typeface="Aptos Display"/>
              </a:defRPr>
            </a:pPr>
            <a:r>
              <a:t>One system. One daily flow.</a:t>
            </a:r>
          </a:p>
        </p:txBody>
      </p:sp>
      <p:sp>
        <p:nvSpPr>
          <p:cNvPr id="4" name="TextBox 3"/>
          <p:cNvSpPr txBox="1"/>
          <p:nvPr/>
        </p:nvSpPr>
        <p:spPr>
          <a:xfrm>
            <a:off x="640080" y="1371600"/>
            <a:ext cx="4846320" cy="320040"/>
          </a:xfrm>
          <a:prstGeom prst="rect">
            <a:avLst/>
          </a:prstGeom>
          <a:noFill/>
        </p:spPr>
        <p:txBody>
          <a:bodyPr wrap="square" lIns="0" rIns="0" tIns="0" bIns="0" anchor="t">
            <a:spAutoFit/>
          </a:bodyPr>
          <a:lstStyle/>
          <a:p>
            <a:pPr algn="l">
              <a:defRPr sz="1600" b="0" i="0">
                <a:solidFill>
                  <a:srgbClr val="6E6382"/>
                </a:solidFill>
                <a:latin typeface="Aptos"/>
              </a:defRPr>
            </a:pPr>
            <a:r>
              <a:t>A working web application in use today.</a:t>
            </a:r>
          </a:p>
        </p:txBody>
      </p:sp>
      <p:sp>
        <p:nvSpPr>
          <p:cNvPr id="5" name="Rounded Rectangle 4"/>
          <p:cNvSpPr/>
          <p:nvPr/>
        </p:nvSpPr>
        <p:spPr>
          <a:xfrm>
            <a:off x="62179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11729" r="11729"/>
          <a:stretch>
            <a:fillRect/>
          </a:stretch>
        </p:blipFill>
        <p:spPr>
          <a:xfrm>
            <a:off x="768096" y="2066544"/>
            <a:ext cx="1965960" cy="1444752"/>
          </a:xfrm>
          <a:prstGeom prst="rect">
            <a:avLst/>
          </a:prstGeom>
        </p:spPr>
      </p:pic>
      <p:sp>
        <p:nvSpPr>
          <p:cNvPr id="7" name="TextBox 6"/>
          <p:cNvSpPr txBox="1"/>
          <p:nvPr/>
        </p:nvSpPr>
        <p:spPr>
          <a:xfrm>
            <a:off x="295351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QuickFlow</a:t>
            </a:r>
          </a:p>
        </p:txBody>
      </p:sp>
      <p:sp>
        <p:nvSpPr>
          <p:cNvPr id="8" name="TextBox 7"/>
          <p:cNvSpPr txBox="1"/>
          <p:nvPr/>
        </p:nvSpPr>
        <p:spPr>
          <a:xfrm>
            <a:off x="295351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Empty your head in seconds.</a:t>
            </a:r>
          </a:p>
        </p:txBody>
      </p:sp>
      <p:sp>
        <p:nvSpPr>
          <p:cNvPr id="9" name="Rounded Rectangle 8"/>
          <p:cNvSpPr/>
          <p:nvPr/>
        </p:nvSpPr>
        <p:spPr>
          <a:xfrm>
            <a:off x="624535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jpg"/>
          <p:cNvPicPr>
            <a:picLocks noChangeAspect="1"/>
          </p:cNvPicPr>
          <p:nvPr/>
        </p:nvPicPr>
        <p:blipFill>
          <a:blip r:embed="rId4"/>
          <a:srcRect l="11729" r="11729"/>
          <a:stretch>
            <a:fillRect/>
          </a:stretch>
        </p:blipFill>
        <p:spPr>
          <a:xfrm>
            <a:off x="6391656" y="2066544"/>
            <a:ext cx="1965960" cy="1444752"/>
          </a:xfrm>
          <a:prstGeom prst="rect">
            <a:avLst/>
          </a:prstGeom>
        </p:spPr>
      </p:pic>
      <p:sp>
        <p:nvSpPr>
          <p:cNvPr id="11" name="TextBox 10"/>
          <p:cNvSpPr txBox="1"/>
          <p:nvPr/>
        </p:nvSpPr>
        <p:spPr>
          <a:xfrm>
            <a:off x="857707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Battery</a:t>
            </a:r>
          </a:p>
        </p:txBody>
      </p:sp>
      <p:sp>
        <p:nvSpPr>
          <p:cNvPr id="12" name="TextBox 11"/>
          <p:cNvSpPr txBox="1"/>
          <p:nvPr/>
        </p:nvSpPr>
        <p:spPr>
          <a:xfrm>
            <a:off x="857707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Name today’s capacity.</a:t>
            </a:r>
          </a:p>
        </p:txBody>
      </p:sp>
      <p:sp>
        <p:nvSpPr>
          <p:cNvPr id="13" name="Rounded Rectangle 12"/>
          <p:cNvSpPr/>
          <p:nvPr/>
        </p:nvSpPr>
        <p:spPr>
          <a:xfrm>
            <a:off x="62179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5"/>
          <a:srcRect l="11729" r="11729"/>
          <a:stretch>
            <a:fillRect/>
          </a:stretch>
        </p:blipFill>
        <p:spPr>
          <a:xfrm>
            <a:off x="768096" y="4123944"/>
            <a:ext cx="1965960" cy="1444752"/>
          </a:xfrm>
          <a:prstGeom prst="rect">
            <a:avLst/>
          </a:prstGeom>
        </p:spPr>
      </p:pic>
      <p:sp>
        <p:nvSpPr>
          <p:cNvPr id="15" name="TextBox 14"/>
          <p:cNvSpPr txBox="1"/>
          <p:nvPr/>
        </p:nvSpPr>
        <p:spPr>
          <a:xfrm>
            <a:off x="295351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My Day</a:t>
            </a:r>
          </a:p>
        </p:txBody>
      </p:sp>
      <p:sp>
        <p:nvSpPr>
          <p:cNvPr id="16" name="TextBox 15"/>
          <p:cNvSpPr txBox="1"/>
          <p:nvPr/>
        </p:nvSpPr>
        <p:spPr>
          <a:xfrm>
            <a:off x="295351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See what is real today.</a:t>
            </a:r>
          </a:p>
        </p:txBody>
      </p:sp>
      <p:sp>
        <p:nvSpPr>
          <p:cNvPr id="17" name="Rounded Rectangle 16"/>
          <p:cNvSpPr/>
          <p:nvPr/>
        </p:nvSpPr>
        <p:spPr>
          <a:xfrm>
            <a:off x="624535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jpg"/>
          <p:cNvPicPr>
            <a:picLocks noChangeAspect="1"/>
          </p:cNvPicPr>
          <p:nvPr/>
        </p:nvPicPr>
        <p:blipFill>
          <a:blip r:embed="rId6"/>
          <a:srcRect l="11729" r="11729"/>
          <a:stretch>
            <a:fillRect/>
          </a:stretch>
        </p:blipFill>
        <p:spPr>
          <a:xfrm>
            <a:off x="6391656" y="4123944"/>
            <a:ext cx="1965960" cy="1444752"/>
          </a:xfrm>
          <a:prstGeom prst="rect">
            <a:avLst/>
          </a:prstGeom>
        </p:spPr>
      </p:pic>
      <p:sp>
        <p:nvSpPr>
          <p:cNvPr id="19" name="TextBox 18"/>
          <p:cNvSpPr txBox="1"/>
          <p:nvPr/>
        </p:nvSpPr>
        <p:spPr>
          <a:xfrm>
            <a:off x="857707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Flow / FlowPlan</a:t>
            </a:r>
          </a:p>
        </p:txBody>
      </p:sp>
      <p:sp>
        <p:nvSpPr>
          <p:cNvPr id="20" name="TextBox 19"/>
          <p:cNvSpPr txBox="1"/>
          <p:nvPr/>
        </p:nvSpPr>
        <p:spPr>
          <a:xfrm>
            <a:off x="857707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Find the next reasonable step.</a:t>
            </a:r>
          </a:p>
        </p:txBody>
      </p:sp>
      <p:sp>
        <p:nvSpPr>
          <p:cNvPr id="21" name="TextBox 20"/>
          <p:cNvSpPr txBox="1"/>
          <p:nvPr/>
        </p:nvSpPr>
        <p:spPr>
          <a:xfrm>
            <a:off x="658368" y="6172200"/>
            <a:ext cx="10789920" cy="320040"/>
          </a:xfrm>
          <a:prstGeom prst="rect">
            <a:avLst/>
          </a:prstGeom>
          <a:noFill/>
        </p:spPr>
        <p:txBody>
          <a:bodyPr wrap="square" lIns="0" rIns="0" tIns="0" bIns="0" anchor="t">
            <a:spAutoFit/>
          </a:bodyPr>
          <a:lstStyle/>
          <a:p>
            <a:pPr algn="ctr">
              <a:defRPr sz="1700" b="1" i="0">
                <a:solidFill>
                  <a:srgbClr val="7653C6"/>
                </a:solidFill>
                <a:latin typeface="Aptos Display"/>
              </a:defRPr>
            </a:pPr>
            <a:r>
              <a:t>Complex underneath. Deliberately simple on the surface.</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pic>
        <p:nvPicPr>
          <p:cNvPr id="2" name="Picture 1" descr="image.jpg"/>
          <p:cNvPicPr>
            <a:picLocks noChangeAspect="1"/>
          </p:cNvPicPr>
          <p:nvPr/>
        </p:nvPicPr>
        <p:blipFill>
          <a:blip r:embed="rId3"/>
          <a:srcRect l="1" r="1"/>
          <a:stretch>
            <a:fillRect/>
          </a:stretch>
        </p:blipFill>
        <p:spPr>
          <a:xfrm>
            <a:off x="0" y="0"/>
            <a:ext cx="12191695" cy="6858000"/>
          </a:xfrm>
          <a:prstGeom prst="rect">
            <a:avLst/>
          </a:prstGeom>
        </p:spPr>
      </p:pic>
      <p:sp>
        <p:nvSpPr>
          <p:cNvPr id="3" name="Rounded Rectangle 2"/>
          <p:cNvSpPr/>
          <p:nvPr/>
        </p:nvSpPr>
        <p:spPr>
          <a:xfrm>
            <a:off x="411480" y="320040"/>
            <a:ext cx="2971800" cy="43891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38912"/>
            <a:ext cx="2651760" cy="164592"/>
          </a:xfrm>
          <a:prstGeom prst="rect">
            <a:avLst/>
          </a:prstGeom>
          <a:noFill/>
        </p:spPr>
        <p:txBody>
          <a:bodyPr wrap="square" lIns="0" rIns="0" tIns="0" bIns="0" anchor="t">
            <a:spAutoFit/>
          </a:bodyPr>
          <a:lstStyle/>
          <a:p>
            <a:pPr algn="l">
              <a:defRPr sz="1100" b="1" i="0">
                <a:solidFill>
                  <a:srgbClr val="FFFFFF"/>
                </a:solidFill>
                <a:latin typeface="Aptos Display"/>
              </a:defRPr>
            </a:pPr>
            <a:r>
              <a:t>WHY MYFLOVE IS DIFFERENT</a:t>
            </a:r>
          </a:p>
        </p:txBody>
      </p:sp>
      <p:sp>
        <p:nvSpPr>
          <p:cNvPr id="5" name="Rounded Rectangle 4"/>
          <p:cNvSpPr/>
          <p:nvPr/>
        </p:nvSpPr>
        <p:spPr>
          <a:xfrm>
            <a:off x="8961120" y="5989320"/>
            <a:ext cx="2606040" cy="384048"/>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25712" y="6099048"/>
            <a:ext cx="2286000" cy="164592"/>
          </a:xfrm>
          <a:prstGeom prst="rect">
            <a:avLst/>
          </a:prstGeom>
          <a:noFill/>
        </p:spPr>
        <p:txBody>
          <a:bodyPr wrap="square" lIns="0" rIns="0" tIns="0" bIns="0" anchor="t">
            <a:spAutoFit/>
          </a:bodyPr>
          <a:lstStyle/>
          <a:p>
            <a:pPr algn="ctr">
              <a:defRPr sz="1100" b="1" i="0">
                <a:solidFill>
                  <a:srgbClr val="FFFFFF"/>
                </a:solidFill>
                <a:latin typeface="Aptos Display"/>
              </a:defRPr>
            </a:pPr>
            <a:r>
              <a:t>The system adapts to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MARKET OPPORTUNITY</a:t>
            </a:r>
          </a:p>
        </p:txBody>
      </p:sp>
      <p:sp>
        <p:nvSpPr>
          <p:cNvPr id="3" name="TextBox 2"/>
          <p:cNvSpPr txBox="1"/>
          <p:nvPr/>
        </p:nvSpPr>
        <p:spPr>
          <a:xfrm>
            <a:off x="658368" y="1051560"/>
            <a:ext cx="5669280" cy="1097280"/>
          </a:xfrm>
          <a:prstGeom prst="rect">
            <a:avLst/>
          </a:prstGeom>
          <a:noFill/>
        </p:spPr>
        <p:txBody>
          <a:bodyPr wrap="square" lIns="0" rIns="0" tIns="0" bIns="0" anchor="t">
            <a:spAutoFit/>
          </a:bodyPr>
          <a:lstStyle/>
          <a:p>
            <a:pPr algn="l">
              <a:defRPr sz="3500" b="1" i="0">
                <a:solidFill>
                  <a:srgbClr val="FFFFFF"/>
                </a:solidFill>
                <a:latin typeface="Aptos Display"/>
              </a:defRPr>
            </a:pPr>
            <a:r>
              <a:t>One capacity problem.</a:t>
            </a:r>
            <a:br/>
            <a:r>
              <a:t>Three routes to scale.</a:t>
            </a:r>
          </a:p>
        </p:txBody>
      </p:sp>
      <p:sp>
        <p:nvSpPr>
          <p:cNvPr id="4" name="TextBox 3"/>
          <p:cNvSpPr txBox="1"/>
          <p:nvPr/>
        </p:nvSpPr>
        <p:spPr>
          <a:xfrm>
            <a:off x="685800" y="2423160"/>
            <a:ext cx="5074920" cy="777240"/>
          </a:xfrm>
          <a:prstGeom prst="rect">
            <a:avLst/>
          </a:prstGeom>
          <a:noFill/>
        </p:spPr>
        <p:txBody>
          <a:bodyPr wrap="square" lIns="0" rIns="0" tIns="0" bIns="0" anchor="t">
            <a:spAutoFit/>
          </a:bodyPr>
          <a:lstStyle/>
          <a:p>
            <a:pPr algn="l">
              <a:defRPr sz="1800" b="0" i="0">
                <a:solidFill>
                  <a:srgbClr val="D9CCE9"/>
                </a:solidFill>
                <a:latin typeface="Aptos"/>
              </a:defRPr>
            </a:pPr>
            <a:r>
              <a:t>A scalable platform for people with high mental load and complex everyday demands.</a:t>
            </a:r>
          </a:p>
        </p:txBody>
      </p:sp>
      <p:sp>
        <p:nvSpPr>
          <p:cNvPr id="5" name="Rounded Rectangle 4"/>
          <p:cNvSpPr/>
          <p:nvPr/>
        </p:nvSpPr>
        <p:spPr>
          <a:xfrm>
            <a:off x="6446520" y="914400"/>
            <a:ext cx="1325880" cy="42976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1170432"/>
            <a:ext cx="996695" cy="274320"/>
          </a:xfrm>
          <a:prstGeom prst="rect">
            <a:avLst/>
          </a:prstGeom>
          <a:noFill/>
        </p:spPr>
        <p:txBody>
          <a:bodyPr wrap="square" lIns="0" rIns="0" tIns="0" bIns="0" anchor="t">
            <a:spAutoFit/>
          </a:bodyPr>
          <a:lstStyle/>
          <a:p>
            <a:pPr algn="l">
              <a:defRPr sz="1600" b="1" i="0">
                <a:solidFill>
                  <a:srgbClr val="2F2345"/>
                </a:solidFill>
                <a:latin typeface="Aptos Display"/>
              </a:defRPr>
            </a:pPr>
            <a:r>
              <a:t>B2C</a:t>
            </a:r>
          </a:p>
        </p:txBody>
      </p:sp>
      <p:sp>
        <p:nvSpPr>
          <p:cNvPr id="7" name="TextBox 6"/>
          <p:cNvSpPr txBox="1"/>
          <p:nvPr/>
        </p:nvSpPr>
        <p:spPr>
          <a:xfrm>
            <a:off x="6611112" y="1682496"/>
            <a:ext cx="996695" cy="457200"/>
          </a:xfrm>
          <a:prstGeom prst="rect">
            <a:avLst/>
          </a:prstGeom>
          <a:noFill/>
        </p:spPr>
        <p:txBody>
          <a:bodyPr wrap="square" lIns="0" rIns="0" tIns="0" bIns="0" anchor="t">
            <a:spAutoFit/>
          </a:bodyPr>
          <a:lstStyle/>
          <a:p>
            <a:pPr algn="l">
              <a:defRPr sz="1300" b="1" i="0">
                <a:solidFill>
                  <a:srgbClr val="2F2345"/>
                </a:solidFill>
                <a:latin typeface="Aptos Display"/>
              </a:defRPr>
            </a:pPr>
            <a:r>
              <a:t>People</a:t>
            </a:r>
          </a:p>
        </p:txBody>
      </p:sp>
      <p:sp>
        <p:nvSpPr>
          <p:cNvPr id="8" name="TextBox 7"/>
          <p:cNvSpPr txBox="1"/>
          <p:nvPr/>
        </p:nvSpPr>
        <p:spPr>
          <a:xfrm>
            <a:off x="6611112" y="4526280"/>
            <a:ext cx="996695" cy="292608"/>
          </a:xfrm>
          <a:prstGeom prst="rect">
            <a:avLst/>
          </a:prstGeom>
          <a:noFill/>
        </p:spPr>
        <p:txBody>
          <a:bodyPr wrap="square" lIns="0" rIns="0" tIns="0" bIns="0" anchor="t">
            <a:spAutoFit/>
          </a:bodyPr>
          <a:lstStyle/>
          <a:p>
            <a:pPr algn="l">
              <a:defRPr sz="1100" b="1" i="0">
                <a:solidFill>
                  <a:srgbClr val="6E6382"/>
                </a:solidFill>
                <a:latin typeface="Aptos Display"/>
              </a:defRPr>
            </a:pPr>
            <a:r>
              <a:t>Start here</a:t>
            </a:r>
          </a:p>
        </p:txBody>
      </p:sp>
      <p:sp>
        <p:nvSpPr>
          <p:cNvPr id="9" name="Rounded Rectangle 8"/>
          <p:cNvSpPr/>
          <p:nvPr/>
        </p:nvSpPr>
        <p:spPr>
          <a:xfrm>
            <a:off x="8046720" y="1481328"/>
            <a:ext cx="1709928" cy="3730752"/>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737360"/>
            <a:ext cx="1380743" cy="274320"/>
          </a:xfrm>
          <a:prstGeom prst="rect">
            <a:avLst/>
          </a:prstGeom>
          <a:noFill/>
        </p:spPr>
        <p:txBody>
          <a:bodyPr wrap="square" lIns="0" rIns="0" tIns="0" bIns="0" anchor="t">
            <a:spAutoFit/>
          </a:bodyPr>
          <a:lstStyle/>
          <a:p>
            <a:pPr algn="l">
              <a:defRPr sz="1600" b="1" i="0">
                <a:solidFill>
                  <a:srgbClr val="2F2345"/>
                </a:solidFill>
                <a:latin typeface="Aptos Display"/>
              </a:defRPr>
            </a:pPr>
            <a:r>
              <a:t>B2B</a:t>
            </a:r>
          </a:p>
        </p:txBody>
      </p:sp>
      <p:sp>
        <p:nvSpPr>
          <p:cNvPr id="11" name="TextBox 10"/>
          <p:cNvSpPr txBox="1"/>
          <p:nvPr/>
        </p:nvSpPr>
        <p:spPr>
          <a:xfrm>
            <a:off x="8211312" y="2249424"/>
            <a:ext cx="1380743" cy="457200"/>
          </a:xfrm>
          <a:prstGeom prst="rect">
            <a:avLst/>
          </a:prstGeom>
          <a:noFill/>
        </p:spPr>
        <p:txBody>
          <a:bodyPr wrap="square" lIns="0" rIns="0" tIns="0" bIns="0" anchor="t">
            <a:spAutoFit/>
          </a:bodyPr>
          <a:lstStyle/>
          <a:p>
            <a:pPr algn="l">
              <a:defRPr sz="1300" b="1" i="0">
                <a:solidFill>
                  <a:srgbClr val="2F2345"/>
                </a:solidFill>
                <a:latin typeface="Aptos Display"/>
              </a:defRPr>
            </a:pPr>
            <a:r>
              <a:t>Employers</a:t>
            </a:r>
          </a:p>
        </p:txBody>
      </p:sp>
      <p:sp>
        <p:nvSpPr>
          <p:cNvPr id="12" name="TextBox 11"/>
          <p:cNvSpPr txBox="1"/>
          <p:nvPr/>
        </p:nvSpPr>
        <p:spPr>
          <a:xfrm>
            <a:off x="8211312" y="4526280"/>
            <a:ext cx="1380743" cy="292608"/>
          </a:xfrm>
          <a:prstGeom prst="rect">
            <a:avLst/>
          </a:prstGeom>
          <a:noFill/>
        </p:spPr>
        <p:txBody>
          <a:bodyPr wrap="square" lIns="0" rIns="0" tIns="0" bIns="0" anchor="t">
            <a:spAutoFit/>
          </a:bodyPr>
          <a:lstStyle/>
          <a:p>
            <a:pPr algn="l">
              <a:defRPr sz="1100" b="1" i="0">
                <a:solidFill>
                  <a:srgbClr val="6E6382"/>
                </a:solidFill>
                <a:latin typeface="Aptos Display"/>
              </a:defRPr>
            </a:pPr>
            <a:r>
              <a:t>Expand next</a:t>
            </a:r>
          </a:p>
        </p:txBody>
      </p:sp>
      <p:sp>
        <p:nvSpPr>
          <p:cNvPr id="13" name="Rounded Rectangle 12"/>
          <p:cNvSpPr/>
          <p:nvPr/>
        </p:nvSpPr>
        <p:spPr>
          <a:xfrm>
            <a:off x="9646920" y="2048256"/>
            <a:ext cx="2093976" cy="3163824"/>
          </a:xfrm>
          <a:prstGeom prst="round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11512" y="2304288"/>
            <a:ext cx="1764792" cy="274320"/>
          </a:xfrm>
          <a:prstGeom prst="rect">
            <a:avLst/>
          </a:prstGeom>
          <a:noFill/>
        </p:spPr>
        <p:txBody>
          <a:bodyPr wrap="square" lIns="0" rIns="0" tIns="0" bIns="0" anchor="t">
            <a:spAutoFit/>
          </a:bodyPr>
          <a:lstStyle/>
          <a:p>
            <a:pPr algn="l">
              <a:defRPr sz="1600" b="1" i="0">
                <a:solidFill>
                  <a:srgbClr val="2F2345"/>
                </a:solidFill>
                <a:latin typeface="Aptos Display"/>
              </a:defRPr>
            </a:pPr>
            <a:r>
              <a:t>B2G</a:t>
            </a:r>
          </a:p>
        </p:txBody>
      </p:sp>
      <p:sp>
        <p:nvSpPr>
          <p:cNvPr id="15" name="TextBox 14"/>
          <p:cNvSpPr txBox="1"/>
          <p:nvPr/>
        </p:nvSpPr>
        <p:spPr>
          <a:xfrm>
            <a:off x="9811512" y="2816352"/>
            <a:ext cx="1764792" cy="457200"/>
          </a:xfrm>
          <a:prstGeom prst="rect">
            <a:avLst/>
          </a:prstGeom>
          <a:noFill/>
        </p:spPr>
        <p:txBody>
          <a:bodyPr wrap="square" lIns="0" rIns="0" tIns="0" bIns="0" anchor="t">
            <a:spAutoFit/>
          </a:bodyPr>
          <a:lstStyle/>
          <a:p>
            <a:pPr algn="l">
              <a:defRPr sz="1300" b="1" i="0">
                <a:solidFill>
                  <a:srgbClr val="2F2345"/>
                </a:solidFill>
                <a:latin typeface="Aptos Display"/>
              </a:defRPr>
            </a:pPr>
            <a:r>
              <a:t>Public sector</a:t>
            </a:r>
          </a:p>
        </p:txBody>
      </p:sp>
      <p:sp>
        <p:nvSpPr>
          <p:cNvPr id="16" name="TextBox 15"/>
          <p:cNvSpPr txBox="1"/>
          <p:nvPr/>
        </p:nvSpPr>
        <p:spPr>
          <a:xfrm>
            <a:off x="9811512" y="4526280"/>
            <a:ext cx="1764792" cy="292608"/>
          </a:xfrm>
          <a:prstGeom prst="rect">
            <a:avLst/>
          </a:prstGeom>
          <a:noFill/>
        </p:spPr>
        <p:txBody>
          <a:bodyPr wrap="square" lIns="0" rIns="0" tIns="0" bIns="0" anchor="t">
            <a:spAutoFit/>
          </a:bodyPr>
          <a:lstStyle/>
          <a:p>
            <a:pPr algn="l">
              <a:defRPr sz="1100" b="1" i="0">
                <a:solidFill>
                  <a:srgbClr val="6E6382"/>
                </a:solidFill>
                <a:latin typeface="Aptos Display"/>
              </a:defRPr>
            </a:pPr>
            <a:r>
              <a:t>Scale later</a:t>
            </a:r>
          </a:p>
        </p:txBody>
      </p:sp>
      <p:sp>
        <p:nvSpPr>
          <p:cNvPr id="17" name="TextBox 16"/>
          <p:cNvSpPr txBox="1"/>
          <p:nvPr/>
        </p:nvSpPr>
        <p:spPr>
          <a:xfrm>
            <a:off x="658368" y="5650992"/>
            <a:ext cx="10835640" cy="521207"/>
          </a:xfrm>
          <a:prstGeom prst="rect">
            <a:avLst/>
          </a:prstGeom>
          <a:noFill/>
        </p:spPr>
        <p:txBody>
          <a:bodyPr wrap="square" lIns="0" rIns="0" tIns="0" bIns="0" anchor="t">
            <a:spAutoFit/>
          </a:bodyPr>
          <a:lstStyle/>
          <a:p>
            <a:pPr algn="l">
              <a:defRPr sz="1000" b="0" i="0">
                <a:solidFill>
                  <a:srgbClr val="CFC2DF"/>
                </a:solidFill>
                <a:latin typeface="Aptos"/>
              </a:defRPr>
            </a:pPr>
            <a:r>
              <a:t>External reference points: adult ADHD prevalence ≈2.58% globally (PubMed, 2021), ≈3% in Sweden (Socialstyrelsen); ADHD app market $1.9B in 2025 → $6.7B by 2033 (Grand View Research). Not MyFlove user or revenue figures.</a:t>
            </a:r>
          </a:p>
        </p:txBody>
      </p:sp>
      <p:sp>
        <p:nvSpPr>
          <p:cNvPr id="18" name="TextBox 1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9" name="TextBox 1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TRACTION &amp; VALIDATION</a:t>
            </a:r>
          </a:p>
        </p:txBody>
      </p:sp>
      <p:sp>
        <p:nvSpPr>
          <p:cNvPr id="3" name="TextBox 2"/>
          <p:cNvSpPr txBox="1"/>
          <p:nvPr/>
        </p:nvSpPr>
        <p:spPr>
          <a:xfrm>
            <a:off x="640080" y="914400"/>
            <a:ext cx="5029200" cy="548640"/>
          </a:xfrm>
          <a:prstGeom prst="rect">
            <a:avLst/>
          </a:prstGeom>
          <a:noFill/>
        </p:spPr>
        <p:txBody>
          <a:bodyPr wrap="square" lIns="0" rIns="0" tIns="0" bIns="0" anchor="t">
            <a:spAutoFit/>
          </a:bodyPr>
          <a:lstStyle/>
          <a:p>
            <a:pPr algn="l">
              <a:defRPr sz="3100" b="1" i="0">
                <a:solidFill>
                  <a:srgbClr val="2F2345"/>
                </a:solidFill>
                <a:latin typeface="Aptos Display"/>
              </a:defRPr>
            </a:pPr>
            <a:r>
              <a:t>From product to proof.</a:t>
            </a:r>
          </a:p>
        </p:txBody>
      </p:sp>
      <p:sp>
        <p:nvSpPr>
          <p:cNvPr id="4" name="TextBox 3"/>
          <p:cNvSpPr txBox="1"/>
          <p:nvPr/>
        </p:nvSpPr>
        <p:spPr>
          <a:xfrm>
            <a:off x="658368" y="1691640"/>
            <a:ext cx="2743200" cy="1097280"/>
          </a:xfrm>
          <a:prstGeom prst="rect">
            <a:avLst/>
          </a:prstGeom>
          <a:noFill/>
        </p:spPr>
        <p:txBody>
          <a:bodyPr wrap="square" lIns="0" rIns="0" tIns="0" bIns="0" anchor="t">
            <a:spAutoFit/>
          </a:bodyPr>
          <a:lstStyle/>
          <a:p>
            <a:pPr algn="l">
              <a:defRPr sz="6800" b="1" i="0">
                <a:solidFill>
                  <a:srgbClr val="7653C6"/>
                </a:solidFill>
                <a:latin typeface="Aptos Display"/>
              </a:defRPr>
            </a:pPr>
            <a:r>
              <a:t>48</a:t>
            </a:r>
          </a:p>
        </p:txBody>
      </p:sp>
      <p:sp>
        <p:nvSpPr>
          <p:cNvPr id="5" name="TextBox 4"/>
          <p:cNvSpPr txBox="1"/>
          <p:nvPr/>
        </p:nvSpPr>
        <p:spPr>
          <a:xfrm>
            <a:off x="731520" y="2743200"/>
            <a:ext cx="4114800" cy="411480"/>
          </a:xfrm>
          <a:prstGeom prst="rect">
            <a:avLst/>
          </a:prstGeom>
          <a:noFill/>
        </p:spPr>
        <p:txBody>
          <a:bodyPr wrap="square" lIns="0" rIns="0" tIns="0" bIns="0" anchor="t">
            <a:spAutoFit/>
          </a:bodyPr>
          <a:lstStyle/>
          <a:p>
            <a:pPr algn="l">
              <a:defRPr sz="1900" b="1" i="0">
                <a:solidFill>
                  <a:srgbClr val="2F2345"/>
                </a:solidFill>
                <a:latin typeface="Aptos Display"/>
              </a:defRPr>
            </a:pPr>
            <a:r>
              <a:t>users on a functioning MVP</a:t>
            </a:r>
          </a:p>
        </p:txBody>
      </p:sp>
      <p:sp>
        <p:nvSpPr>
          <p:cNvPr id="6" name="Rounded Rectangle 5"/>
          <p:cNvSpPr/>
          <p:nvPr/>
        </p:nvSpPr>
        <p:spPr>
          <a:xfrm>
            <a:off x="658368" y="3383280"/>
            <a:ext cx="4434840" cy="1508760"/>
          </a:xfrm>
          <a:prstGeom prst="roundRect">
            <a:avLst/>
          </a:prstGeom>
          <a:solidFill>
            <a:srgbClr val="FFFFFF"/>
          </a:solidFill>
          <a:ln w="12700">
            <a:solidFill>
              <a:srgbClr val="E4D7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639312"/>
            <a:ext cx="2011680" cy="274320"/>
          </a:xfrm>
          <a:prstGeom prst="rect">
            <a:avLst/>
          </a:prstGeom>
          <a:noFill/>
        </p:spPr>
        <p:txBody>
          <a:bodyPr wrap="square" lIns="0" rIns="0" tIns="0" bIns="0" anchor="t">
            <a:spAutoFit/>
          </a:bodyPr>
          <a:lstStyle/>
          <a:p>
            <a:pPr algn="l">
              <a:defRPr sz="1200" b="1" i="0">
                <a:solidFill>
                  <a:srgbClr val="A63D70"/>
                </a:solidFill>
                <a:latin typeface="Aptos Display"/>
              </a:defRPr>
            </a:pPr>
            <a:r>
              <a:t>MEASURING NOW</a:t>
            </a:r>
          </a:p>
        </p:txBody>
      </p:sp>
      <p:sp>
        <p:nvSpPr>
          <p:cNvPr id="8" name="TextBox 7"/>
          <p:cNvSpPr txBox="1"/>
          <p:nvPr/>
        </p:nvSpPr>
        <p:spPr>
          <a:xfrm>
            <a:off x="914400" y="4041648"/>
            <a:ext cx="3886200" cy="658368"/>
          </a:xfrm>
          <a:prstGeom prst="rect">
            <a:avLst/>
          </a:prstGeom>
          <a:noFill/>
        </p:spPr>
        <p:txBody>
          <a:bodyPr wrap="square" lIns="0" rIns="0" tIns="0" bIns="0" anchor="t">
            <a:spAutoFit/>
          </a:bodyPr>
          <a:lstStyle/>
          <a:p>
            <a:pPr algn="l">
              <a:defRPr sz="1400" b="0" i="0">
                <a:solidFill>
                  <a:srgbClr val="6E6382"/>
                </a:solidFill>
                <a:latin typeface="Aptos"/>
              </a:defRPr>
            </a:pPr>
            <a:r>
              <a:t>Recurring use · mental load · sense of control · prioritisation · ability to get started · willingness to pay</a:t>
            </a:r>
          </a:p>
        </p:txBody>
      </p:sp>
      <p:sp>
        <p:nvSpPr>
          <p:cNvPr id="9" name="Rounded Rectangle 8"/>
          <p:cNvSpPr/>
          <p:nvPr/>
        </p:nvSpPr>
        <p:spPr>
          <a:xfrm>
            <a:off x="5504688" y="521208"/>
            <a:ext cx="6044184" cy="45811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jpg"/>
          <p:cNvPicPr>
            <a:picLocks noChangeAspect="1"/>
          </p:cNvPicPr>
          <p:nvPr/>
        </p:nvPicPr>
        <p:blipFill>
          <a:blip r:embed="rId3"/>
          <a:srcRect l="12597" r="12597"/>
          <a:stretch>
            <a:fillRect/>
          </a:stretch>
        </p:blipFill>
        <p:spPr>
          <a:xfrm>
            <a:off x="5577840" y="594360"/>
            <a:ext cx="5897880" cy="4434840"/>
          </a:xfrm>
          <a:prstGeom prst="rect">
            <a:avLst/>
          </a:prstGeom>
        </p:spPr>
      </p:pic>
      <p:sp>
        <p:nvSpPr>
          <p:cNvPr id="11" name="Rounded Rectangle 10"/>
          <p:cNvSpPr/>
          <p:nvPr/>
        </p:nvSpPr>
        <p:spPr>
          <a:xfrm>
            <a:off x="5577840" y="5303520"/>
            <a:ext cx="5897880" cy="676656"/>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70448" y="5486400"/>
            <a:ext cx="5349240" cy="310896"/>
          </a:xfrm>
          <a:prstGeom prst="rect">
            <a:avLst/>
          </a:prstGeom>
          <a:noFill/>
        </p:spPr>
        <p:txBody>
          <a:bodyPr wrap="square" lIns="0" rIns="0" tIns="0" bIns="0" anchor="t">
            <a:spAutoFit/>
          </a:bodyPr>
          <a:lstStyle/>
          <a:p>
            <a:pPr algn="ctr">
              <a:defRPr sz="1300" b="1" i="0">
                <a:solidFill>
                  <a:srgbClr val="2F2345"/>
                </a:solidFill>
                <a:latin typeface="Aptos Display"/>
              </a:defRPr>
            </a:pPr>
            <a:r>
              <a:t>No paying customers or clinical outcomes claimed — those are what we are now measuring.</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BUSINESS MODEL &amp; GO-TO-MARKET</a:t>
            </a:r>
          </a:p>
        </p:txBody>
      </p:sp>
      <p:sp>
        <p:nvSpPr>
          <p:cNvPr id="3" name="TextBox 2"/>
          <p:cNvSpPr txBox="1"/>
          <p:nvPr/>
        </p:nvSpPr>
        <p:spPr>
          <a:xfrm>
            <a:off x="640080" y="914400"/>
            <a:ext cx="7589520" cy="566928"/>
          </a:xfrm>
          <a:prstGeom prst="rect">
            <a:avLst/>
          </a:prstGeom>
          <a:noFill/>
        </p:spPr>
        <p:txBody>
          <a:bodyPr wrap="square" lIns="0" rIns="0" tIns="0" bIns="0" anchor="t">
            <a:spAutoFit/>
          </a:bodyPr>
          <a:lstStyle/>
          <a:p>
            <a:pPr algn="l">
              <a:defRPr sz="3100" b="1" i="0">
                <a:solidFill>
                  <a:srgbClr val="2F2345"/>
                </a:solidFill>
                <a:latin typeface="Aptos Display"/>
              </a:defRPr>
            </a:pPr>
            <a:r>
              <a:t>Prove value first. Scale second.</a:t>
            </a:r>
          </a:p>
        </p:txBody>
      </p:sp>
      <p:sp>
        <p:nvSpPr>
          <p:cNvPr id="4" name="Rectangle 3"/>
          <p:cNvSpPr/>
          <p:nvPr/>
        </p:nvSpPr>
        <p:spPr>
          <a:xfrm>
            <a:off x="306324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01</a:t>
            </a:r>
          </a:p>
        </p:txBody>
      </p:sp>
      <p:sp>
        <p:nvSpPr>
          <p:cNvPr id="7" name="TextBox 6"/>
          <p:cNvSpPr txBox="1"/>
          <p:nvPr/>
        </p:nvSpPr>
        <p:spPr>
          <a:xfrm>
            <a:off x="96012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PILOT</a:t>
            </a:r>
          </a:p>
        </p:txBody>
      </p:sp>
      <p:sp>
        <p:nvSpPr>
          <p:cNvPr id="8" name="TextBox 7"/>
          <p:cNvSpPr txBox="1"/>
          <p:nvPr/>
        </p:nvSpPr>
        <p:spPr>
          <a:xfrm>
            <a:off x="96012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Structured evidence</a:t>
            </a:r>
          </a:p>
        </p:txBody>
      </p:sp>
      <p:sp>
        <p:nvSpPr>
          <p:cNvPr id="9" name="Rectangle 8"/>
          <p:cNvSpPr/>
          <p:nvPr/>
        </p:nvSpPr>
        <p:spPr>
          <a:xfrm>
            <a:off x="589788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02</a:t>
            </a:r>
          </a:p>
        </p:txBody>
      </p:sp>
      <p:sp>
        <p:nvSpPr>
          <p:cNvPr id="12" name="TextBox 11"/>
          <p:cNvSpPr txBox="1"/>
          <p:nvPr/>
        </p:nvSpPr>
        <p:spPr>
          <a:xfrm>
            <a:off x="379476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VALIDATE</a:t>
            </a:r>
          </a:p>
        </p:txBody>
      </p:sp>
      <p:sp>
        <p:nvSpPr>
          <p:cNvPr id="13" name="TextBox 12"/>
          <p:cNvSpPr txBox="1"/>
          <p:nvPr/>
        </p:nvSpPr>
        <p:spPr>
          <a:xfrm>
            <a:off x="379476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Use · value · price</a:t>
            </a:r>
          </a:p>
        </p:txBody>
      </p:sp>
      <p:sp>
        <p:nvSpPr>
          <p:cNvPr id="14" name="Rectangle 13"/>
          <p:cNvSpPr/>
          <p:nvPr/>
        </p:nvSpPr>
        <p:spPr>
          <a:xfrm>
            <a:off x="873252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4652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03</a:t>
            </a:r>
          </a:p>
        </p:txBody>
      </p:sp>
      <p:sp>
        <p:nvSpPr>
          <p:cNvPr id="17" name="TextBox 16"/>
          <p:cNvSpPr txBox="1"/>
          <p:nvPr/>
        </p:nvSpPr>
        <p:spPr>
          <a:xfrm>
            <a:off x="662940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B2C</a:t>
            </a:r>
          </a:p>
        </p:txBody>
      </p:sp>
      <p:sp>
        <p:nvSpPr>
          <p:cNvPr id="18" name="TextBox 17"/>
          <p:cNvSpPr txBox="1"/>
          <p:nvPr/>
        </p:nvSpPr>
        <p:spPr>
          <a:xfrm>
            <a:off x="662940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Free → Premium</a:t>
            </a:r>
          </a:p>
        </p:txBody>
      </p:sp>
      <p:sp>
        <p:nvSpPr>
          <p:cNvPr id="19" name="Rounded Rectangle 18"/>
          <p:cNvSpPr/>
          <p:nvPr/>
        </p:nvSpPr>
        <p:spPr>
          <a:xfrm>
            <a:off x="928116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04</a:t>
            </a:r>
          </a:p>
        </p:txBody>
      </p:sp>
      <p:sp>
        <p:nvSpPr>
          <p:cNvPr id="21" name="TextBox 20"/>
          <p:cNvSpPr txBox="1"/>
          <p:nvPr/>
        </p:nvSpPr>
        <p:spPr>
          <a:xfrm>
            <a:off x="946404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B2B / B2G</a:t>
            </a:r>
          </a:p>
        </p:txBody>
      </p:sp>
      <p:sp>
        <p:nvSpPr>
          <p:cNvPr id="22" name="TextBox 21"/>
          <p:cNvSpPr txBox="1"/>
          <p:nvPr/>
        </p:nvSpPr>
        <p:spPr>
          <a:xfrm>
            <a:off x="946404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Scale channels</a:t>
            </a:r>
          </a:p>
        </p:txBody>
      </p:sp>
      <p:sp>
        <p:nvSpPr>
          <p:cNvPr id="23" name="Rounded Rectangle 22"/>
          <p:cNvSpPr/>
          <p:nvPr/>
        </p:nvSpPr>
        <p:spPr>
          <a:xfrm>
            <a:off x="777240" y="4251960"/>
            <a:ext cx="10652760" cy="1078992"/>
          </a:xfrm>
          <a:prstGeom prst="roundRect">
            <a:avLst/>
          </a:prstGeom>
          <a:solidFill>
            <a:srgbClr val="F3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26280"/>
            <a:ext cx="1737360" cy="256032"/>
          </a:xfrm>
          <a:prstGeom prst="rect">
            <a:avLst/>
          </a:prstGeom>
          <a:noFill/>
        </p:spPr>
        <p:txBody>
          <a:bodyPr wrap="square" lIns="0" rIns="0" tIns="0" bIns="0" anchor="t">
            <a:spAutoFit/>
          </a:bodyPr>
          <a:lstStyle/>
          <a:p>
            <a:pPr algn="l">
              <a:defRPr sz="1300" b="1" i="0">
                <a:solidFill>
                  <a:srgbClr val="7653C6"/>
                </a:solidFill>
                <a:latin typeface="Aptos Display"/>
              </a:defRPr>
            </a:pPr>
            <a:r>
              <a:t>Revenue model</a:t>
            </a:r>
          </a:p>
        </p:txBody>
      </p:sp>
      <p:sp>
        <p:nvSpPr>
          <p:cNvPr id="25" name="TextBox 24"/>
          <p:cNvSpPr txBox="1"/>
          <p:nvPr/>
        </p:nvSpPr>
        <p:spPr>
          <a:xfrm>
            <a:off x="2788920" y="4462272"/>
            <a:ext cx="8183879" cy="438912"/>
          </a:xfrm>
          <a:prstGeom prst="rect">
            <a:avLst/>
          </a:prstGeom>
          <a:noFill/>
        </p:spPr>
        <p:txBody>
          <a:bodyPr wrap="square" lIns="0" rIns="0" tIns="0" bIns="0" anchor="t">
            <a:spAutoFit/>
          </a:bodyPr>
          <a:lstStyle/>
          <a:p>
            <a:pPr algn="l">
              <a:defRPr sz="1800" b="1" i="0">
                <a:solidFill>
                  <a:srgbClr val="2F2345"/>
                </a:solidFill>
                <a:latin typeface="Aptos Display"/>
              </a:defRPr>
            </a:pPr>
            <a:r>
              <a:t>B2C subscription first · organizational offers next · pricing validated before it is set.</a:t>
            </a:r>
          </a:p>
        </p:txBody>
      </p:sp>
      <p:sp>
        <p:nvSpPr>
          <p:cNvPr id="26" name="TextBox 2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7" name="TextBox 2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TEAM</a:t>
            </a:r>
          </a:p>
        </p:txBody>
      </p:sp>
      <p:sp>
        <p:nvSpPr>
          <p:cNvPr id="3" name="TextBox 2"/>
          <p:cNvSpPr txBox="1"/>
          <p:nvPr/>
        </p:nvSpPr>
        <p:spPr>
          <a:xfrm>
            <a:off x="658368" y="960120"/>
            <a:ext cx="6675120" cy="1234440"/>
          </a:xfrm>
          <a:prstGeom prst="rect">
            <a:avLst/>
          </a:prstGeom>
          <a:noFill/>
        </p:spPr>
        <p:txBody>
          <a:bodyPr wrap="square" lIns="0" rIns="0" tIns="0" bIns="0" anchor="t">
            <a:spAutoFit/>
          </a:bodyPr>
          <a:lstStyle/>
          <a:p>
            <a:pPr algn="l">
              <a:defRPr sz="3400" b="1" i="0">
                <a:solidFill>
                  <a:srgbClr val="FFFFFF"/>
                </a:solidFill>
                <a:latin typeface="Aptos Display"/>
              </a:defRPr>
            </a:pPr>
            <a:r>
              <a:t>Built from lived experience</a:t>
            </a:r>
            <a:br/>
            <a:r>
              <a:t>+ professional expertise.</a:t>
            </a:r>
          </a:p>
        </p:txBody>
      </p:sp>
      <p:sp>
        <p:nvSpPr>
          <p:cNvPr id="4" name="Rounded Rectangle 3"/>
          <p:cNvSpPr/>
          <p:nvPr/>
        </p:nvSpPr>
        <p:spPr>
          <a:xfrm>
            <a:off x="7818120" y="713232"/>
            <a:ext cx="3520440" cy="45262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23960" y="1207008"/>
            <a:ext cx="1508760" cy="1234440"/>
          </a:xfrm>
          <a:prstGeom prst="rect">
            <a:avLst/>
          </a:prstGeom>
          <a:noFill/>
        </p:spPr>
        <p:txBody>
          <a:bodyPr wrap="square" lIns="0" rIns="0" tIns="0" bIns="0" anchor="ctr">
            <a:spAutoFit/>
          </a:bodyPr>
          <a:lstStyle/>
          <a:p>
            <a:pPr algn="ctr">
              <a:defRPr sz="6200" b="1" i="0">
                <a:solidFill>
                  <a:srgbClr val="2F2345"/>
                </a:solidFill>
                <a:latin typeface="Aptos Display"/>
              </a:defRPr>
            </a:pPr>
            <a:r>
              <a:t>CB</a:t>
            </a:r>
          </a:p>
        </p:txBody>
      </p:sp>
      <p:sp>
        <p:nvSpPr>
          <p:cNvPr id="6" name="TextBox 5"/>
          <p:cNvSpPr txBox="1"/>
          <p:nvPr/>
        </p:nvSpPr>
        <p:spPr>
          <a:xfrm>
            <a:off x="8275320" y="2816352"/>
            <a:ext cx="2606040" cy="384048"/>
          </a:xfrm>
          <a:prstGeom prst="rect">
            <a:avLst/>
          </a:prstGeom>
          <a:noFill/>
        </p:spPr>
        <p:txBody>
          <a:bodyPr wrap="square" lIns="0" rIns="0" tIns="0" bIns="0" anchor="t">
            <a:spAutoFit/>
          </a:bodyPr>
          <a:lstStyle/>
          <a:p>
            <a:pPr algn="ctr">
              <a:defRPr sz="2400" b="1" i="0">
                <a:solidFill>
                  <a:srgbClr val="2F2345"/>
                </a:solidFill>
                <a:latin typeface="Aptos Display"/>
              </a:defRPr>
            </a:pPr>
            <a:r>
              <a:t>Camilla Baksi</a:t>
            </a:r>
          </a:p>
        </p:txBody>
      </p:sp>
      <p:sp>
        <p:nvSpPr>
          <p:cNvPr id="7" name="TextBox 6"/>
          <p:cNvSpPr txBox="1"/>
          <p:nvPr/>
        </p:nvSpPr>
        <p:spPr>
          <a:xfrm>
            <a:off x="8275320" y="3255264"/>
            <a:ext cx="2606040" cy="292608"/>
          </a:xfrm>
          <a:prstGeom prst="rect">
            <a:avLst/>
          </a:prstGeom>
          <a:noFill/>
        </p:spPr>
        <p:txBody>
          <a:bodyPr wrap="square" lIns="0" rIns="0" tIns="0" bIns="0" anchor="t">
            <a:spAutoFit/>
          </a:bodyPr>
          <a:lstStyle/>
          <a:p>
            <a:pPr algn="ctr">
              <a:defRPr sz="1500" b="1" i="0">
                <a:solidFill>
                  <a:srgbClr val="5A476E"/>
                </a:solidFill>
                <a:latin typeface="Aptos"/>
              </a:defRPr>
            </a:pPr>
            <a:r>
              <a:t>Founder, MyFlove</a:t>
            </a:r>
          </a:p>
        </p:txBody>
      </p:sp>
      <p:sp>
        <p:nvSpPr>
          <p:cNvPr id="8" name="TextBox 7"/>
          <p:cNvSpPr txBox="1"/>
          <p:nvPr/>
        </p:nvSpPr>
        <p:spPr>
          <a:xfrm>
            <a:off x="8229600" y="3977639"/>
            <a:ext cx="2697480" cy="384048"/>
          </a:xfrm>
          <a:prstGeom prst="rect">
            <a:avLst/>
          </a:prstGeom>
          <a:noFill/>
        </p:spPr>
        <p:txBody>
          <a:bodyPr wrap="square" lIns="0" rIns="0" tIns="0" bIns="0" anchor="t">
            <a:spAutoFit/>
          </a:bodyPr>
          <a:lstStyle/>
          <a:p>
            <a:pPr algn="ctr">
              <a:defRPr sz="1400" b="1" i="0">
                <a:solidFill>
                  <a:srgbClr val="2F2345"/>
                </a:solidFill>
                <a:latin typeface="Aptos"/>
              </a:defRPr>
            </a:pPr>
            <a:r>
              <a:t>Humanistic Social Pedagogue</a:t>
            </a:r>
          </a:p>
        </p:txBody>
      </p:sp>
      <p:sp>
        <p:nvSpPr>
          <p:cNvPr id="9" name="Rounded Rectangle 8"/>
          <p:cNvSpPr/>
          <p:nvPr/>
        </p:nvSpPr>
        <p:spPr>
          <a:xfrm>
            <a:off x="685800"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PROFESSIONAL</a:t>
            </a:r>
          </a:p>
        </p:txBody>
      </p:sp>
      <p:sp>
        <p:nvSpPr>
          <p:cNvPr id="11" name="TextBox 10"/>
          <p:cNvSpPr txBox="1"/>
          <p:nvPr/>
        </p:nvSpPr>
        <p:spPr>
          <a:xfrm>
            <a:off x="941832" y="3611880"/>
            <a:ext cx="2560320" cy="475488"/>
          </a:xfrm>
          <a:prstGeom prst="rect">
            <a:avLst/>
          </a:prstGeom>
          <a:noFill/>
        </p:spPr>
        <p:txBody>
          <a:bodyPr wrap="square" lIns="0" rIns="0" tIns="0" bIns="0" anchor="t">
            <a:spAutoFit/>
          </a:bodyPr>
          <a:lstStyle/>
          <a:p>
            <a:pPr algn="l">
              <a:defRPr sz="1500" b="1" i="0">
                <a:solidFill>
                  <a:srgbClr val="FFFFFF"/>
                </a:solidFill>
                <a:latin typeface="Aptos"/>
              </a:defRPr>
            </a:pPr>
            <a:r>
              <a:t>Youth coach · support worker · childcare worker</a:t>
            </a:r>
          </a:p>
        </p:txBody>
      </p:sp>
      <p:sp>
        <p:nvSpPr>
          <p:cNvPr id="12" name="Rounded Rectangle 11"/>
          <p:cNvSpPr/>
          <p:nvPr/>
        </p:nvSpPr>
        <p:spPr>
          <a:xfrm>
            <a:off x="4096512"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FOUNDER INSIGHT</a:t>
            </a:r>
          </a:p>
        </p:txBody>
      </p:sp>
      <p:sp>
        <p:nvSpPr>
          <p:cNvPr id="14" name="TextBox 13"/>
          <p:cNvSpPr txBox="1"/>
          <p:nvPr/>
        </p:nvSpPr>
        <p:spPr>
          <a:xfrm>
            <a:off x="4352544" y="3611880"/>
            <a:ext cx="2560320" cy="530352"/>
          </a:xfrm>
          <a:prstGeom prst="rect">
            <a:avLst/>
          </a:prstGeom>
          <a:noFill/>
        </p:spPr>
        <p:txBody>
          <a:bodyPr wrap="square" lIns="0" rIns="0" tIns="0" bIns="0" anchor="t">
            <a:spAutoFit/>
          </a:bodyPr>
          <a:lstStyle/>
          <a:p>
            <a:pPr algn="l">
              <a:defRPr sz="1500" b="1" i="0">
                <a:solidFill>
                  <a:srgbClr val="FFFFFF"/>
                </a:solidFill>
                <a:latin typeface="Aptos"/>
              </a:defRPr>
            </a:pPr>
            <a:r>
              <a:t>Professional knowledge + lived experience + product development</a:t>
            </a:r>
          </a:p>
        </p:txBody>
      </p:sp>
      <p:sp>
        <p:nvSpPr>
          <p:cNvPr id="15" name="TextBox 14"/>
          <p:cNvSpPr txBox="1"/>
          <p:nvPr/>
        </p:nvSpPr>
        <p:spPr>
          <a:xfrm>
            <a:off x="713232" y="4846320"/>
            <a:ext cx="6400800" cy="566928"/>
          </a:xfrm>
          <a:prstGeom prst="rect">
            <a:avLst/>
          </a:prstGeom>
          <a:noFill/>
        </p:spPr>
        <p:txBody>
          <a:bodyPr wrap="square" lIns="0" rIns="0" tIns="0" bIns="0" anchor="t">
            <a:spAutoFit/>
          </a:bodyPr>
          <a:lstStyle/>
          <a:p>
            <a:pPr algn="l">
              <a:defRPr sz="1400" b="0" i="0">
                <a:solidFill>
                  <a:srgbClr val="CFC2DF"/>
                </a:solidFill>
                <a:latin typeface="Aptos"/>
              </a:defRPr>
            </a:pPr>
            <a:r>
              <a:t>Further education in NPF, pedagogy, problematic school absence, trauma and difficult events.</a:t>
            </a:r>
          </a:p>
        </p:txBody>
      </p:sp>
      <p:sp>
        <p:nvSpPr>
          <p:cNvPr id="16" name="TextBox 1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7" name="TextBox 1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FUNDING</a:t>
            </a:r>
          </a:p>
        </p:txBody>
      </p:sp>
      <p:sp>
        <p:nvSpPr>
          <p:cNvPr id="3" name="TextBox 2"/>
          <p:cNvSpPr txBox="1"/>
          <p:nvPr/>
        </p:nvSpPr>
        <p:spPr>
          <a:xfrm>
            <a:off x="658368" y="960120"/>
            <a:ext cx="4206240" cy="1051560"/>
          </a:xfrm>
          <a:prstGeom prst="rect">
            <a:avLst/>
          </a:prstGeom>
          <a:noFill/>
        </p:spPr>
        <p:txBody>
          <a:bodyPr wrap="square" lIns="0" rIns="0" tIns="0" bIns="0" anchor="t">
            <a:spAutoFit/>
          </a:bodyPr>
          <a:lstStyle/>
          <a:p>
            <a:pPr algn="l">
              <a:defRPr sz="5800" b="1" i="0">
                <a:solidFill>
                  <a:srgbClr val="7653C6"/>
                </a:solidFill>
                <a:latin typeface="Aptos Display"/>
              </a:defRPr>
            </a:pPr>
            <a:r>
              <a:t>€250K</a:t>
            </a:r>
          </a:p>
        </p:txBody>
      </p:sp>
      <p:sp>
        <p:nvSpPr>
          <p:cNvPr id="4" name="TextBox 3"/>
          <p:cNvSpPr txBox="1"/>
          <p:nvPr/>
        </p:nvSpPr>
        <p:spPr>
          <a:xfrm>
            <a:off x="713232" y="1965960"/>
            <a:ext cx="3931920" cy="347472"/>
          </a:xfrm>
          <a:prstGeom prst="rect">
            <a:avLst/>
          </a:prstGeom>
          <a:noFill/>
        </p:spPr>
        <p:txBody>
          <a:bodyPr wrap="square" lIns="0" rIns="0" tIns="0" bIns="0" anchor="t">
            <a:spAutoFit/>
          </a:bodyPr>
          <a:lstStyle/>
          <a:p>
            <a:pPr algn="l">
              <a:defRPr sz="2000" b="1" i="0">
                <a:solidFill>
                  <a:srgbClr val="2F2345"/>
                </a:solidFill>
                <a:latin typeface="Aptos Display"/>
              </a:defRPr>
            </a:pPr>
            <a:r>
              <a:t>18-month runway</a:t>
            </a:r>
          </a:p>
        </p:txBody>
      </p:sp>
      <p:sp>
        <p:nvSpPr>
          <p:cNvPr id="5" name="Rounded Rectangle 4"/>
          <p:cNvSpPr/>
          <p:nvPr/>
        </p:nvSpPr>
        <p:spPr>
          <a:xfrm>
            <a:off x="658368" y="2743200"/>
            <a:ext cx="3429000" cy="1325880"/>
          </a:xfrm>
          <a:prstGeom prst="roundRect">
            <a:avLst/>
          </a:prstGeom>
          <a:solidFill>
            <a:srgbClr val="EDE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PRODUCT</a:t>
            </a:r>
          </a:p>
        </p:txBody>
      </p:sp>
      <p:sp>
        <p:nvSpPr>
          <p:cNvPr id="7" name="TextBox 6"/>
          <p:cNvSpPr txBox="1"/>
          <p:nvPr/>
        </p:nvSpPr>
        <p:spPr>
          <a:xfrm>
            <a:off x="88696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Mobile · stability · scale · security</a:t>
            </a:r>
          </a:p>
        </p:txBody>
      </p:sp>
      <p:sp>
        <p:nvSpPr>
          <p:cNvPr id="8" name="Rounded Rectangle 7"/>
          <p:cNvSpPr/>
          <p:nvPr/>
        </p:nvSpPr>
        <p:spPr>
          <a:xfrm>
            <a:off x="4407407" y="2743200"/>
            <a:ext cx="3429000" cy="1325880"/>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7"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VALIDATION</a:t>
            </a:r>
          </a:p>
        </p:txBody>
      </p:sp>
      <p:sp>
        <p:nvSpPr>
          <p:cNvPr id="10" name="TextBox 9"/>
          <p:cNvSpPr txBox="1"/>
          <p:nvPr/>
        </p:nvSpPr>
        <p:spPr>
          <a:xfrm>
            <a:off x="4636007"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Pilots · analytics · retention · proof</a:t>
            </a:r>
          </a:p>
        </p:txBody>
      </p:sp>
      <p:sp>
        <p:nvSpPr>
          <p:cNvPr id="11" name="Rounded Rectangle 10"/>
          <p:cNvSpPr/>
          <p:nvPr/>
        </p:nvSpPr>
        <p:spPr>
          <a:xfrm>
            <a:off x="8156448" y="2743200"/>
            <a:ext cx="3429000" cy="1325880"/>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COMMERCIAL</a:t>
            </a:r>
          </a:p>
        </p:txBody>
      </p:sp>
      <p:sp>
        <p:nvSpPr>
          <p:cNvPr id="13" name="TextBox 12"/>
          <p:cNvSpPr txBox="1"/>
          <p:nvPr/>
        </p:nvSpPr>
        <p:spPr>
          <a:xfrm>
            <a:off x="838504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Onboarding · launch · first channels</a:t>
            </a:r>
          </a:p>
        </p:txBody>
      </p:sp>
      <p:sp>
        <p:nvSpPr>
          <p:cNvPr id="14" name="Rounded Rectangle 13"/>
          <p:cNvSpPr/>
          <p:nvPr/>
        </p:nvSpPr>
        <p:spPr>
          <a:xfrm>
            <a:off x="658368" y="4526280"/>
            <a:ext cx="10927080" cy="1143000"/>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2286000" cy="256032"/>
          </a:xfrm>
          <a:prstGeom prst="rect">
            <a:avLst/>
          </a:prstGeom>
          <a:noFill/>
        </p:spPr>
        <p:txBody>
          <a:bodyPr wrap="square" lIns="0" rIns="0" tIns="0" bIns="0" anchor="t">
            <a:spAutoFit/>
          </a:bodyPr>
          <a:lstStyle/>
          <a:p>
            <a:pPr algn="l">
              <a:defRPr sz="1200" b="1" i="0">
                <a:solidFill>
                  <a:srgbClr val="A63D70"/>
                </a:solidFill>
                <a:latin typeface="Aptos Display"/>
              </a:defRPr>
            </a:pPr>
            <a:r>
              <a:t>END-OF-RUNWAY PROOF</a:t>
            </a:r>
          </a:p>
        </p:txBody>
      </p:sp>
      <p:sp>
        <p:nvSpPr>
          <p:cNvPr id="16" name="TextBox 15"/>
          <p:cNvSpPr txBox="1"/>
          <p:nvPr/>
        </p:nvSpPr>
        <p:spPr>
          <a:xfrm>
            <a:off x="2971800" y="4709160"/>
            <a:ext cx="8092440" cy="530352"/>
          </a:xfrm>
          <a:prstGeom prst="rect">
            <a:avLst/>
          </a:prstGeom>
          <a:noFill/>
        </p:spPr>
        <p:txBody>
          <a:bodyPr wrap="square" lIns="0" rIns="0" tIns="0" bIns="0" anchor="t">
            <a:spAutoFit/>
          </a:bodyPr>
          <a:lstStyle/>
          <a:p>
            <a:pPr algn="l">
              <a:defRPr sz="1600" b="1" i="0">
                <a:solidFill>
                  <a:srgbClr val="2F2345"/>
                </a:solidFill>
                <a:latin typeface="Aptos Display"/>
              </a:defRPr>
            </a:pPr>
            <a:r>
              <a:t>Measured outcomes · validated retention · pilot evidence · mobile ready · clearer commercial model · first scalable customer channel</a:t>
            </a:r>
          </a:p>
        </p:txBody>
      </p:sp>
      <p:sp>
        <p:nvSpPr>
          <p:cNvPr id="17" name="TextBox 16"/>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8" name="TextBox 17"/>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836408" y="493776"/>
            <a:ext cx="3547872" cy="53126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yflove-demo-minday-phone.jpg"/>
          <p:cNvPicPr>
            <a:picLocks noChangeAspect="1"/>
          </p:cNvPicPr>
          <p:nvPr/>
        </p:nvPicPr>
        <p:blipFill>
          <a:blip r:embed="rId4"/>
          <a:srcRect t="4588" b="4588"/>
          <a:stretch>
            <a:fillRect/>
          </a:stretch>
        </p:blipFill>
        <p:spPr>
          <a:xfrm>
            <a:off x="7909560" y="566928"/>
            <a:ext cx="3401568" cy="5166360"/>
          </a:xfrm>
          <a:prstGeom prst="rect">
            <a:avLst/>
          </a:prstGeom>
        </p:spPr>
      </p:pic>
      <p:sp>
        <p:nvSpPr>
          <p:cNvPr id="4" name="TextBox 3"/>
          <p:cNvSpPr txBox="1"/>
          <p:nvPr/>
        </p:nvSpPr>
        <p:spPr>
          <a:xfrm>
            <a:off x="658368" y="960120"/>
            <a:ext cx="6080760" cy="2148840"/>
          </a:xfrm>
          <a:prstGeom prst="rect">
            <a:avLst/>
          </a:prstGeom>
          <a:noFill/>
        </p:spPr>
        <p:txBody>
          <a:bodyPr wrap="square" lIns="0" rIns="0" tIns="0" bIns="0" anchor="t">
            <a:spAutoFit/>
          </a:bodyPr>
          <a:lstStyle/>
          <a:p>
            <a:pPr algn="l">
              <a:defRPr sz="3700" b="1" i="0">
                <a:solidFill>
                  <a:srgbClr val="FFFFFF"/>
                </a:solidFill>
                <a:latin typeface="Aptos Display"/>
              </a:defRPr>
            </a:pPr>
            <a:r>
              <a:t>Everyday life shouldn't</a:t>
            </a:r>
            <a:br/>
            <a:r>
              <a:t>require you to be</a:t>
            </a:r>
            <a:br/>
            <a:r>
              <a:t>someone else.</a:t>
            </a:r>
          </a:p>
        </p:txBody>
      </p:sp>
      <p:sp>
        <p:nvSpPr>
          <p:cNvPr id="5" name="TextBox 4"/>
          <p:cNvSpPr txBox="1"/>
          <p:nvPr/>
        </p:nvSpPr>
        <p:spPr>
          <a:xfrm>
            <a:off x="694944" y="3493008"/>
            <a:ext cx="5715000" cy="786384"/>
          </a:xfrm>
          <a:prstGeom prst="rect">
            <a:avLst/>
          </a:prstGeom>
          <a:noFill/>
        </p:spPr>
        <p:txBody>
          <a:bodyPr wrap="square" lIns="0" rIns="0" tIns="0" bIns="0" anchor="t">
            <a:spAutoFit/>
          </a:bodyPr>
          <a:lstStyle/>
          <a:p>
            <a:pPr algn="l">
              <a:defRPr sz="2000" b="0" i="0">
                <a:solidFill>
                  <a:srgbClr val="E1D5ED"/>
                </a:solidFill>
                <a:latin typeface="Aptos"/>
              </a:defRPr>
            </a:pPr>
            <a:r>
              <a:t>MyFlove adapts the system to the person — not the other way around.</a:t>
            </a:r>
          </a:p>
        </p:txBody>
      </p:sp>
      <p:sp>
        <p:nvSpPr>
          <p:cNvPr id="6" name="Rounded Rectangle 5"/>
          <p:cNvSpPr/>
          <p:nvPr/>
        </p:nvSpPr>
        <p:spPr>
          <a:xfrm>
            <a:off x="685800" y="4617720"/>
            <a:ext cx="5440680" cy="658368"/>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00600"/>
            <a:ext cx="4892040" cy="292608"/>
          </a:xfrm>
          <a:prstGeom prst="rect">
            <a:avLst/>
          </a:prstGeom>
          <a:noFill/>
        </p:spPr>
        <p:txBody>
          <a:bodyPr wrap="square" lIns="0" rIns="0" tIns="0" bIns="0" anchor="t">
            <a:spAutoFit/>
          </a:bodyPr>
          <a:lstStyle/>
          <a:p>
            <a:pPr algn="ctr">
              <a:defRPr sz="1600" b="1" i="0">
                <a:solidFill>
                  <a:srgbClr val="2F2345"/>
                </a:solidFill>
                <a:latin typeface="Aptos Display"/>
              </a:defRPr>
            </a:pPr>
            <a:r>
              <a:t>Plan for your capacity. Find your next possible step.</a:t>
            </a:r>
          </a:p>
        </p:txBody>
      </p:sp>
      <p:sp>
        <p:nvSpPr>
          <p:cNvPr id="8" name="TextBox 7"/>
          <p:cNvSpPr txBox="1"/>
          <p:nvPr/>
        </p:nvSpPr>
        <p:spPr>
          <a:xfrm>
            <a:off x="704088" y="5897880"/>
            <a:ext cx="3657600" cy="256032"/>
          </a:xfrm>
          <a:prstGeom prst="rect">
            <a:avLst/>
          </a:prstGeom>
          <a:noFill/>
        </p:spPr>
        <p:txBody>
          <a:bodyPr wrap="square" lIns="0" rIns="0" tIns="0" bIns="0" anchor="t">
            <a:spAutoFit/>
          </a:bodyPr>
          <a:lstStyle/>
          <a:p>
            <a:pPr algn="l">
              <a:defRPr sz="1300" b="0" i="0">
                <a:solidFill>
                  <a:srgbClr val="CFC2DF"/>
                </a:solidFill>
                <a:latin typeface="Aptos"/>
              </a:defRPr>
            </a:pPr>
            <a:r>
              <a:t>myflove.lovable.app</a:t>
            </a:r>
          </a:p>
        </p:txBody>
      </p:sp>
      <p:sp>
        <p:nvSpPr>
          <p:cNvPr id="9" name="TextBox 8"/>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0" name="TextBox 9"/>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LIVE PRODUCT DEMO · 27 SECONDS</a:t>
            </a:r>
          </a:p>
        </p:txBody>
      </p:sp>
      <p:sp>
        <p:nvSpPr>
          <p:cNvPr id="3" name="TextBox 2"/>
          <p:cNvSpPr txBox="1"/>
          <p:nvPr/>
        </p:nvSpPr>
        <p:spPr>
          <a:xfrm>
            <a:off x="621792" y="804672"/>
            <a:ext cx="8412480" cy="594360"/>
          </a:xfrm>
          <a:prstGeom prst="rect">
            <a:avLst/>
          </a:prstGeom>
          <a:noFill/>
        </p:spPr>
        <p:txBody>
          <a:bodyPr wrap="square" lIns="0" rIns="0" tIns="0" bIns="0" anchor="t">
            <a:spAutoFit/>
          </a:bodyPr>
          <a:lstStyle/>
          <a:p>
            <a:pPr algn="l">
              <a:defRPr sz="3100" b="1" i="0">
                <a:solidFill>
                  <a:srgbClr val="2F2345"/>
                </a:solidFill>
                <a:latin typeface="Aptos Display"/>
              </a:defRPr>
            </a:pPr>
            <a:r>
              <a:t>Watch the same day become doable.</a:t>
            </a:r>
          </a:p>
        </p:txBody>
      </p:sp>
      <p:sp>
        <p:nvSpPr>
          <p:cNvPr id="4" name="Rounded Rectangle 3"/>
          <p:cNvSpPr/>
          <p:nvPr/>
        </p:nvSpPr>
        <p:spPr>
          <a:xfrm>
            <a:off x="548640"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rcRect l="25025" r="25025"/>
          <a:stretch>
            <a:fillRect/>
          </a:stretch>
        </p:blipFill>
        <p:spPr>
          <a:xfrm>
            <a:off x="621792" y="1645920"/>
            <a:ext cx="2029968" cy="2286000"/>
          </a:xfrm>
          <a:prstGeom prst="rect">
            <a:avLst/>
          </a:prstGeom>
        </p:spPr>
      </p:pic>
      <p:sp>
        <p:nvSpPr>
          <p:cNvPr id="6" name="TextBox 5"/>
          <p:cNvSpPr txBox="1"/>
          <p:nvPr/>
        </p:nvSpPr>
        <p:spPr>
          <a:xfrm>
            <a:off x="621792"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1 · QUICKFLOW</a:t>
            </a:r>
          </a:p>
        </p:txBody>
      </p:sp>
      <p:sp>
        <p:nvSpPr>
          <p:cNvPr id="7" name="Rounded Rectangle 6"/>
          <p:cNvSpPr/>
          <p:nvPr/>
        </p:nvSpPr>
        <p:spPr>
          <a:xfrm>
            <a:off x="2852928"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3"/>
          <a:srcRect l="25025" r="25025"/>
          <a:stretch>
            <a:fillRect/>
          </a:stretch>
        </p:blipFill>
        <p:spPr>
          <a:xfrm>
            <a:off x="2926080" y="1645920"/>
            <a:ext cx="2029968" cy="2286000"/>
          </a:xfrm>
          <a:prstGeom prst="rect">
            <a:avLst/>
          </a:prstGeom>
        </p:spPr>
      </p:pic>
      <p:sp>
        <p:nvSpPr>
          <p:cNvPr id="9" name="TextBox 8"/>
          <p:cNvSpPr txBox="1"/>
          <p:nvPr/>
        </p:nvSpPr>
        <p:spPr>
          <a:xfrm>
            <a:off x="2926080"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2 · FLOW</a:t>
            </a:r>
          </a:p>
        </p:txBody>
      </p:sp>
      <p:sp>
        <p:nvSpPr>
          <p:cNvPr id="10" name="Rounded Rectangle 9"/>
          <p:cNvSpPr/>
          <p:nvPr/>
        </p:nvSpPr>
        <p:spPr>
          <a:xfrm>
            <a:off x="5157216"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jpg"/>
          <p:cNvPicPr>
            <a:picLocks noChangeAspect="1"/>
          </p:cNvPicPr>
          <p:nvPr/>
        </p:nvPicPr>
        <p:blipFill>
          <a:blip r:embed="rId5"/>
          <a:srcRect l="25025" r="25025"/>
          <a:stretch>
            <a:fillRect/>
          </a:stretch>
        </p:blipFill>
        <p:spPr>
          <a:xfrm>
            <a:off x="5230368" y="1645920"/>
            <a:ext cx="2029968" cy="2286000"/>
          </a:xfrm>
          <a:prstGeom prst="rect">
            <a:avLst/>
          </a:prstGeom>
        </p:spPr>
      </p:pic>
      <p:sp>
        <p:nvSpPr>
          <p:cNvPr id="12" name="TextBox 11"/>
          <p:cNvSpPr txBox="1"/>
          <p:nvPr/>
        </p:nvSpPr>
        <p:spPr>
          <a:xfrm>
            <a:off x="5230368"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HIGH ENERGY · 4H</a:t>
            </a:r>
          </a:p>
        </p:txBody>
      </p:sp>
      <p:sp>
        <p:nvSpPr>
          <p:cNvPr id="13" name="Rounded Rectangle 12"/>
          <p:cNvSpPr/>
          <p:nvPr/>
        </p:nvSpPr>
        <p:spPr>
          <a:xfrm>
            <a:off x="7461504"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6"/>
          <a:srcRect l="25025" r="25025"/>
          <a:stretch>
            <a:fillRect/>
          </a:stretch>
        </p:blipFill>
        <p:spPr>
          <a:xfrm>
            <a:off x="7534656" y="1645920"/>
            <a:ext cx="2029968" cy="2286000"/>
          </a:xfrm>
          <a:prstGeom prst="rect">
            <a:avLst/>
          </a:prstGeom>
        </p:spPr>
      </p:pic>
      <p:sp>
        <p:nvSpPr>
          <p:cNvPr id="15" name="TextBox 14"/>
          <p:cNvSpPr txBox="1"/>
          <p:nvPr/>
        </p:nvSpPr>
        <p:spPr>
          <a:xfrm>
            <a:off x="7534656"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LOW ENERGY · 30M</a:t>
            </a:r>
          </a:p>
        </p:txBody>
      </p:sp>
      <p:sp>
        <p:nvSpPr>
          <p:cNvPr id="16" name="Rounded Rectangle 15"/>
          <p:cNvSpPr/>
          <p:nvPr/>
        </p:nvSpPr>
        <p:spPr>
          <a:xfrm>
            <a:off x="9765792"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jpg"/>
          <p:cNvPicPr>
            <a:picLocks noChangeAspect="1"/>
          </p:cNvPicPr>
          <p:nvPr/>
        </p:nvPicPr>
        <p:blipFill>
          <a:blip r:embed="rId4"/>
          <a:srcRect l="25025" r="25025"/>
          <a:stretch>
            <a:fillRect/>
          </a:stretch>
        </p:blipFill>
        <p:spPr>
          <a:xfrm>
            <a:off x="9838944" y="1645920"/>
            <a:ext cx="2029968" cy="2286000"/>
          </a:xfrm>
          <a:prstGeom prst="rect">
            <a:avLst/>
          </a:prstGeom>
        </p:spPr>
      </p:pic>
      <p:sp>
        <p:nvSpPr>
          <p:cNvPr id="18" name="TextBox 17"/>
          <p:cNvSpPr txBox="1"/>
          <p:nvPr/>
        </p:nvSpPr>
        <p:spPr>
          <a:xfrm>
            <a:off x="9838944"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3 · MY DAY</a:t>
            </a:r>
          </a:p>
        </p:txBody>
      </p:sp>
      <p:sp>
        <p:nvSpPr>
          <p:cNvPr id="19" name="Rounded Rectangle 18"/>
          <p:cNvSpPr/>
          <p:nvPr/>
        </p:nvSpPr>
        <p:spPr>
          <a:xfrm>
            <a:off x="621792" y="4681728"/>
            <a:ext cx="10835640" cy="98755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956048"/>
            <a:ext cx="10195560" cy="384048"/>
          </a:xfrm>
          <a:prstGeom prst="rect">
            <a:avLst/>
          </a:prstGeom>
          <a:noFill/>
        </p:spPr>
        <p:txBody>
          <a:bodyPr wrap="square" lIns="0" rIns="0" tIns="0" bIns="0" anchor="t">
            <a:spAutoFit/>
          </a:bodyPr>
          <a:lstStyle/>
          <a:p>
            <a:pPr algn="ctr">
              <a:defRPr sz="2200" b="1" i="0">
                <a:solidFill>
                  <a:srgbClr val="FFFFFF"/>
                </a:solidFill>
                <a:latin typeface="Aptos Display"/>
              </a:defRPr>
            </a:pPr>
            <a:r>
              <a:t>“The goal isn’t to get more done. It’s to make the day more doable.”</a:t>
            </a:r>
          </a:p>
        </p:txBody>
      </p:sp>
      <p:sp>
        <p:nvSpPr>
          <p:cNvPr id="21" name="TextBox 20"/>
          <p:cNvSpPr txBox="1"/>
          <p:nvPr/>
        </p:nvSpPr>
        <p:spPr>
          <a:xfrm>
            <a:off x="658368" y="5916168"/>
            <a:ext cx="10789920" cy="274320"/>
          </a:xfrm>
          <a:prstGeom prst="rect">
            <a:avLst/>
          </a:prstGeom>
          <a:noFill/>
        </p:spPr>
        <p:txBody>
          <a:bodyPr wrap="square" lIns="0" rIns="0" tIns="0" bIns="0" anchor="t">
            <a:spAutoFit/>
          </a:bodyPr>
          <a:lstStyle/>
          <a:p>
            <a:pPr algn="ctr">
              <a:defRPr sz="1200" b="0" i="0">
                <a:solidFill>
                  <a:srgbClr val="6E6382"/>
                </a:solidFill>
                <a:latin typeface="Aptos"/>
              </a:defRPr>
            </a:pPr>
            <a:r>
              <a:t>Video file: myflove-demo-20s.mp4 · 27 s · nothing changes until the user approves</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MyFlove — 3-Minute Investor Pitch</dc:title>
  <dc:subject>Connect Öst Online Pitch Review · September 10, 2026</dc:subject>
  <dc:creator>MyFlove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