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Camilla Baksi, founder of MyFlove. In the next three minutes I want to show you why we believe everyday life needs a completely different kind of support tool - and why we've already built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tools assume the hard part is knowing what to do. It isn't. People know. What breaks the day is everything the tools ignore - energy, mental load, invisible work, and a capacity that changes from morning to afternoon. When demands exceed capacity, the person has to be the system: remembering, prioritising, rescheduling, and constantly judging what is realistic. That is exhausting, and it is where everyday life falls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started from a different question. Not what is scheduled - but what is reasonable, given how this person actually is today. That single shift, from time to capacity, is the insight the whole product is built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product it becomes three simple steps. You say how you are. You get everything out of your head. And then the system - not you - does the work of adapting the day. Capture, understand, adapt, continue. That loop runs every single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concept. It is live. Four things carry the experience: QuickFlow to empty your head, the Battery for capacity, the calendar for what is real today, and Flow, our AI companion, that turns all of it into one next reasonable step. Complex underneath, deliberately simple on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difference is easy to say out loud. Other tools ask what needs to be done. MyFlove asks what you can realistically do. In every other tool the user adapts to the system. Here the system adapts to the user.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need this are not a niche. Our first entry point is consumers, but the same capacity signal is what employers and the public sector are trying to buy today under names like wellbeing and independence. The figures on this slide are external estimates, cited, and we treat them as reference points - not as our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have 48 users on a working MVP. I want to be precise: we do not have paying customers and we do not claim clinical outcomes. What we have is a product that runs, and a validation programme starting now - measuring recurring use, perceived mental load, sense of control, and willingness to pay. That evidence is the next milestone.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Commercially we start direct to consumer, free to premium, and we validate price rather than guess it. Employers and the public sector are the scale path, and both already buy in this space. We are deliberately proving value before we spend money scaling.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build this from both sides. Professionally I'm a humanistic social pedagogue with further training in neurodevelopmental conditions, school absence and trauma response, and I've worked as a youth coach and support worker. I've also lived this problem. That combination is why the product feels the way it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raising two hundred and fifty thousand euros for an eighteen month runway. It goes to three things: finishing mobile and hardening the platform, running real pilots with real measurement, and preparing commercial launch. At the end of it we intend to have evidence - measured outcomes, validated retention, pilot results, and a first scalable customer channel.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don't need another tool telling them what to do. They need one that helps them understand what they can actually handle. We've built the MVP. Now we're proving it creates measurable value - and building the foundation to scale.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8.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jpg"/><Relationship Id="rId4" Type="http://schemas.openxmlformats.org/officeDocument/2006/relationships/image" Target="../media/image7.jpg"/><Relationship Id="rId5" Type="http://schemas.openxmlformats.org/officeDocument/2006/relationships/image" Target="../media/image3.jpg"/><Relationship Id="rId6"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g"/><Relationship Id="rId4"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jpg"/><Relationship Id="rId4"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10.jpg"/><Relationship Id="rId8"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Rounded Rectangle 1"/>
          <p:cNvSpPr/>
          <p:nvPr/>
        </p:nvSpPr>
        <p:spPr>
          <a:xfrm>
            <a:off x="7315200" y="-457200"/>
            <a:ext cx="5212080" cy="7680960"/>
          </a:xfrm>
          <a:prstGeom prst="roundRect">
            <a:avLst/>
          </a:prstGeom>
          <a:solidFill>
            <a:srgbClr val="6C4B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900416" y="521208"/>
            <a:ext cx="3392424" cy="503834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jpg"/>
          <p:cNvPicPr>
            <a:picLocks noChangeAspect="1"/>
          </p:cNvPicPr>
          <p:nvPr/>
        </p:nvPicPr>
        <p:blipFill>
          <a:blip r:embed="rId4"/>
          <a:srcRect t="4940" b="4940"/>
          <a:stretch>
            <a:fillRect/>
          </a:stretch>
        </p:blipFill>
        <p:spPr>
          <a:xfrm>
            <a:off x="7973568" y="594360"/>
            <a:ext cx="3246120" cy="4892040"/>
          </a:xfrm>
          <a:prstGeom prst="rect">
            <a:avLst/>
          </a:prstGeom>
        </p:spPr>
      </p:pic>
      <p:sp>
        <p:nvSpPr>
          <p:cNvPr id="5" name="TextBox 4"/>
          <p:cNvSpPr txBox="1"/>
          <p:nvPr/>
        </p:nvSpPr>
        <p:spPr>
          <a:xfrm>
            <a:off x="685800" y="594360"/>
            <a:ext cx="2743200" cy="274320"/>
          </a:xfrm>
          <a:prstGeom prst="rect">
            <a:avLst/>
          </a:prstGeom>
          <a:noFill/>
        </p:spPr>
        <p:txBody>
          <a:bodyPr wrap="square" lIns="0" rIns="0" tIns="0" bIns="0" anchor="t">
            <a:spAutoFit/>
          </a:bodyPr>
          <a:lstStyle/>
          <a:p>
            <a:pPr algn="l">
              <a:defRPr sz="1200" b="1" i="0">
                <a:solidFill>
                  <a:srgbClr val="7653C6"/>
                </a:solidFill>
                <a:latin typeface="Aptos Display"/>
              </a:defRPr>
            </a:pPr>
            <a:r>
              <a:t>MYFLOVE</a:t>
            </a:r>
          </a:p>
        </p:txBody>
      </p:sp>
      <p:sp>
        <p:nvSpPr>
          <p:cNvPr id="6" name="TextBox 5"/>
          <p:cNvSpPr txBox="1"/>
          <p:nvPr/>
        </p:nvSpPr>
        <p:spPr>
          <a:xfrm>
            <a:off x="685800" y="1234440"/>
            <a:ext cx="6217920" cy="1874519"/>
          </a:xfrm>
          <a:prstGeom prst="rect">
            <a:avLst/>
          </a:prstGeom>
          <a:noFill/>
        </p:spPr>
        <p:txBody>
          <a:bodyPr wrap="square" lIns="0" rIns="0" tIns="0" bIns="0" anchor="t">
            <a:spAutoFit/>
          </a:bodyPr>
          <a:lstStyle/>
          <a:p>
            <a:pPr algn="l">
              <a:defRPr sz="3600" b="1" i="0">
                <a:solidFill>
                  <a:srgbClr val="FFFFFF"/>
                </a:solidFill>
                <a:latin typeface="Aptos Display"/>
              </a:defRPr>
            </a:pPr>
            <a:r>
              <a:t>One calm way</a:t>
            </a:r>
            <a:br/>
            <a:r>
              <a:t>through everyday life.</a:t>
            </a:r>
          </a:p>
        </p:txBody>
      </p:sp>
      <p:sp>
        <p:nvSpPr>
          <p:cNvPr id="7" name="TextBox 6"/>
          <p:cNvSpPr txBox="1"/>
          <p:nvPr/>
        </p:nvSpPr>
        <p:spPr>
          <a:xfrm>
            <a:off x="713232" y="3429000"/>
            <a:ext cx="5029200" cy="822960"/>
          </a:xfrm>
          <a:prstGeom prst="rect">
            <a:avLst/>
          </a:prstGeom>
          <a:noFill/>
        </p:spPr>
        <p:txBody>
          <a:bodyPr wrap="square" lIns="0" rIns="0" tIns="0" bIns="0" anchor="t">
            <a:spAutoFit/>
          </a:bodyPr>
          <a:lstStyle/>
          <a:p>
            <a:pPr algn="l">
              <a:defRPr sz="2300" b="1" i="0">
                <a:solidFill>
                  <a:srgbClr val="F2BED8"/>
                </a:solidFill>
                <a:latin typeface="Aptos Display"/>
              </a:defRPr>
            </a:pPr>
            <a:r>
              <a:t>Plan for your capacity.</a:t>
            </a:r>
            <a:br/>
            <a:r>
              <a:t>Not just your time.</a:t>
            </a:r>
          </a:p>
        </p:txBody>
      </p:sp>
      <p:sp>
        <p:nvSpPr>
          <p:cNvPr id="8" name="TextBox 7"/>
          <p:cNvSpPr txBox="1"/>
          <p:nvPr/>
        </p:nvSpPr>
        <p:spPr>
          <a:xfrm>
            <a:off x="713232" y="4617720"/>
            <a:ext cx="5212080" cy="320040"/>
          </a:xfrm>
          <a:prstGeom prst="rect">
            <a:avLst/>
          </a:prstGeom>
          <a:noFill/>
        </p:spPr>
        <p:txBody>
          <a:bodyPr wrap="square" lIns="0" rIns="0" tIns="0" bIns="0" anchor="t">
            <a:spAutoFit/>
          </a:bodyPr>
          <a:lstStyle/>
          <a:p>
            <a:pPr algn="l">
              <a:defRPr sz="1500" b="0" i="0">
                <a:solidFill>
                  <a:srgbClr val="EDE3FA"/>
                </a:solidFill>
                <a:latin typeface="Aptos"/>
              </a:defRPr>
            </a:pPr>
            <a:r>
              <a:t>AI-supported digital everyday support</a:t>
            </a:r>
          </a:p>
        </p:txBody>
      </p:sp>
      <p:sp>
        <p:nvSpPr>
          <p:cNvPr id="9" name="TextBox 8"/>
          <p:cNvSpPr txBox="1"/>
          <p:nvPr/>
        </p:nvSpPr>
        <p:spPr>
          <a:xfrm>
            <a:off x="713232" y="6080760"/>
            <a:ext cx="5852160" cy="274320"/>
          </a:xfrm>
          <a:prstGeom prst="rect">
            <a:avLst/>
          </a:prstGeom>
          <a:noFill/>
        </p:spPr>
        <p:txBody>
          <a:bodyPr wrap="square" lIns="0" rIns="0" tIns="0" bIns="0" anchor="t">
            <a:spAutoFit/>
          </a:bodyPr>
          <a:lstStyle/>
          <a:p>
            <a:pPr algn="l">
              <a:defRPr sz="1200" b="0" i="0">
                <a:solidFill>
                  <a:srgbClr val="CFC2DF"/>
                </a:solidFill>
                <a:latin typeface="Aptos"/>
              </a:defRPr>
            </a:pPr>
            <a:r>
              <a:t>Connect Öst · Online Pitch Review · September 10, 2026</a:t>
            </a:r>
          </a:p>
        </p:txBody>
      </p:sp>
      <p:sp>
        <p:nvSpPr>
          <p:cNvPr id="10" name="TextBox 9"/>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1" name="TextBox 10"/>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PROBLEM</a:t>
            </a:r>
          </a:p>
        </p:txBody>
      </p:sp>
      <p:sp>
        <p:nvSpPr>
          <p:cNvPr id="3" name="TextBox 2"/>
          <p:cNvSpPr txBox="1"/>
          <p:nvPr/>
        </p:nvSpPr>
        <p:spPr>
          <a:xfrm>
            <a:off x="640080" y="914400"/>
            <a:ext cx="5486400" cy="1325880"/>
          </a:xfrm>
          <a:prstGeom prst="rect">
            <a:avLst/>
          </a:prstGeom>
          <a:noFill/>
        </p:spPr>
        <p:txBody>
          <a:bodyPr wrap="square" lIns="0" rIns="0" tIns="0" bIns="0" anchor="t">
            <a:spAutoFit/>
          </a:bodyPr>
          <a:lstStyle/>
          <a:p>
            <a:pPr algn="l">
              <a:defRPr sz="3300" b="1" i="0">
                <a:solidFill>
                  <a:srgbClr val="2F2345"/>
                </a:solidFill>
                <a:latin typeface="Aptos Display"/>
              </a:defRPr>
            </a:pPr>
            <a:r>
              <a:t>Knowing what to do</a:t>
            </a:r>
            <a:br/>
            <a:r>
              <a:t>is not the hard part.</a:t>
            </a:r>
          </a:p>
        </p:txBody>
      </p:sp>
      <p:sp>
        <p:nvSpPr>
          <p:cNvPr id="4" name="TextBox 3"/>
          <p:cNvSpPr txBox="1"/>
          <p:nvPr/>
        </p:nvSpPr>
        <p:spPr>
          <a:xfrm>
            <a:off x="658368" y="2450592"/>
            <a:ext cx="5212080" cy="960120"/>
          </a:xfrm>
          <a:prstGeom prst="rect">
            <a:avLst/>
          </a:prstGeom>
          <a:noFill/>
        </p:spPr>
        <p:txBody>
          <a:bodyPr wrap="square" lIns="0" rIns="0" tIns="0" bIns="0" anchor="t">
            <a:spAutoFit/>
          </a:bodyPr>
          <a:lstStyle/>
          <a:p>
            <a:pPr algn="l">
              <a:defRPr sz="1800" b="0" i="0">
                <a:solidFill>
                  <a:srgbClr val="6E6382"/>
                </a:solidFill>
                <a:latin typeface="Aptos"/>
              </a:defRPr>
            </a:pPr>
            <a:r>
              <a:t>Making the day work when energy, mental load and invisible work keep changing — that is the hard part.</a:t>
            </a:r>
          </a:p>
        </p:txBody>
      </p:sp>
      <p:sp>
        <p:nvSpPr>
          <p:cNvPr id="5" name="Rounded Rectangle 4"/>
          <p:cNvSpPr/>
          <p:nvPr/>
        </p:nvSpPr>
        <p:spPr>
          <a:xfrm>
            <a:off x="6373368" y="521208"/>
            <a:ext cx="5221224" cy="32735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jpg"/>
          <p:cNvPicPr>
            <a:picLocks noChangeAspect="1"/>
          </p:cNvPicPr>
          <p:nvPr/>
        </p:nvPicPr>
        <p:blipFill>
          <a:blip r:embed="rId3"/>
          <a:srcRect l="4359" r="4359"/>
          <a:stretch>
            <a:fillRect/>
          </a:stretch>
        </p:blipFill>
        <p:spPr>
          <a:xfrm>
            <a:off x="6446520" y="594360"/>
            <a:ext cx="5074920" cy="3127248"/>
          </a:xfrm>
          <a:prstGeom prst="rect">
            <a:avLst/>
          </a:prstGeom>
        </p:spPr>
      </p:pic>
      <p:sp>
        <p:nvSpPr>
          <p:cNvPr id="7" name="Rounded Rectangle 6"/>
          <p:cNvSpPr/>
          <p:nvPr/>
        </p:nvSpPr>
        <p:spPr>
          <a:xfrm>
            <a:off x="640080" y="4160520"/>
            <a:ext cx="525780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407408"/>
            <a:ext cx="2011680" cy="228600"/>
          </a:xfrm>
          <a:prstGeom prst="rect">
            <a:avLst/>
          </a:prstGeom>
          <a:noFill/>
        </p:spPr>
        <p:txBody>
          <a:bodyPr wrap="square" lIns="0" rIns="0" tIns="0" bIns="0" anchor="t">
            <a:spAutoFit/>
          </a:bodyPr>
          <a:lstStyle/>
          <a:p>
            <a:pPr algn="l">
              <a:defRPr sz="1100" b="1" i="0">
                <a:solidFill>
                  <a:srgbClr val="7653C6"/>
                </a:solidFill>
                <a:latin typeface="Aptos Display"/>
              </a:defRPr>
            </a:pPr>
            <a:r>
              <a:t>TRADITIONAL TOOLS</a:t>
            </a:r>
          </a:p>
        </p:txBody>
      </p:sp>
      <p:sp>
        <p:nvSpPr>
          <p:cNvPr id="9" name="TextBox 8"/>
          <p:cNvSpPr txBox="1"/>
          <p:nvPr/>
        </p:nvSpPr>
        <p:spPr>
          <a:xfrm>
            <a:off x="868680" y="4754880"/>
            <a:ext cx="4297680" cy="320040"/>
          </a:xfrm>
          <a:prstGeom prst="rect">
            <a:avLst/>
          </a:prstGeom>
          <a:noFill/>
        </p:spPr>
        <p:txBody>
          <a:bodyPr wrap="square" lIns="0" rIns="0" tIns="0" bIns="0" anchor="t">
            <a:spAutoFit/>
          </a:bodyPr>
          <a:lstStyle/>
          <a:p>
            <a:pPr algn="l">
              <a:defRPr sz="1900" b="1" i="0">
                <a:solidFill>
                  <a:srgbClr val="2F2345"/>
                </a:solidFill>
                <a:latin typeface="Aptos Display"/>
              </a:defRPr>
            </a:pPr>
            <a:r>
              <a:t>Tasks · time · reminders</a:t>
            </a:r>
          </a:p>
        </p:txBody>
      </p:sp>
      <p:sp>
        <p:nvSpPr>
          <p:cNvPr id="10" name="Rounded Rectangle 9"/>
          <p:cNvSpPr/>
          <p:nvPr/>
        </p:nvSpPr>
        <p:spPr>
          <a:xfrm>
            <a:off x="6172200" y="4160520"/>
            <a:ext cx="5349240" cy="1298448"/>
          </a:xfrm>
          <a:prstGeom prst="roundRect">
            <a:avLst/>
          </a:prstGeom>
          <a:solidFill>
            <a:srgbClr val="FCEAF3"/>
          </a:solidFill>
          <a:ln w="12700">
            <a:solidFill>
              <a:srgbClr val="E9C8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4407408"/>
            <a:ext cx="2011680" cy="228600"/>
          </a:xfrm>
          <a:prstGeom prst="rect">
            <a:avLst/>
          </a:prstGeom>
          <a:noFill/>
        </p:spPr>
        <p:txBody>
          <a:bodyPr wrap="square" lIns="0" rIns="0" tIns="0" bIns="0" anchor="t">
            <a:spAutoFit/>
          </a:bodyPr>
          <a:lstStyle/>
          <a:p>
            <a:pPr algn="l">
              <a:defRPr sz="1100" b="1" i="0">
                <a:solidFill>
                  <a:srgbClr val="A63D70"/>
                </a:solidFill>
                <a:latin typeface="Aptos Display"/>
              </a:defRPr>
            </a:pPr>
            <a:r>
              <a:t>REAL LIFE</a:t>
            </a:r>
          </a:p>
        </p:txBody>
      </p:sp>
      <p:sp>
        <p:nvSpPr>
          <p:cNvPr id="12" name="TextBox 11"/>
          <p:cNvSpPr txBox="1"/>
          <p:nvPr/>
        </p:nvSpPr>
        <p:spPr>
          <a:xfrm>
            <a:off x="6400800" y="4754880"/>
            <a:ext cx="4572000" cy="320040"/>
          </a:xfrm>
          <a:prstGeom prst="rect">
            <a:avLst/>
          </a:prstGeom>
          <a:noFill/>
        </p:spPr>
        <p:txBody>
          <a:bodyPr wrap="square" lIns="0" rIns="0" tIns="0" bIns="0" anchor="t">
            <a:spAutoFit/>
          </a:bodyPr>
          <a:lstStyle/>
          <a:p>
            <a:pPr algn="l">
              <a:defRPr sz="1900" b="1" i="0">
                <a:solidFill>
                  <a:srgbClr val="2F2345"/>
                </a:solidFill>
                <a:latin typeface="Aptos Display"/>
              </a:defRPr>
            </a:pPr>
            <a:r>
              <a:t>Energy · capacity · invisible work</a:t>
            </a:r>
          </a:p>
        </p:txBody>
      </p:sp>
      <p:sp>
        <p:nvSpPr>
          <p:cNvPr id="13" name="TextBox 12"/>
          <p:cNvSpPr txBox="1"/>
          <p:nvPr/>
        </p:nvSpPr>
        <p:spPr>
          <a:xfrm>
            <a:off x="640080" y="5733288"/>
            <a:ext cx="10881360" cy="411480"/>
          </a:xfrm>
          <a:prstGeom prst="rect">
            <a:avLst/>
          </a:prstGeom>
          <a:noFill/>
        </p:spPr>
        <p:txBody>
          <a:bodyPr wrap="square" lIns="0" rIns="0" tIns="0" bIns="0" anchor="t">
            <a:spAutoFit/>
          </a:bodyPr>
          <a:lstStyle/>
          <a:p>
            <a:pPr algn="ctr">
              <a:defRPr sz="2200" b="1" i="0">
                <a:solidFill>
                  <a:srgbClr val="7653C6"/>
                </a:solidFill>
                <a:latin typeface="Aptos Display"/>
              </a:defRPr>
            </a:pPr>
            <a:r>
              <a:t>When demands exceed capacity, the person becomes the system.</a:t>
            </a:r>
          </a:p>
        </p:txBody>
      </p:sp>
      <p:sp>
        <p:nvSpPr>
          <p:cNvPr id="14" name="TextBox 13"/>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5" name="TextBox 14"/>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AFB"/>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INSIGHT</a:t>
            </a:r>
          </a:p>
        </p:txBody>
      </p:sp>
      <p:sp>
        <p:nvSpPr>
          <p:cNvPr id="3" name="TextBox 2"/>
          <p:cNvSpPr txBox="1"/>
          <p:nvPr/>
        </p:nvSpPr>
        <p:spPr>
          <a:xfrm>
            <a:off x="685800" y="1097280"/>
            <a:ext cx="5760720" cy="1417320"/>
          </a:xfrm>
          <a:prstGeom prst="rect">
            <a:avLst/>
          </a:prstGeom>
          <a:noFill/>
        </p:spPr>
        <p:txBody>
          <a:bodyPr wrap="square" lIns="0" rIns="0" tIns="0" bIns="0" anchor="t">
            <a:spAutoFit/>
          </a:bodyPr>
          <a:lstStyle/>
          <a:p>
            <a:pPr algn="l">
              <a:defRPr sz="3900" b="1" i="0">
                <a:solidFill>
                  <a:srgbClr val="2F2345"/>
                </a:solidFill>
                <a:latin typeface="Aptos Display"/>
              </a:defRPr>
            </a:pPr>
            <a:r>
              <a:t>Plan for capacity,</a:t>
            </a:r>
            <a:br/>
            <a:r>
              <a:t>not just time.</a:t>
            </a:r>
          </a:p>
        </p:txBody>
      </p:sp>
      <p:sp>
        <p:nvSpPr>
          <p:cNvPr id="4" name="Rounded Rectangle 3"/>
          <p:cNvSpPr/>
          <p:nvPr/>
        </p:nvSpPr>
        <p:spPr>
          <a:xfrm>
            <a:off x="6858000" y="731520"/>
            <a:ext cx="4480560" cy="5166360"/>
          </a:xfrm>
          <a:prstGeom prst="roundRect">
            <a:avLst/>
          </a:prstGeom>
          <a:solidFill>
            <a:srgbClr val="FFFFFF"/>
          </a:solidFill>
          <a:ln w="12700">
            <a:solidFill>
              <a:srgbClr val="E2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0" y="1143000"/>
            <a:ext cx="3566160" cy="274320"/>
          </a:xfrm>
          <a:prstGeom prst="rect">
            <a:avLst/>
          </a:prstGeom>
          <a:noFill/>
        </p:spPr>
        <p:txBody>
          <a:bodyPr wrap="square" lIns="0" rIns="0" tIns="0" bIns="0" anchor="t">
            <a:spAutoFit/>
          </a:bodyPr>
          <a:lstStyle/>
          <a:p>
            <a:pPr algn="l">
              <a:defRPr sz="1300" b="1" i="0">
                <a:solidFill>
                  <a:srgbClr val="6E6382"/>
                </a:solidFill>
                <a:latin typeface="Aptos Display"/>
              </a:defRPr>
            </a:pPr>
            <a:r>
              <a:t>A calendar says</a:t>
            </a:r>
          </a:p>
        </p:txBody>
      </p:sp>
      <p:sp>
        <p:nvSpPr>
          <p:cNvPr id="6" name="TextBox 5"/>
          <p:cNvSpPr txBox="1"/>
          <p:nvPr/>
        </p:nvSpPr>
        <p:spPr>
          <a:xfrm>
            <a:off x="7223760" y="1600200"/>
            <a:ext cx="3566160" cy="914400"/>
          </a:xfrm>
          <a:prstGeom prst="rect">
            <a:avLst/>
          </a:prstGeom>
          <a:noFill/>
        </p:spPr>
        <p:txBody>
          <a:bodyPr wrap="square" lIns="0" rIns="0" tIns="0" bIns="0" anchor="t">
            <a:spAutoFit/>
          </a:bodyPr>
          <a:lstStyle/>
          <a:p>
            <a:pPr algn="l">
              <a:defRPr sz="2300" b="1" i="0">
                <a:solidFill>
                  <a:srgbClr val="2F2345"/>
                </a:solidFill>
                <a:latin typeface="Aptos Display"/>
              </a:defRPr>
            </a:pPr>
            <a:r>
              <a:t>“You have three things</a:t>
            </a:r>
            <a:br/>
            <a:r>
              <a:t>scheduled today.”</a:t>
            </a:r>
          </a:p>
        </p:txBody>
      </p:sp>
      <p:sp>
        <p:nvSpPr>
          <p:cNvPr id="7" name="Rectangle 6"/>
          <p:cNvSpPr/>
          <p:nvPr/>
        </p:nvSpPr>
        <p:spPr>
          <a:xfrm>
            <a:off x="7223760" y="2743200"/>
            <a:ext cx="3566160" cy="36576"/>
          </a:xfrm>
          <a:prstGeom prst="rect">
            <a:avLst/>
          </a:prstGeom>
          <a:solidFill>
            <a:srgbClr val="E9D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3154680"/>
            <a:ext cx="3566160" cy="274320"/>
          </a:xfrm>
          <a:prstGeom prst="rect">
            <a:avLst/>
          </a:prstGeom>
          <a:noFill/>
        </p:spPr>
        <p:txBody>
          <a:bodyPr wrap="square" lIns="0" rIns="0" tIns="0" bIns="0" anchor="t">
            <a:spAutoFit/>
          </a:bodyPr>
          <a:lstStyle/>
          <a:p>
            <a:pPr algn="l">
              <a:defRPr sz="1300" b="1" i="0">
                <a:solidFill>
                  <a:srgbClr val="7653C6"/>
                </a:solidFill>
                <a:latin typeface="Aptos Display"/>
              </a:defRPr>
            </a:pPr>
            <a:r>
              <a:t>MyFlove asks</a:t>
            </a:r>
          </a:p>
        </p:txBody>
      </p:sp>
      <p:sp>
        <p:nvSpPr>
          <p:cNvPr id="9" name="TextBox 8"/>
          <p:cNvSpPr txBox="1"/>
          <p:nvPr/>
        </p:nvSpPr>
        <p:spPr>
          <a:xfrm>
            <a:off x="7223760" y="3611880"/>
            <a:ext cx="3566160" cy="1097280"/>
          </a:xfrm>
          <a:prstGeom prst="rect">
            <a:avLst/>
          </a:prstGeom>
          <a:noFill/>
        </p:spPr>
        <p:txBody>
          <a:bodyPr wrap="square" lIns="0" rIns="0" tIns="0" bIns="0" anchor="t">
            <a:spAutoFit/>
          </a:bodyPr>
          <a:lstStyle/>
          <a:p>
            <a:pPr algn="l">
              <a:defRPr sz="2300" b="1" i="0">
                <a:solidFill>
                  <a:srgbClr val="7653C6"/>
                </a:solidFill>
                <a:latin typeface="Aptos Display"/>
              </a:defRPr>
            </a:pPr>
            <a:r>
              <a:t>“Given how you are today,</a:t>
            </a:r>
            <a:br/>
            <a:r>
              <a:t>what is actually reasonable?”</a:t>
            </a:r>
          </a:p>
        </p:txBody>
      </p:sp>
      <p:sp>
        <p:nvSpPr>
          <p:cNvPr id="10" name="Rounded Rectangle 9"/>
          <p:cNvSpPr/>
          <p:nvPr/>
        </p:nvSpPr>
        <p:spPr>
          <a:xfrm>
            <a:off x="685800" y="3063240"/>
            <a:ext cx="5394960" cy="96012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328416"/>
            <a:ext cx="4846320" cy="384048"/>
          </a:xfrm>
          <a:prstGeom prst="rect">
            <a:avLst/>
          </a:prstGeom>
          <a:noFill/>
        </p:spPr>
        <p:txBody>
          <a:bodyPr wrap="square" lIns="0" rIns="0" tIns="0" bIns="0" anchor="t">
            <a:spAutoFit/>
          </a:bodyPr>
          <a:lstStyle/>
          <a:p>
            <a:pPr algn="ctr">
              <a:defRPr sz="2400" b="1" i="0">
                <a:solidFill>
                  <a:srgbClr val="FFFFFF"/>
                </a:solidFill>
                <a:latin typeface="Aptos Display"/>
              </a:defRPr>
            </a:pPr>
            <a:r>
              <a:t>TIME  →  CAPACITY</a:t>
            </a:r>
          </a:p>
        </p:txBody>
      </p:sp>
      <p:sp>
        <p:nvSpPr>
          <p:cNvPr id="12" name="TextBox 11"/>
          <p:cNvSpPr txBox="1"/>
          <p:nvPr/>
        </p:nvSpPr>
        <p:spPr>
          <a:xfrm>
            <a:off x="713232" y="4389120"/>
            <a:ext cx="5303520" cy="457200"/>
          </a:xfrm>
          <a:prstGeom prst="rect">
            <a:avLst/>
          </a:prstGeom>
          <a:noFill/>
        </p:spPr>
        <p:txBody>
          <a:bodyPr wrap="square" lIns="0" rIns="0" tIns="0" bIns="0" anchor="t">
            <a:spAutoFit/>
          </a:bodyPr>
          <a:lstStyle/>
          <a:p>
            <a:pPr algn="l">
              <a:defRPr sz="1800" b="0" i="0">
                <a:solidFill>
                  <a:srgbClr val="6E6382"/>
                </a:solidFill>
                <a:latin typeface="Aptos"/>
              </a:defRPr>
            </a:pPr>
            <a:r>
              <a:t>That single shift is the product.</a:t>
            </a:r>
          </a:p>
        </p:txBody>
      </p:sp>
      <p:sp>
        <p:nvSpPr>
          <p:cNvPr id="13" name="TextBox 12"/>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4" name="TextBox 13"/>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SOLUTION</a:t>
            </a:r>
          </a:p>
        </p:txBody>
      </p:sp>
      <p:sp>
        <p:nvSpPr>
          <p:cNvPr id="3" name="TextBox 2"/>
          <p:cNvSpPr txBox="1"/>
          <p:nvPr/>
        </p:nvSpPr>
        <p:spPr>
          <a:xfrm>
            <a:off x="621792" y="822960"/>
            <a:ext cx="7406640" cy="594360"/>
          </a:xfrm>
          <a:prstGeom prst="rect">
            <a:avLst/>
          </a:prstGeom>
          <a:noFill/>
        </p:spPr>
        <p:txBody>
          <a:bodyPr wrap="square" lIns="0" rIns="0" tIns="0" bIns="0" anchor="t">
            <a:spAutoFit/>
          </a:bodyPr>
          <a:lstStyle/>
          <a:p>
            <a:pPr algn="l">
              <a:defRPr sz="3000" b="1" i="0">
                <a:solidFill>
                  <a:srgbClr val="2F2345"/>
                </a:solidFill>
                <a:latin typeface="Aptos Display"/>
              </a:defRPr>
            </a:pPr>
            <a:r>
              <a:t>Capacity becomes a planning signal.</a:t>
            </a:r>
          </a:p>
        </p:txBody>
      </p:sp>
      <p:sp>
        <p:nvSpPr>
          <p:cNvPr id="4" name="Rounded Rectangle 3"/>
          <p:cNvSpPr/>
          <p:nvPr/>
        </p:nvSpPr>
        <p:spPr>
          <a:xfrm>
            <a:off x="621792"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4672"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1</a:t>
            </a:r>
          </a:p>
        </p:txBody>
      </p:sp>
      <p:sp>
        <p:nvSpPr>
          <p:cNvPr id="7" name="TextBox 6"/>
          <p:cNvSpPr txBox="1"/>
          <p:nvPr/>
        </p:nvSpPr>
        <p:spPr>
          <a:xfrm>
            <a:off x="1335024"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How are you?</a:t>
            </a:r>
          </a:p>
        </p:txBody>
      </p:sp>
      <p:sp>
        <p:nvSpPr>
          <p:cNvPr id="8" name="TextBox 7"/>
          <p:cNvSpPr txBox="1"/>
          <p:nvPr/>
        </p:nvSpPr>
        <p:spPr>
          <a:xfrm>
            <a:off x="1335024"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Energy, mood and what affects capacity.</a:t>
            </a:r>
          </a:p>
        </p:txBody>
      </p:sp>
      <p:sp>
        <p:nvSpPr>
          <p:cNvPr id="9" name="Rounded Rectangle 8"/>
          <p:cNvSpPr/>
          <p:nvPr/>
        </p:nvSpPr>
        <p:spPr>
          <a:xfrm>
            <a:off x="4425696"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08576"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2</a:t>
            </a:r>
          </a:p>
        </p:txBody>
      </p:sp>
      <p:sp>
        <p:nvSpPr>
          <p:cNvPr id="12" name="TextBox 11"/>
          <p:cNvSpPr txBox="1"/>
          <p:nvPr/>
        </p:nvSpPr>
        <p:spPr>
          <a:xfrm>
            <a:off x="5138928"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What's happening?</a:t>
            </a:r>
          </a:p>
        </p:txBody>
      </p:sp>
      <p:sp>
        <p:nvSpPr>
          <p:cNvPr id="13" name="TextBox 12"/>
          <p:cNvSpPr txBox="1"/>
          <p:nvPr/>
        </p:nvSpPr>
        <p:spPr>
          <a:xfrm>
            <a:off x="5138928"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Tasks, events and invisible work.</a:t>
            </a:r>
          </a:p>
        </p:txBody>
      </p:sp>
      <p:sp>
        <p:nvSpPr>
          <p:cNvPr id="14" name="Rounded Rectangle 13"/>
          <p:cNvSpPr/>
          <p:nvPr/>
        </p:nvSpPr>
        <p:spPr>
          <a:xfrm>
            <a:off x="8229600"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12480"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3</a:t>
            </a:r>
          </a:p>
        </p:txBody>
      </p:sp>
      <p:sp>
        <p:nvSpPr>
          <p:cNvPr id="17" name="TextBox 16"/>
          <p:cNvSpPr txBox="1"/>
          <p:nvPr/>
        </p:nvSpPr>
        <p:spPr>
          <a:xfrm>
            <a:off x="8942832"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Need to adapt?</a:t>
            </a:r>
          </a:p>
        </p:txBody>
      </p:sp>
      <p:sp>
        <p:nvSpPr>
          <p:cNvPr id="18" name="TextBox 17"/>
          <p:cNvSpPr txBox="1"/>
          <p:nvPr/>
        </p:nvSpPr>
        <p:spPr>
          <a:xfrm>
            <a:off x="8942832"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FlowPlan moves, simplifies or splits.</a:t>
            </a:r>
          </a:p>
        </p:txBody>
      </p:sp>
      <p:sp>
        <p:nvSpPr>
          <p:cNvPr id="19" name="Rounded Rectangle 18"/>
          <p:cNvSpPr/>
          <p:nvPr/>
        </p:nvSpPr>
        <p:spPr>
          <a:xfrm>
            <a:off x="548640"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jpg"/>
          <p:cNvPicPr>
            <a:picLocks noChangeAspect="1"/>
          </p:cNvPicPr>
          <p:nvPr/>
        </p:nvPicPr>
        <p:blipFill>
          <a:blip r:embed="rId3"/>
          <a:srcRect l="511" r="511"/>
          <a:stretch>
            <a:fillRect/>
          </a:stretch>
        </p:blipFill>
        <p:spPr>
          <a:xfrm>
            <a:off x="621792" y="3337560"/>
            <a:ext cx="3346704" cy="1901952"/>
          </a:xfrm>
          <a:prstGeom prst="rect">
            <a:avLst/>
          </a:prstGeom>
        </p:spPr>
      </p:pic>
      <p:sp>
        <p:nvSpPr>
          <p:cNvPr id="21" name="Rounded Rectangle 20"/>
          <p:cNvSpPr/>
          <p:nvPr/>
        </p:nvSpPr>
        <p:spPr>
          <a:xfrm>
            <a:off x="4352544"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jpg"/>
          <p:cNvPicPr>
            <a:picLocks noChangeAspect="1"/>
          </p:cNvPicPr>
          <p:nvPr/>
        </p:nvPicPr>
        <p:blipFill>
          <a:blip r:embed="rId4"/>
          <a:srcRect l="511" r="511"/>
          <a:stretch>
            <a:fillRect/>
          </a:stretch>
        </p:blipFill>
        <p:spPr>
          <a:xfrm>
            <a:off x="4425696" y="3337560"/>
            <a:ext cx="3346704" cy="1901952"/>
          </a:xfrm>
          <a:prstGeom prst="rect">
            <a:avLst/>
          </a:prstGeom>
        </p:spPr>
      </p:pic>
      <p:sp>
        <p:nvSpPr>
          <p:cNvPr id="23" name="Rounded Rectangle 22"/>
          <p:cNvSpPr/>
          <p:nvPr/>
        </p:nvSpPr>
        <p:spPr>
          <a:xfrm>
            <a:off x="8156448"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jpg"/>
          <p:cNvPicPr>
            <a:picLocks noChangeAspect="1"/>
          </p:cNvPicPr>
          <p:nvPr/>
        </p:nvPicPr>
        <p:blipFill>
          <a:blip r:embed="rId5"/>
          <a:srcRect l="511" r="511"/>
          <a:stretch>
            <a:fillRect/>
          </a:stretch>
        </p:blipFill>
        <p:spPr>
          <a:xfrm>
            <a:off x="8229600" y="3337560"/>
            <a:ext cx="3346704" cy="1901952"/>
          </a:xfrm>
          <a:prstGeom prst="rect">
            <a:avLst/>
          </a:prstGeom>
        </p:spPr>
      </p:pic>
      <p:sp>
        <p:nvSpPr>
          <p:cNvPr id="25" name="TextBox 24"/>
          <p:cNvSpPr txBox="1"/>
          <p:nvPr/>
        </p:nvSpPr>
        <p:spPr>
          <a:xfrm>
            <a:off x="1508760" y="5468112"/>
            <a:ext cx="146304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CAPTURE</a:t>
            </a:r>
          </a:p>
        </p:txBody>
      </p:sp>
      <p:sp>
        <p:nvSpPr>
          <p:cNvPr id="26" name="TextBox 25"/>
          <p:cNvSpPr txBox="1"/>
          <p:nvPr/>
        </p:nvSpPr>
        <p:spPr>
          <a:xfrm>
            <a:off x="4983480" y="5468112"/>
            <a:ext cx="219456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UNDERSTAND + ADAPT</a:t>
            </a:r>
          </a:p>
        </p:txBody>
      </p:sp>
      <p:sp>
        <p:nvSpPr>
          <p:cNvPr id="27" name="TextBox 26"/>
          <p:cNvSpPr txBox="1"/>
          <p:nvPr/>
        </p:nvSpPr>
        <p:spPr>
          <a:xfrm>
            <a:off x="9464040" y="5468112"/>
            <a:ext cx="137160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CONTINUE</a:t>
            </a:r>
          </a:p>
        </p:txBody>
      </p:sp>
      <p:sp>
        <p:nvSpPr>
          <p:cNvPr id="28" name="TextBox 27"/>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9" name="TextBox 28"/>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PRODUCT</a:t>
            </a:r>
          </a:p>
        </p:txBody>
      </p:sp>
      <p:sp>
        <p:nvSpPr>
          <p:cNvPr id="3" name="TextBox 2"/>
          <p:cNvSpPr txBox="1"/>
          <p:nvPr/>
        </p:nvSpPr>
        <p:spPr>
          <a:xfrm>
            <a:off x="621792" y="822960"/>
            <a:ext cx="7498079" cy="566928"/>
          </a:xfrm>
          <a:prstGeom prst="rect">
            <a:avLst/>
          </a:prstGeom>
          <a:noFill/>
        </p:spPr>
        <p:txBody>
          <a:bodyPr wrap="square" lIns="0" rIns="0" tIns="0" bIns="0" anchor="t">
            <a:spAutoFit/>
          </a:bodyPr>
          <a:lstStyle/>
          <a:p>
            <a:pPr algn="l">
              <a:defRPr sz="3100" b="1" i="0">
                <a:solidFill>
                  <a:srgbClr val="2F2345"/>
                </a:solidFill>
                <a:latin typeface="Aptos Display"/>
              </a:defRPr>
            </a:pPr>
            <a:r>
              <a:t>One system. One daily flow.</a:t>
            </a:r>
          </a:p>
        </p:txBody>
      </p:sp>
      <p:sp>
        <p:nvSpPr>
          <p:cNvPr id="4" name="TextBox 3"/>
          <p:cNvSpPr txBox="1"/>
          <p:nvPr/>
        </p:nvSpPr>
        <p:spPr>
          <a:xfrm>
            <a:off x="640080" y="1371600"/>
            <a:ext cx="4846320" cy="320040"/>
          </a:xfrm>
          <a:prstGeom prst="rect">
            <a:avLst/>
          </a:prstGeom>
          <a:noFill/>
        </p:spPr>
        <p:txBody>
          <a:bodyPr wrap="square" lIns="0" rIns="0" tIns="0" bIns="0" anchor="t">
            <a:spAutoFit/>
          </a:bodyPr>
          <a:lstStyle/>
          <a:p>
            <a:pPr algn="l">
              <a:defRPr sz="1600" b="0" i="0">
                <a:solidFill>
                  <a:srgbClr val="6E6382"/>
                </a:solidFill>
                <a:latin typeface="Aptos"/>
              </a:defRPr>
            </a:pPr>
            <a:r>
              <a:t>A working web application, now packaged for Android testing.</a:t>
            </a:r>
          </a:p>
        </p:txBody>
      </p:sp>
      <p:sp>
        <p:nvSpPr>
          <p:cNvPr id="5" name="Rounded Rectangle 4"/>
          <p:cNvSpPr/>
          <p:nvPr/>
        </p:nvSpPr>
        <p:spPr>
          <a:xfrm>
            <a:off x="621792" y="1920240"/>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jpg"/>
          <p:cNvPicPr>
            <a:picLocks noChangeAspect="1"/>
          </p:cNvPicPr>
          <p:nvPr/>
        </p:nvPicPr>
        <p:blipFill>
          <a:blip r:embed="rId3"/>
          <a:srcRect l="11729" r="11729"/>
          <a:stretch>
            <a:fillRect/>
          </a:stretch>
        </p:blipFill>
        <p:spPr>
          <a:xfrm>
            <a:off x="768096" y="2066544"/>
            <a:ext cx="1965960" cy="1444752"/>
          </a:xfrm>
          <a:prstGeom prst="rect">
            <a:avLst/>
          </a:prstGeom>
        </p:spPr>
      </p:pic>
      <p:sp>
        <p:nvSpPr>
          <p:cNvPr id="7" name="TextBox 6"/>
          <p:cNvSpPr txBox="1"/>
          <p:nvPr/>
        </p:nvSpPr>
        <p:spPr>
          <a:xfrm>
            <a:off x="2953512" y="2203704"/>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QuickFlow</a:t>
            </a:r>
          </a:p>
        </p:txBody>
      </p:sp>
      <p:sp>
        <p:nvSpPr>
          <p:cNvPr id="8" name="TextBox 7"/>
          <p:cNvSpPr txBox="1"/>
          <p:nvPr/>
        </p:nvSpPr>
        <p:spPr>
          <a:xfrm>
            <a:off x="2953512" y="2697480"/>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Empty your head in seconds.</a:t>
            </a:r>
          </a:p>
        </p:txBody>
      </p:sp>
      <p:sp>
        <p:nvSpPr>
          <p:cNvPr id="9" name="Rounded Rectangle 8"/>
          <p:cNvSpPr/>
          <p:nvPr/>
        </p:nvSpPr>
        <p:spPr>
          <a:xfrm>
            <a:off x="6245352" y="1920240"/>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jpg"/>
          <p:cNvPicPr>
            <a:picLocks noChangeAspect="1"/>
          </p:cNvPicPr>
          <p:nvPr/>
        </p:nvPicPr>
        <p:blipFill>
          <a:blip r:embed="rId4"/>
          <a:srcRect l="11729" r="11729"/>
          <a:stretch>
            <a:fillRect/>
          </a:stretch>
        </p:blipFill>
        <p:spPr>
          <a:xfrm>
            <a:off x="6391656" y="2066544"/>
            <a:ext cx="1965960" cy="1444752"/>
          </a:xfrm>
          <a:prstGeom prst="rect">
            <a:avLst/>
          </a:prstGeom>
        </p:spPr>
      </p:pic>
      <p:sp>
        <p:nvSpPr>
          <p:cNvPr id="11" name="TextBox 10"/>
          <p:cNvSpPr txBox="1"/>
          <p:nvPr/>
        </p:nvSpPr>
        <p:spPr>
          <a:xfrm>
            <a:off x="8577072" y="2203704"/>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Battery</a:t>
            </a:r>
          </a:p>
        </p:txBody>
      </p:sp>
      <p:sp>
        <p:nvSpPr>
          <p:cNvPr id="12" name="TextBox 11"/>
          <p:cNvSpPr txBox="1"/>
          <p:nvPr/>
        </p:nvSpPr>
        <p:spPr>
          <a:xfrm>
            <a:off x="8577072" y="2697480"/>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Name today’s capacity.</a:t>
            </a:r>
          </a:p>
        </p:txBody>
      </p:sp>
      <p:sp>
        <p:nvSpPr>
          <p:cNvPr id="13" name="Rounded Rectangle 12"/>
          <p:cNvSpPr/>
          <p:nvPr/>
        </p:nvSpPr>
        <p:spPr>
          <a:xfrm>
            <a:off x="621792" y="3977639"/>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jpg"/>
          <p:cNvPicPr>
            <a:picLocks noChangeAspect="1"/>
          </p:cNvPicPr>
          <p:nvPr/>
        </p:nvPicPr>
        <p:blipFill>
          <a:blip r:embed="rId5"/>
          <a:srcRect l="11729" r="11729"/>
          <a:stretch>
            <a:fillRect/>
          </a:stretch>
        </p:blipFill>
        <p:spPr>
          <a:xfrm>
            <a:off x="768096" y="4123944"/>
            <a:ext cx="1965960" cy="1444752"/>
          </a:xfrm>
          <a:prstGeom prst="rect">
            <a:avLst/>
          </a:prstGeom>
        </p:spPr>
      </p:pic>
      <p:sp>
        <p:nvSpPr>
          <p:cNvPr id="15" name="TextBox 14"/>
          <p:cNvSpPr txBox="1"/>
          <p:nvPr/>
        </p:nvSpPr>
        <p:spPr>
          <a:xfrm>
            <a:off x="2953512" y="4261103"/>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My Day</a:t>
            </a:r>
          </a:p>
        </p:txBody>
      </p:sp>
      <p:sp>
        <p:nvSpPr>
          <p:cNvPr id="16" name="TextBox 15"/>
          <p:cNvSpPr txBox="1"/>
          <p:nvPr/>
        </p:nvSpPr>
        <p:spPr>
          <a:xfrm>
            <a:off x="2953512" y="4754879"/>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See what is real today.</a:t>
            </a:r>
          </a:p>
        </p:txBody>
      </p:sp>
      <p:sp>
        <p:nvSpPr>
          <p:cNvPr id="17" name="Rounded Rectangle 16"/>
          <p:cNvSpPr/>
          <p:nvPr/>
        </p:nvSpPr>
        <p:spPr>
          <a:xfrm>
            <a:off x="6245352" y="3977639"/>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jpg"/>
          <p:cNvPicPr>
            <a:picLocks noChangeAspect="1"/>
          </p:cNvPicPr>
          <p:nvPr/>
        </p:nvPicPr>
        <p:blipFill>
          <a:blip r:embed="rId6"/>
          <a:srcRect l="11729" r="11729"/>
          <a:stretch>
            <a:fillRect/>
          </a:stretch>
        </p:blipFill>
        <p:spPr>
          <a:xfrm>
            <a:off x="6391656" y="4123944"/>
            <a:ext cx="1965960" cy="1444752"/>
          </a:xfrm>
          <a:prstGeom prst="rect">
            <a:avLst/>
          </a:prstGeom>
        </p:spPr>
      </p:pic>
      <p:sp>
        <p:nvSpPr>
          <p:cNvPr id="19" name="TextBox 18"/>
          <p:cNvSpPr txBox="1"/>
          <p:nvPr/>
        </p:nvSpPr>
        <p:spPr>
          <a:xfrm>
            <a:off x="8577072" y="4261103"/>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Flow / FlowPlan</a:t>
            </a:r>
          </a:p>
        </p:txBody>
      </p:sp>
      <p:sp>
        <p:nvSpPr>
          <p:cNvPr id="20" name="TextBox 19"/>
          <p:cNvSpPr txBox="1"/>
          <p:nvPr/>
        </p:nvSpPr>
        <p:spPr>
          <a:xfrm>
            <a:off x="8577072" y="4754879"/>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Find the next reasonable step.</a:t>
            </a:r>
          </a:p>
        </p:txBody>
      </p:sp>
      <p:sp>
        <p:nvSpPr>
          <p:cNvPr id="21" name="TextBox 20"/>
          <p:cNvSpPr txBox="1"/>
          <p:nvPr/>
        </p:nvSpPr>
        <p:spPr>
          <a:xfrm>
            <a:off x="658368" y="6172200"/>
            <a:ext cx="10789920" cy="320040"/>
          </a:xfrm>
          <a:prstGeom prst="rect">
            <a:avLst/>
          </a:prstGeom>
          <a:noFill/>
        </p:spPr>
        <p:txBody>
          <a:bodyPr wrap="square" lIns="0" rIns="0" tIns="0" bIns="0" anchor="t">
            <a:spAutoFit/>
          </a:bodyPr>
          <a:lstStyle/>
          <a:p>
            <a:pPr algn="ctr">
              <a:defRPr sz="1700" b="1" i="0">
                <a:solidFill>
                  <a:srgbClr val="7653C6"/>
                </a:solidFill>
                <a:latin typeface="Aptos Display"/>
              </a:defRPr>
            </a:pPr>
            <a:r>
              <a:t>Complex underneath. Deliberately simple on the surface. Google and Outlook calendar sync included.</a:t>
            </a:r>
          </a:p>
        </p:txBody>
      </p:sp>
      <p:sp>
        <p:nvSpPr>
          <p:cNvPr id="22" name="TextBox 21"/>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3" name="TextBox 22"/>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pic>
        <p:nvPicPr>
          <p:cNvPr id="2" name="Picture 1" descr="image.jpg"/>
          <p:cNvPicPr>
            <a:picLocks noChangeAspect="1"/>
          </p:cNvPicPr>
          <p:nvPr/>
        </p:nvPicPr>
        <p:blipFill>
          <a:blip r:embed="rId3"/>
          <a:srcRect l="1" r="1"/>
          <a:stretch>
            <a:fillRect/>
          </a:stretch>
        </p:blipFill>
        <p:spPr>
          <a:xfrm>
            <a:off x="0" y="0"/>
            <a:ext cx="12191695" cy="6858000"/>
          </a:xfrm>
          <a:prstGeom prst="rect">
            <a:avLst/>
          </a:prstGeom>
        </p:spPr>
      </p:pic>
      <p:sp>
        <p:nvSpPr>
          <p:cNvPr id="3" name="Rounded Rectangle 2"/>
          <p:cNvSpPr/>
          <p:nvPr/>
        </p:nvSpPr>
        <p:spPr>
          <a:xfrm>
            <a:off x="411480" y="320040"/>
            <a:ext cx="2971800" cy="438912"/>
          </a:xfrm>
          <a:prstGeom prst="roundRect">
            <a:avLst/>
          </a:prstGeom>
          <a:solidFill>
            <a:srgbClr val="2F23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438912"/>
            <a:ext cx="2651760" cy="164592"/>
          </a:xfrm>
          <a:prstGeom prst="rect">
            <a:avLst/>
          </a:prstGeom>
          <a:noFill/>
        </p:spPr>
        <p:txBody>
          <a:bodyPr wrap="square" lIns="0" rIns="0" tIns="0" bIns="0" anchor="t">
            <a:spAutoFit/>
          </a:bodyPr>
          <a:lstStyle/>
          <a:p>
            <a:pPr algn="l">
              <a:defRPr sz="1100" b="1" i="0">
                <a:solidFill>
                  <a:srgbClr val="FFFFFF"/>
                </a:solidFill>
                <a:latin typeface="Aptos Display"/>
              </a:defRPr>
            </a:pPr>
            <a:r>
              <a:t>WHY MYFLOVE IS DIFFERENT</a:t>
            </a:r>
          </a:p>
        </p:txBody>
      </p:sp>
      <p:sp>
        <p:nvSpPr>
          <p:cNvPr id="5" name="Rounded Rectangle 4"/>
          <p:cNvSpPr/>
          <p:nvPr/>
        </p:nvSpPr>
        <p:spPr>
          <a:xfrm>
            <a:off x="8961120" y="5989320"/>
            <a:ext cx="2606040" cy="384048"/>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25712" y="6099048"/>
            <a:ext cx="2286000" cy="164592"/>
          </a:xfrm>
          <a:prstGeom prst="rect">
            <a:avLst/>
          </a:prstGeom>
          <a:noFill/>
        </p:spPr>
        <p:txBody>
          <a:bodyPr wrap="square" lIns="0" rIns="0" tIns="0" bIns="0" anchor="t">
            <a:spAutoFit/>
          </a:bodyPr>
          <a:lstStyle/>
          <a:p>
            <a:pPr algn="ctr">
              <a:defRPr sz="1100" b="1" i="0">
                <a:solidFill>
                  <a:srgbClr val="FFFFFF"/>
                </a:solidFill>
                <a:latin typeface="Aptos Display"/>
              </a:defRPr>
            </a:pPr>
            <a:r>
              <a:t>The system adapts to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MARKET OPPORTUNITY</a:t>
            </a:r>
          </a:p>
        </p:txBody>
      </p:sp>
      <p:sp>
        <p:nvSpPr>
          <p:cNvPr id="3" name="TextBox 2"/>
          <p:cNvSpPr txBox="1"/>
          <p:nvPr/>
        </p:nvSpPr>
        <p:spPr>
          <a:xfrm>
            <a:off x="658368" y="1051560"/>
            <a:ext cx="5669280" cy="1097280"/>
          </a:xfrm>
          <a:prstGeom prst="rect">
            <a:avLst/>
          </a:prstGeom>
          <a:noFill/>
        </p:spPr>
        <p:txBody>
          <a:bodyPr wrap="square" lIns="0" rIns="0" tIns="0" bIns="0" anchor="t">
            <a:spAutoFit/>
          </a:bodyPr>
          <a:lstStyle/>
          <a:p>
            <a:pPr algn="l">
              <a:defRPr sz="3500" b="1" i="0">
                <a:solidFill>
                  <a:srgbClr val="FFFFFF"/>
                </a:solidFill>
                <a:latin typeface="Aptos Display"/>
              </a:defRPr>
            </a:pPr>
            <a:r>
              <a:t>One capacity problem.</a:t>
            </a:r>
            <a:br/>
            <a:r>
              <a:t>Three routes to scale.</a:t>
            </a:r>
          </a:p>
        </p:txBody>
      </p:sp>
      <p:sp>
        <p:nvSpPr>
          <p:cNvPr id="4" name="TextBox 3"/>
          <p:cNvSpPr txBox="1"/>
          <p:nvPr/>
        </p:nvSpPr>
        <p:spPr>
          <a:xfrm>
            <a:off x="685800" y="2423160"/>
            <a:ext cx="5074920" cy="777240"/>
          </a:xfrm>
          <a:prstGeom prst="rect">
            <a:avLst/>
          </a:prstGeom>
          <a:noFill/>
        </p:spPr>
        <p:txBody>
          <a:bodyPr wrap="square" lIns="0" rIns="0" tIns="0" bIns="0" anchor="t">
            <a:spAutoFit/>
          </a:bodyPr>
          <a:lstStyle/>
          <a:p>
            <a:pPr algn="l">
              <a:defRPr sz="1800" b="0" i="0">
                <a:solidFill>
                  <a:srgbClr val="D9CCE9"/>
                </a:solidFill>
                <a:latin typeface="Aptos"/>
              </a:defRPr>
            </a:pPr>
            <a:r>
              <a:t>A scalable platform for people with high mental load and complex everyday demands.</a:t>
            </a:r>
          </a:p>
        </p:txBody>
      </p:sp>
      <p:sp>
        <p:nvSpPr>
          <p:cNvPr id="5" name="Rounded Rectangle 4"/>
          <p:cNvSpPr/>
          <p:nvPr/>
        </p:nvSpPr>
        <p:spPr>
          <a:xfrm>
            <a:off x="6446520" y="914400"/>
            <a:ext cx="1325880" cy="4297680"/>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11112" y="1170432"/>
            <a:ext cx="996695" cy="274320"/>
          </a:xfrm>
          <a:prstGeom prst="rect">
            <a:avLst/>
          </a:prstGeom>
          <a:noFill/>
        </p:spPr>
        <p:txBody>
          <a:bodyPr wrap="square" lIns="0" rIns="0" tIns="0" bIns="0" anchor="t">
            <a:spAutoFit/>
          </a:bodyPr>
          <a:lstStyle/>
          <a:p>
            <a:pPr algn="l">
              <a:defRPr sz="1600" b="1" i="0">
                <a:solidFill>
                  <a:srgbClr val="2F2345"/>
                </a:solidFill>
                <a:latin typeface="Aptos Display"/>
              </a:defRPr>
            </a:pPr>
            <a:r>
              <a:t>B2C</a:t>
            </a:r>
          </a:p>
        </p:txBody>
      </p:sp>
      <p:sp>
        <p:nvSpPr>
          <p:cNvPr id="7" name="TextBox 6"/>
          <p:cNvSpPr txBox="1"/>
          <p:nvPr/>
        </p:nvSpPr>
        <p:spPr>
          <a:xfrm>
            <a:off x="6611112" y="1682496"/>
            <a:ext cx="996695" cy="457200"/>
          </a:xfrm>
          <a:prstGeom prst="rect">
            <a:avLst/>
          </a:prstGeom>
          <a:noFill/>
        </p:spPr>
        <p:txBody>
          <a:bodyPr wrap="square" lIns="0" rIns="0" tIns="0" bIns="0" anchor="t">
            <a:spAutoFit/>
          </a:bodyPr>
          <a:lstStyle/>
          <a:p>
            <a:pPr algn="l">
              <a:defRPr sz="1300" b="1" i="0">
                <a:solidFill>
                  <a:srgbClr val="2F2345"/>
                </a:solidFill>
                <a:latin typeface="Aptos Display"/>
              </a:defRPr>
            </a:pPr>
            <a:r>
              <a:t>People</a:t>
            </a:r>
          </a:p>
        </p:txBody>
      </p:sp>
      <p:sp>
        <p:nvSpPr>
          <p:cNvPr id="8" name="TextBox 7"/>
          <p:cNvSpPr txBox="1"/>
          <p:nvPr/>
        </p:nvSpPr>
        <p:spPr>
          <a:xfrm>
            <a:off x="6611112" y="4526280"/>
            <a:ext cx="996695" cy="292608"/>
          </a:xfrm>
          <a:prstGeom prst="rect">
            <a:avLst/>
          </a:prstGeom>
          <a:noFill/>
        </p:spPr>
        <p:txBody>
          <a:bodyPr wrap="square" lIns="0" rIns="0" tIns="0" bIns="0" anchor="t">
            <a:spAutoFit/>
          </a:bodyPr>
          <a:lstStyle/>
          <a:p>
            <a:pPr algn="l">
              <a:defRPr sz="1100" b="1" i="0">
                <a:solidFill>
                  <a:srgbClr val="6E6382"/>
                </a:solidFill>
                <a:latin typeface="Aptos Display"/>
              </a:defRPr>
            </a:pPr>
            <a:r>
              <a:t>Start here</a:t>
            </a:r>
          </a:p>
        </p:txBody>
      </p:sp>
      <p:sp>
        <p:nvSpPr>
          <p:cNvPr id="9" name="Rounded Rectangle 8"/>
          <p:cNvSpPr/>
          <p:nvPr/>
        </p:nvSpPr>
        <p:spPr>
          <a:xfrm>
            <a:off x="8046720" y="1481328"/>
            <a:ext cx="1709928" cy="3730752"/>
          </a:xfrm>
          <a:prstGeom prst="roundRect">
            <a:avLst/>
          </a:prstGeom>
          <a:solidFill>
            <a:srgbClr val="DDE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1737360"/>
            <a:ext cx="1380743" cy="274320"/>
          </a:xfrm>
          <a:prstGeom prst="rect">
            <a:avLst/>
          </a:prstGeom>
          <a:noFill/>
        </p:spPr>
        <p:txBody>
          <a:bodyPr wrap="square" lIns="0" rIns="0" tIns="0" bIns="0" anchor="t">
            <a:spAutoFit/>
          </a:bodyPr>
          <a:lstStyle/>
          <a:p>
            <a:pPr algn="l">
              <a:defRPr sz="1600" b="1" i="0">
                <a:solidFill>
                  <a:srgbClr val="2F2345"/>
                </a:solidFill>
                <a:latin typeface="Aptos Display"/>
              </a:defRPr>
            </a:pPr>
            <a:r>
              <a:t>B2B</a:t>
            </a:r>
          </a:p>
        </p:txBody>
      </p:sp>
      <p:sp>
        <p:nvSpPr>
          <p:cNvPr id="11" name="TextBox 10"/>
          <p:cNvSpPr txBox="1"/>
          <p:nvPr/>
        </p:nvSpPr>
        <p:spPr>
          <a:xfrm>
            <a:off x="8211312" y="2249424"/>
            <a:ext cx="1380743" cy="457200"/>
          </a:xfrm>
          <a:prstGeom prst="rect">
            <a:avLst/>
          </a:prstGeom>
          <a:noFill/>
        </p:spPr>
        <p:txBody>
          <a:bodyPr wrap="square" lIns="0" rIns="0" tIns="0" bIns="0" anchor="t">
            <a:spAutoFit/>
          </a:bodyPr>
          <a:lstStyle/>
          <a:p>
            <a:pPr algn="l">
              <a:defRPr sz="1300" b="1" i="0">
                <a:solidFill>
                  <a:srgbClr val="2F2345"/>
                </a:solidFill>
                <a:latin typeface="Aptos Display"/>
              </a:defRPr>
            </a:pPr>
            <a:r>
              <a:t>Employers</a:t>
            </a:r>
          </a:p>
        </p:txBody>
      </p:sp>
      <p:sp>
        <p:nvSpPr>
          <p:cNvPr id="12" name="TextBox 11"/>
          <p:cNvSpPr txBox="1"/>
          <p:nvPr/>
        </p:nvSpPr>
        <p:spPr>
          <a:xfrm>
            <a:off x="8211312" y="4526280"/>
            <a:ext cx="1380743" cy="292608"/>
          </a:xfrm>
          <a:prstGeom prst="rect">
            <a:avLst/>
          </a:prstGeom>
          <a:noFill/>
        </p:spPr>
        <p:txBody>
          <a:bodyPr wrap="square" lIns="0" rIns="0" tIns="0" bIns="0" anchor="t">
            <a:spAutoFit/>
          </a:bodyPr>
          <a:lstStyle/>
          <a:p>
            <a:pPr algn="l">
              <a:defRPr sz="1100" b="1" i="0">
                <a:solidFill>
                  <a:srgbClr val="6E6382"/>
                </a:solidFill>
                <a:latin typeface="Aptos Display"/>
              </a:defRPr>
            </a:pPr>
            <a:r>
              <a:t>Expand next</a:t>
            </a:r>
          </a:p>
        </p:txBody>
      </p:sp>
      <p:sp>
        <p:nvSpPr>
          <p:cNvPr id="13" name="Rounded Rectangle 12"/>
          <p:cNvSpPr/>
          <p:nvPr/>
        </p:nvSpPr>
        <p:spPr>
          <a:xfrm>
            <a:off x="9646920" y="2048256"/>
            <a:ext cx="2093976" cy="3163824"/>
          </a:xfrm>
          <a:prstGeom prst="roundRect">
            <a:avLst/>
          </a:prstGeom>
          <a:solidFill>
            <a:srgbClr val="E9D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11512" y="2304288"/>
            <a:ext cx="1764792" cy="274320"/>
          </a:xfrm>
          <a:prstGeom prst="rect">
            <a:avLst/>
          </a:prstGeom>
          <a:noFill/>
        </p:spPr>
        <p:txBody>
          <a:bodyPr wrap="square" lIns="0" rIns="0" tIns="0" bIns="0" anchor="t">
            <a:spAutoFit/>
          </a:bodyPr>
          <a:lstStyle/>
          <a:p>
            <a:pPr algn="l">
              <a:defRPr sz="1600" b="1" i="0">
                <a:solidFill>
                  <a:srgbClr val="2F2345"/>
                </a:solidFill>
                <a:latin typeface="Aptos Display"/>
              </a:defRPr>
            </a:pPr>
            <a:r>
              <a:t>B2G</a:t>
            </a:r>
          </a:p>
        </p:txBody>
      </p:sp>
      <p:sp>
        <p:nvSpPr>
          <p:cNvPr id="15" name="TextBox 14"/>
          <p:cNvSpPr txBox="1"/>
          <p:nvPr/>
        </p:nvSpPr>
        <p:spPr>
          <a:xfrm>
            <a:off x="9811512" y="2816352"/>
            <a:ext cx="1764792" cy="457200"/>
          </a:xfrm>
          <a:prstGeom prst="rect">
            <a:avLst/>
          </a:prstGeom>
          <a:noFill/>
        </p:spPr>
        <p:txBody>
          <a:bodyPr wrap="square" lIns="0" rIns="0" tIns="0" bIns="0" anchor="t">
            <a:spAutoFit/>
          </a:bodyPr>
          <a:lstStyle/>
          <a:p>
            <a:pPr algn="l">
              <a:defRPr sz="1300" b="1" i="0">
                <a:solidFill>
                  <a:srgbClr val="2F2345"/>
                </a:solidFill>
                <a:latin typeface="Aptos Display"/>
              </a:defRPr>
            </a:pPr>
            <a:r>
              <a:t>Public sector</a:t>
            </a:r>
          </a:p>
        </p:txBody>
      </p:sp>
      <p:sp>
        <p:nvSpPr>
          <p:cNvPr id="16" name="TextBox 15"/>
          <p:cNvSpPr txBox="1"/>
          <p:nvPr/>
        </p:nvSpPr>
        <p:spPr>
          <a:xfrm>
            <a:off x="9811512" y="4526280"/>
            <a:ext cx="1764792" cy="292608"/>
          </a:xfrm>
          <a:prstGeom prst="rect">
            <a:avLst/>
          </a:prstGeom>
          <a:noFill/>
        </p:spPr>
        <p:txBody>
          <a:bodyPr wrap="square" lIns="0" rIns="0" tIns="0" bIns="0" anchor="t">
            <a:spAutoFit/>
          </a:bodyPr>
          <a:lstStyle/>
          <a:p>
            <a:pPr algn="l">
              <a:defRPr sz="1100" b="1" i="0">
                <a:solidFill>
                  <a:srgbClr val="6E6382"/>
                </a:solidFill>
                <a:latin typeface="Aptos Display"/>
              </a:defRPr>
            </a:pPr>
            <a:r>
              <a:t>Scale later</a:t>
            </a:r>
          </a:p>
        </p:txBody>
      </p:sp>
      <p:sp>
        <p:nvSpPr>
          <p:cNvPr id="17" name="TextBox 16"/>
          <p:cNvSpPr txBox="1"/>
          <p:nvPr/>
        </p:nvSpPr>
        <p:spPr>
          <a:xfrm>
            <a:off x="658368" y="5650992"/>
            <a:ext cx="10835640" cy="521207"/>
          </a:xfrm>
          <a:prstGeom prst="rect">
            <a:avLst/>
          </a:prstGeom>
          <a:noFill/>
        </p:spPr>
        <p:txBody>
          <a:bodyPr wrap="square" lIns="0" rIns="0" tIns="0" bIns="0" anchor="t">
            <a:spAutoFit/>
          </a:bodyPr>
          <a:lstStyle/>
          <a:p>
            <a:pPr algn="l">
              <a:defRPr sz="1000" b="0" i="0">
                <a:solidFill>
                  <a:srgbClr val="CFC2DF"/>
                </a:solidFill>
                <a:latin typeface="Aptos"/>
              </a:defRPr>
            </a:pPr>
            <a:r>
              <a:t>External reference points: adult ADHD prevalence ≈2.58% globally (PubMed, 2021), ≈3% in Sweden (Socialstyrelsen); ADHD app market $1.9B in 2025 → $6.7B by 2033 (Grand View Research). Not MyFlove user or revenue figures.</a:t>
            </a:r>
          </a:p>
        </p:txBody>
      </p:sp>
      <p:sp>
        <p:nvSpPr>
          <p:cNvPr id="18" name="TextBox 17"/>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9" name="TextBox 18"/>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TRACTION &amp; VALIDATION</a:t>
            </a:r>
          </a:p>
        </p:txBody>
      </p:sp>
      <p:sp>
        <p:nvSpPr>
          <p:cNvPr id="3" name="TextBox 2"/>
          <p:cNvSpPr txBox="1"/>
          <p:nvPr/>
        </p:nvSpPr>
        <p:spPr>
          <a:xfrm>
            <a:off x="640080" y="914400"/>
            <a:ext cx="5029200" cy="548640"/>
          </a:xfrm>
          <a:prstGeom prst="rect">
            <a:avLst/>
          </a:prstGeom>
          <a:noFill/>
        </p:spPr>
        <p:txBody>
          <a:bodyPr wrap="square" lIns="0" rIns="0" tIns="0" bIns="0" anchor="t">
            <a:spAutoFit/>
          </a:bodyPr>
          <a:lstStyle/>
          <a:p>
            <a:pPr algn="l">
              <a:defRPr sz="3100" b="1" i="0">
                <a:solidFill>
                  <a:srgbClr val="2F2345"/>
                </a:solidFill>
                <a:latin typeface="Aptos Display"/>
              </a:defRPr>
            </a:pPr>
            <a:r>
              <a:t>From product to proof.</a:t>
            </a:r>
          </a:p>
        </p:txBody>
      </p:sp>
      <p:sp>
        <p:nvSpPr>
          <p:cNvPr id="4" name="TextBox 3"/>
          <p:cNvSpPr txBox="1"/>
          <p:nvPr/>
        </p:nvSpPr>
        <p:spPr>
          <a:xfrm>
            <a:off x="658368" y="1691640"/>
            <a:ext cx="2743200" cy="1097280"/>
          </a:xfrm>
          <a:prstGeom prst="rect">
            <a:avLst/>
          </a:prstGeom>
          <a:noFill/>
        </p:spPr>
        <p:txBody>
          <a:bodyPr wrap="square" lIns="0" rIns="0" tIns="0" bIns="0" anchor="t">
            <a:spAutoFit/>
          </a:bodyPr>
          <a:lstStyle/>
          <a:p>
            <a:pPr algn="l">
              <a:defRPr sz="6800" b="1" i="0">
                <a:solidFill>
                  <a:srgbClr val="7653C6"/>
                </a:solidFill>
                <a:latin typeface="Aptos Display"/>
              </a:defRPr>
            </a:pPr>
            <a:r>
              <a:t>48</a:t>
            </a:r>
          </a:p>
        </p:txBody>
      </p:sp>
      <p:sp>
        <p:nvSpPr>
          <p:cNvPr id="5" name="TextBox 4"/>
          <p:cNvSpPr txBox="1"/>
          <p:nvPr/>
        </p:nvSpPr>
        <p:spPr>
          <a:xfrm>
            <a:off x="731520" y="2743200"/>
            <a:ext cx="4114800" cy="411480"/>
          </a:xfrm>
          <a:prstGeom prst="rect">
            <a:avLst/>
          </a:prstGeom>
          <a:noFill/>
        </p:spPr>
        <p:txBody>
          <a:bodyPr wrap="square" lIns="0" rIns="0" tIns="0" bIns="0" anchor="t">
            <a:spAutoFit/>
          </a:bodyPr>
          <a:lstStyle/>
          <a:p>
            <a:pPr algn="l">
              <a:defRPr sz="1900" b="1" i="0">
                <a:solidFill>
                  <a:srgbClr val="2F2345"/>
                </a:solidFill>
                <a:latin typeface="Aptos Display"/>
              </a:defRPr>
            </a:pPr>
            <a:r>
              <a:t>users on a functioning MVP</a:t>
            </a:r>
          </a:p>
        </p:txBody>
      </p:sp>
      <p:sp>
        <p:nvSpPr>
          <p:cNvPr id="6" name="Rounded Rectangle 5"/>
          <p:cNvSpPr/>
          <p:nvPr/>
        </p:nvSpPr>
        <p:spPr>
          <a:xfrm>
            <a:off x="658368" y="3383280"/>
            <a:ext cx="4434840" cy="1508760"/>
          </a:xfrm>
          <a:prstGeom prst="roundRect">
            <a:avLst/>
          </a:prstGeom>
          <a:solidFill>
            <a:srgbClr val="FFFFFF"/>
          </a:solidFill>
          <a:ln w="12700">
            <a:solidFill>
              <a:srgbClr val="E4D7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639312"/>
            <a:ext cx="2011680" cy="274320"/>
          </a:xfrm>
          <a:prstGeom prst="rect">
            <a:avLst/>
          </a:prstGeom>
          <a:noFill/>
        </p:spPr>
        <p:txBody>
          <a:bodyPr wrap="square" lIns="0" rIns="0" tIns="0" bIns="0" anchor="t">
            <a:spAutoFit/>
          </a:bodyPr>
          <a:lstStyle/>
          <a:p>
            <a:pPr algn="l">
              <a:defRPr sz="1200" b="1" i="0">
                <a:solidFill>
                  <a:srgbClr val="A63D70"/>
                </a:solidFill>
                <a:latin typeface="Aptos Display"/>
              </a:defRPr>
            </a:pPr>
            <a:r>
              <a:t>MEASURING NOW</a:t>
            </a:r>
          </a:p>
        </p:txBody>
      </p:sp>
      <p:sp>
        <p:nvSpPr>
          <p:cNvPr id="8" name="TextBox 7"/>
          <p:cNvSpPr txBox="1"/>
          <p:nvPr/>
        </p:nvSpPr>
        <p:spPr>
          <a:xfrm>
            <a:off x="914400" y="4041648"/>
            <a:ext cx="3886200" cy="658368"/>
          </a:xfrm>
          <a:prstGeom prst="rect">
            <a:avLst/>
          </a:prstGeom>
          <a:noFill/>
        </p:spPr>
        <p:txBody>
          <a:bodyPr wrap="square" lIns="0" rIns="0" tIns="0" bIns="0" anchor="t">
            <a:spAutoFit/>
          </a:bodyPr>
          <a:lstStyle/>
          <a:p>
            <a:pPr algn="l">
              <a:defRPr sz="1400" b="0" i="0">
                <a:solidFill>
                  <a:srgbClr val="6E6382"/>
                </a:solidFill>
                <a:latin typeface="Aptos"/>
              </a:defRPr>
            </a:pPr>
            <a:r>
              <a:t>Recurring use · mental load · sense of control · prioritisation · ability to get started · willingness to pay</a:t>
            </a:r>
          </a:p>
        </p:txBody>
      </p:sp>
      <p:sp>
        <p:nvSpPr>
          <p:cNvPr id="9" name="Rounded Rectangle 8"/>
          <p:cNvSpPr/>
          <p:nvPr/>
        </p:nvSpPr>
        <p:spPr>
          <a:xfrm>
            <a:off x="7040880" y="521208"/>
            <a:ext cx="3026664" cy="458114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yflove-demo-flow-phone.jpg"/>
          <p:cNvPicPr>
            <a:picLocks noChangeAspect="1"/>
          </p:cNvPicPr>
          <p:nvPr/>
        </p:nvPicPr>
        <p:blipFill>
          <a:blip r:embed="rId4"/>
          <a:srcRect t="3964" b="3964"/>
          <a:stretch>
            <a:fillRect/>
          </a:stretch>
        </p:blipFill>
        <p:spPr>
          <a:xfrm>
            <a:off x="7114032" y="594360"/>
            <a:ext cx="2880360" cy="4434840"/>
          </a:xfrm>
          <a:prstGeom prst="rect">
            <a:avLst/>
          </a:prstGeom>
        </p:spPr>
      </p:pic>
      <p:sp>
        <p:nvSpPr>
          <p:cNvPr id="11" name="Rounded Rectangle 10"/>
          <p:cNvSpPr/>
          <p:nvPr/>
        </p:nvSpPr>
        <p:spPr>
          <a:xfrm>
            <a:off x="5577840" y="5303520"/>
            <a:ext cx="5897880" cy="676656"/>
          </a:xfrm>
          <a:prstGeom prst="roundRect">
            <a:avLst/>
          </a:prstGeom>
          <a:solidFill>
            <a:srgbClr val="FCEA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70448" y="5486400"/>
            <a:ext cx="5349240" cy="310896"/>
          </a:xfrm>
          <a:prstGeom prst="rect">
            <a:avLst/>
          </a:prstGeom>
          <a:noFill/>
        </p:spPr>
        <p:txBody>
          <a:bodyPr wrap="square" lIns="0" rIns="0" tIns="0" bIns="0" anchor="t">
            <a:spAutoFit/>
          </a:bodyPr>
          <a:lstStyle/>
          <a:p>
            <a:pPr algn="ctr">
              <a:defRPr sz="1300" b="1" i="0">
                <a:solidFill>
                  <a:srgbClr val="2F2345"/>
                </a:solidFill>
                <a:latin typeface="Aptos Display"/>
              </a:defRPr>
            </a:pPr>
            <a:r>
              <a:t>No paying customers or clinical outcomes claimed — those are what we are now measuring.</a:t>
            </a:r>
          </a:p>
        </p:txBody>
      </p:sp>
      <p:sp>
        <p:nvSpPr>
          <p:cNvPr id="13" name="TextBox 12"/>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4" name="TextBox 13"/>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BUSINESS MODEL &amp; GO-TO-MARKET</a:t>
            </a:r>
          </a:p>
        </p:txBody>
      </p:sp>
      <p:sp>
        <p:nvSpPr>
          <p:cNvPr id="3" name="TextBox 2"/>
          <p:cNvSpPr txBox="1"/>
          <p:nvPr/>
        </p:nvSpPr>
        <p:spPr>
          <a:xfrm>
            <a:off x="640080" y="914400"/>
            <a:ext cx="7589520" cy="566928"/>
          </a:xfrm>
          <a:prstGeom prst="rect">
            <a:avLst/>
          </a:prstGeom>
          <a:noFill/>
        </p:spPr>
        <p:txBody>
          <a:bodyPr wrap="square" lIns="0" rIns="0" tIns="0" bIns="0" anchor="t">
            <a:spAutoFit/>
          </a:bodyPr>
          <a:lstStyle/>
          <a:p>
            <a:pPr algn="l">
              <a:defRPr sz="3100" b="1" i="0">
                <a:solidFill>
                  <a:srgbClr val="2F2345"/>
                </a:solidFill>
                <a:latin typeface="Aptos Display"/>
              </a:defRPr>
            </a:pPr>
            <a:r>
              <a:t>Prove value first. Scale second.</a:t>
            </a:r>
          </a:p>
        </p:txBody>
      </p:sp>
      <p:sp>
        <p:nvSpPr>
          <p:cNvPr id="4" name="Rectangle 3"/>
          <p:cNvSpPr/>
          <p:nvPr/>
        </p:nvSpPr>
        <p:spPr>
          <a:xfrm>
            <a:off x="306324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01</a:t>
            </a:r>
          </a:p>
        </p:txBody>
      </p:sp>
      <p:sp>
        <p:nvSpPr>
          <p:cNvPr id="7" name="TextBox 6"/>
          <p:cNvSpPr txBox="1"/>
          <p:nvPr/>
        </p:nvSpPr>
        <p:spPr>
          <a:xfrm>
            <a:off x="96012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PILOT</a:t>
            </a:r>
          </a:p>
        </p:txBody>
      </p:sp>
      <p:sp>
        <p:nvSpPr>
          <p:cNvPr id="8" name="TextBox 7"/>
          <p:cNvSpPr txBox="1"/>
          <p:nvPr/>
        </p:nvSpPr>
        <p:spPr>
          <a:xfrm>
            <a:off x="96012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Structured evidence</a:t>
            </a:r>
          </a:p>
        </p:txBody>
      </p:sp>
      <p:sp>
        <p:nvSpPr>
          <p:cNvPr id="9" name="Rectangle 8"/>
          <p:cNvSpPr/>
          <p:nvPr/>
        </p:nvSpPr>
        <p:spPr>
          <a:xfrm>
            <a:off x="589788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1188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9476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02</a:t>
            </a:r>
          </a:p>
        </p:txBody>
      </p:sp>
      <p:sp>
        <p:nvSpPr>
          <p:cNvPr id="12" name="TextBox 11"/>
          <p:cNvSpPr txBox="1"/>
          <p:nvPr/>
        </p:nvSpPr>
        <p:spPr>
          <a:xfrm>
            <a:off x="379476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VALIDATE</a:t>
            </a:r>
          </a:p>
        </p:txBody>
      </p:sp>
      <p:sp>
        <p:nvSpPr>
          <p:cNvPr id="13" name="TextBox 12"/>
          <p:cNvSpPr txBox="1"/>
          <p:nvPr/>
        </p:nvSpPr>
        <p:spPr>
          <a:xfrm>
            <a:off x="379476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Use · value · price</a:t>
            </a:r>
          </a:p>
        </p:txBody>
      </p:sp>
      <p:sp>
        <p:nvSpPr>
          <p:cNvPr id="14" name="Rectangle 13"/>
          <p:cNvSpPr/>
          <p:nvPr/>
        </p:nvSpPr>
        <p:spPr>
          <a:xfrm>
            <a:off x="873252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4652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03</a:t>
            </a:r>
          </a:p>
        </p:txBody>
      </p:sp>
      <p:sp>
        <p:nvSpPr>
          <p:cNvPr id="17" name="TextBox 16"/>
          <p:cNvSpPr txBox="1"/>
          <p:nvPr/>
        </p:nvSpPr>
        <p:spPr>
          <a:xfrm>
            <a:off x="662940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B2C</a:t>
            </a:r>
          </a:p>
        </p:txBody>
      </p:sp>
      <p:sp>
        <p:nvSpPr>
          <p:cNvPr id="18" name="TextBox 17"/>
          <p:cNvSpPr txBox="1"/>
          <p:nvPr/>
        </p:nvSpPr>
        <p:spPr>
          <a:xfrm>
            <a:off x="662940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Free → Premium</a:t>
            </a:r>
          </a:p>
        </p:txBody>
      </p:sp>
      <p:sp>
        <p:nvSpPr>
          <p:cNvPr id="19" name="Rounded Rectangle 18"/>
          <p:cNvSpPr/>
          <p:nvPr/>
        </p:nvSpPr>
        <p:spPr>
          <a:xfrm>
            <a:off x="928116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6404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04</a:t>
            </a:r>
          </a:p>
        </p:txBody>
      </p:sp>
      <p:sp>
        <p:nvSpPr>
          <p:cNvPr id="21" name="TextBox 20"/>
          <p:cNvSpPr txBox="1"/>
          <p:nvPr/>
        </p:nvSpPr>
        <p:spPr>
          <a:xfrm>
            <a:off x="946404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B2B / B2G</a:t>
            </a:r>
          </a:p>
        </p:txBody>
      </p:sp>
      <p:sp>
        <p:nvSpPr>
          <p:cNvPr id="22" name="TextBox 21"/>
          <p:cNvSpPr txBox="1"/>
          <p:nvPr/>
        </p:nvSpPr>
        <p:spPr>
          <a:xfrm>
            <a:off x="946404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Scale channels</a:t>
            </a:r>
          </a:p>
        </p:txBody>
      </p:sp>
      <p:sp>
        <p:nvSpPr>
          <p:cNvPr id="23" name="Rounded Rectangle 22"/>
          <p:cNvSpPr/>
          <p:nvPr/>
        </p:nvSpPr>
        <p:spPr>
          <a:xfrm>
            <a:off x="777240" y="4251960"/>
            <a:ext cx="10652760" cy="1078992"/>
          </a:xfrm>
          <a:prstGeom prst="roundRect">
            <a:avLst/>
          </a:prstGeom>
          <a:solidFill>
            <a:srgbClr val="F3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526280"/>
            <a:ext cx="1737360" cy="256032"/>
          </a:xfrm>
          <a:prstGeom prst="rect">
            <a:avLst/>
          </a:prstGeom>
          <a:noFill/>
        </p:spPr>
        <p:txBody>
          <a:bodyPr wrap="square" lIns="0" rIns="0" tIns="0" bIns="0" anchor="t">
            <a:spAutoFit/>
          </a:bodyPr>
          <a:lstStyle/>
          <a:p>
            <a:pPr algn="l">
              <a:defRPr sz="1300" b="1" i="0">
                <a:solidFill>
                  <a:srgbClr val="7653C6"/>
                </a:solidFill>
                <a:latin typeface="Aptos Display"/>
              </a:defRPr>
            </a:pPr>
            <a:r>
              <a:t>Revenue model</a:t>
            </a:r>
          </a:p>
        </p:txBody>
      </p:sp>
      <p:sp>
        <p:nvSpPr>
          <p:cNvPr id="25" name="TextBox 24"/>
          <p:cNvSpPr txBox="1"/>
          <p:nvPr/>
        </p:nvSpPr>
        <p:spPr>
          <a:xfrm>
            <a:off x="2788920" y="4462272"/>
            <a:ext cx="8183879" cy="438912"/>
          </a:xfrm>
          <a:prstGeom prst="rect">
            <a:avLst/>
          </a:prstGeom>
          <a:noFill/>
        </p:spPr>
        <p:txBody>
          <a:bodyPr wrap="square" lIns="0" rIns="0" tIns="0" bIns="0" anchor="t">
            <a:spAutoFit/>
          </a:bodyPr>
          <a:lstStyle/>
          <a:p>
            <a:pPr algn="l">
              <a:defRPr sz="1800" b="1" i="0">
                <a:solidFill>
                  <a:srgbClr val="2F2345"/>
                </a:solidFill>
                <a:latin typeface="Aptos Display"/>
              </a:defRPr>
            </a:pPr>
            <a:r>
              <a:t>B2C subscription first · organizational offers next · pricing validated before it is set.</a:t>
            </a:r>
          </a:p>
        </p:txBody>
      </p:sp>
      <p:sp>
        <p:nvSpPr>
          <p:cNvPr id="26" name="TextBox 25"/>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7" name="TextBox 26"/>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TEAM</a:t>
            </a:r>
          </a:p>
        </p:txBody>
      </p:sp>
      <p:sp>
        <p:nvSpPr>
          <p:cNvPr id="3" name="TextBox 2"/>
          <p:cNvSpPr txBox="1"/>
          <p:nvPr/>
        </p:nvSpPr>
        <p:spPr>
          <a:xfrm>
            <a:off x="658368" y="960120"/>
            <a:ext cx="6675120" cy="1234440"/>
          </a:xfrm>
          <a:prstGeom prst="rect">
            <a:avLst/>
          </a:prstGeom>
          <a:noFill/>
        </p:spPr>
        <p:txBody>
          <a:bodyPr wrap="square" lIns="0" rIns="0" tIns="0" bIns="0" anchor="t">
            <a:spAutoFit/>
          </a:bodyPr>
          <a:lstStyle/>
          <a:p>
            <a:pPr algn="l">
              <a:defRPr sz="3400" b="1" i="0">
                <a:solidFill>
                  <a:srgbClr val="FFFFFF"/>
                </a:solidFill>
                <a:latin typeface="Aptos Display"/>
              </a:defRPr>
            </a:pPr>
            <a:r>
              <a:t>Built from lived experience</a:t>
            </a:r>
            <a:br/>
            <a:r>
              <a:t>+ professional expertise.</a:t>
            </a:r>
          </a:p>
        </p:txBody>
      </p:sp>
      <p:sp>
        <p:nvSpPr>
          <p:cNvPr id="4" name="Rounded Rectangle 3"/>
          <p:cNvSpPr/>
          <p:nvPr/>
        </p:nvSpPr>
        <p:spPr>
          <a:xfrm>
            <a:off x="7818120" y="713232"/>
            <a:ext cx="3520440" cy="4526280"/>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23960" y="1207008"/>
            <a:ext cx="1508760" cy="1234440"/>
          </a:xfrm>
          <a:prstGeom prst="rect">
            <a:avLst/>
          </a:prstGeom>
          <a:noFill/>
        </p:spPr>
        <p:txBody>
          <a:bodyPr wrap="square" lIns="0" rIns="0" tIns="0" bIns="0" anchor="ctr">
            <a:spAutoFit/>
          </a:bodyPr>
          <a:lstStyle/>
          <a:p>
            <a:pPr algn="ctr">
              <a:defRPr sz="6200" b="1" i="0">
                <a:solidFill>
                  <a:srgbClr val="2F2345"/>
                </a:solidFill>
                <a:latin typeface="Aptos Display"/>
              </a:defRPr>
            </a:pPr>
            <a:r>
              <a:t>CB</a:t>
            </a:r>
          </a:p>
        </p:txBody>
      </p:sp>
      <p:sp>
        <p:nvSpPr>
          <p:cNvPr id="6" name="TextBox 5"/>
          <p:cNvSpPr txBox="1"/>
          <p:nvPr/>
        </p:nvSpPr>
        <p:spPr>
          <a:xfrm>
            <a:off x="8275320" y="2816352"/>
            <a:ext cx="2606040" cy="384048"/>
          </a:xfrm>
          <a:prstGeom prst="rect">
            <a:avLst/>
          </a:prstGeom>
          <a:noFill/>
        </p:spPr>
        <p:txBody>
          <a:bodyPr wrap="square" lIns="0" rIns="0" tIns="0" bIns="0" anchor="t">
            <a:spAutoFit/>
          </a:bodyPr>
          <a:lstStyle/>
          <a:p>
            <a:pPr algn="ctr">
              <a:defRPr sz="2400" b="1" i="0">
                <a:solidFill>
                  <a:srgbClr val="2F2345"/>
                </a:solidFill>
                <a:latin typeface="Aptos Display"/>
              </a:defRPr>
            </a:pPr>
            <a:r>
              <a:t>Camilla Baksi</a:t>
            </a:r>
          </a:p>
        </p:txBody>
      </p:sp>
      <p:sp>
        <p:nvSpPr>
          <p:cNvPr id="7" name="TextBox 6"/>
          <p:cNvSpPr txBox="1"/>
          <p:nvPr/>
        </p:nvSpPr>
        <p:spPr>
          <a:xfrm>
            <a:off x="8275320" y="3255264"/>
            <a:ext cx="2606040" cy="292608"/>
          </a:xfrm>
          <a:prstGeom prst="rect">
            <a:avLst/>
          </a:prstGeom>
          <a:noFill/>
        </p:spPr>
        <p:txBody>
          <a:bodyPr wrap="square" lIns="0" rIns="0" tIns="0" bIns="0" anchor="t">
            <a:spAutoFit/>
          </a:bodyPr>
          <a:lstStyle/>
          <a:p>
            <a:pPr algn="ctr">
              <a:defRPr sz="1500" b="1" i="0">
                <a:solidFill>
                  <a:srgbClr val="5A476E"/>
                </a:solidFill>
                <a:latin typeface="Aptos"/>
              </a:defRPr>
            </a:pPr>
            <a:r>
              <a:t>Founder, MyFlove</a:t>
            </a:r>
          </a:p>
        </p:txBody>
      </p:sp>
      <p:sp>
        <p:nvSpPr>
          <p:cNvPr id="8" name="TextBox 7"/>
          <p:cNvSpPr txBox="1"/>
          <p:nvPr/>
        </p:nvSpPr>
        <p:spPr>
          <a:xfrm>
            <a:off x="8229600" y="3977639"/>
            <a:ext cx="2697480" cy="384048"/>
          </a:xfrm>
          <a:prstGeom prst="rect">
            <a:avLst/>
          </a:prstGeom>
          <a:noFill/>
        </p:spPr>
        <p:txBody>
          <a:bodyPr wrap="square" lIns="0" rIns="0" tIns="0" bIns="0" anchor="t">
            <a:spAutoFit/>
          </a:bodyPr>
          <a:lstStyle/>
          <a:p>
            <a:pPr algn="ctr">
              <a:defRPr sz="1400" b="1" i="0">
                <a:solidFill>
                  <a:srgbClr val="2F2345"/>
                </a:solidFill>
                <a:latin typeface="Aptos"/>
              </a:defRPr>
            </a:pPr>
            <a:r>
              <a:t>Humanistic Social Pedagogue</a:t>
            </a:r>
          </a:p>
        </p:txBody>
      </p:sp>
      <p:sp>
        <p:nvSpPr>
          <p:cNvPr id="9" name="Rounded Rectangle 8"/>
          <p:cNvSpPr/>
          <p:nvPr/>
        </p:nvSpPr>
        <p:spPr>
          <a:xfrm>
            <a:off x="685800" y="2926080"/>
            <a:ext cx="3154680" cy="1417320"/>
          </a:xfrm>
          <a:prstGeom prst="roundRect">
            <a:avLst/>
          </a:prstGeom>
          <a:solidFill>
            <a:srgbClr val="4531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3200400"/>
            <a:ext cx="2286000" cy="228600"/>
          </a:xfrm>
          <a:prstGeom prst="rect">
            <a:avLst/>
          </a:prstGeom>
          <a:noFill/>
        </p:spPr>
        <p:txBody>
          <a:bodyPr wrap="square" lIns="0" rIns="0" tIns="0" bIns="0" anchor="t">
            <a:spAutoFit/>
          </a:bodyPr>
          <a:lstStyle/>
          <a:p>
            <a:pPr algn="l">
              <a:defRPr sz="1100" b="1" i="0">
                <a:solidFill>
                  <a:srgbClr val="F2BED8"/>
                </a:solidFill>
                <a:latin typeface="Aptos Display"/>
              </a:defRPr>
            </a:pPr>
            <a:r>
              <a:t>PROFESSIONAL</a:t>
            </a:r>
          </a:p>
        </p:txBody>
      </p:sp>
      <p:sp>
        <p:nvSpPr>
          <p:cNvPr id="11" name="TextBox 10"/>
          <p:cNvSpPr txBox="1"/>
          <p:nvPr/>
        </p:nvSpPr>
        <p:spPr>
          <a:xfrm>
            <a:off x="941832" y="3611880"/>
            <a:ext cx="2560320" cy="475488"/>
          </a:xfrm>
          <a:prstGeom prst="rect">
            <a:avLst/>
          </a:prstGeom>
          <a:noFill/>
        </p:spPr>
        <p:txBody>
          <a:bodyPr wrap="square" lIns="0" rIns="0" tIns="0" bIns="0" anchor="t">
            <a:spAutoFit/>
          </a:bodyPr>
          <a:lstStyle/>
          <a:p>
            <a:pPr algn="l">
              <a:defRPr sz="1500" b="1" i="0">
                <a:solidFill>
                  <a:srgbClr val="FFFFFF"/>
                </a:solidFill>
                <a:latin typeface="Aptos"/>
              </a:defRPr>
            </a:pPr>
            <a:r>
              <a:t>Youth coach · support worker · childcare worker</a:t>
            </a:r>
          </a:p>
        </p:txBody>
      </p:sp>
      <p:sp>
        <p:nvSpPr>
          <p:cNvPr id="12" name="Rounded Rectangle 11"/>
          <p:cNvSpPr/>
          <p:nvPr/>
        </p:nvSpPr>
        <p:spPr>
          <a:xfrm>
            <a:off x="4096512" y="2926080"/>
            <a:ext cx="3154680" cy="1417320"/>
          </a:xfrm>
          <a:prstGeom prst="roundRect">
            <a:avLst/>
          </a:prstGeom>
          <a:solidFill>
            <a:srgbClr val="4531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3200400"/>
            <a:ext cx="2286000" cy="228600"/>
          </a:xfrm>
          <a:prstGeom prst="rect">
            <a:avLst/>
          </a:prstGeom>
          <a:noFill/>
        </p:spPr>
        <p:txBody>
          <a:bodyPr wrap="square" lIns="0" rIns="0" tIns="0" bIns="0" anchor="t">
            <a:spAutoFit/>
          </a:bodyPr>
          <a:lstStyle/>
          <a:p>
            <a:pPr algn="l">
              <a:defRPr sz="1100" b="1" i="0">
                <a:solidFill>
                  <a:srgbClr val="F2BED8"/>
                </a:solidFill>
                <a:latin typeface="Aptos Display"/>
              </a:defRPr>
            </a:pPr>
            <a:r>
              <a:t>FOUNDER INSIGHT</a:t>
            </a:r>
          </a:p>
        </p:txBody>
      </p:sp>
      <p:sp>
        <p:nvSpPr>
          <p:cNvPr id="14" name="TextBox 13"/>
          <p:cNvSpPr txBox="1"/>
          <p:nvPr/>
        </p:nvSpPr>
        <p:spPr>
          <a:xfrm>
            <a:off x="4352544" y="3611880"/>
            <a:ext cx="2560320" cy="530352"/>
          </a:xfrm>
          <a:prstGeom prst="rect">
            <a:avLst/>
          </a:prstGeom>
          <a:noFill/>
        </p:spPr>
        <p:txBody>
          <a:bodyPr wrap="square" lIns="0" rIns="0" tIns="0" bIns="0" anchor="t">
            <a:spAutoFit/>
          </a:bodyPr>
          <a:lstStyle/>
          <a:p>
            <a:pPr algn="l">
              <a:defRPr sz="1500" b="1" i="0">
                <a:solidFill>
                  <a:srgbClr val="FFFFFF"/>
                </a:solidFill>
                <a:latin typeface="Aptos"/>
              </a:defRPr>
            </a:pPr>
            <a:r>
              <a:t>Professional knowledge + lived experience + product development</a:t>
            </a:r>
          </a:p>
        </p:txBody>
      </p:sp>
      <p:sp>
        <p:nvSpPr>
          <p:cNvPr id="15" name="TextBox 14"/>
          <p:cNvSpPr txBox="1"/>
          <p:nvPr/>
        </p:nvSpPr>
        <p:spPr>
          <a:xfrm>
            <a:off x="713232" y="4846320"/>
            <a:ext cx="6400800" cy="566928"/>
          </a:xfrm>
          <a:prstGeom prst="rect">
            <a:avLst/>
          </a:prstGeom>
          <a:noFill/>
        </p:spPr>
        <p:txBody>
          <a:bodyPr wrap="square" lIns="0" rIns="0" tIns="0" bIns="0" anchor="t">
            <a:spAutoFit/>
          </a:bodyPr>
          <a:lstStyle/>
          <a:p>
            <a:pPr algn="l">
              <a:defRPr sz="1400" b="0" i="0">
                <a:solidFill>
                  <a:srgbClr val="CFC2DF"/>
                </a:solidFill>
                <a:latin typeface="Aptos"/>
              </a:defRPr>
            </a:pPr>
            <a:r>
              <a:t>Further education in NPF, pedagogy, problematic school absence, trauma and difficult events.</a:t>
            </a:r>
          </a:p>
        </p:txBody>
      </p:sp>
      <p:sp>
        <p:nvSpPr>
          <p:cNvPr id="16" name="TextBox 15"/>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7" name="TextBox 16"/>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FUNDING</a:t>
            </a:r>
          </a:p>
        </p:txBody>
      </p:sp>
      <p:sp>
        <p:nvSpPr>
          <p:cNvPr id="3" name="TextBox 2"/>
          <p:cNvSpPr txBox="1"/>
          <p:nvPr/>
        </p:nvSpPr>
        <p:spPr>
          <a:xfrm>
            <a:off x="658368" y="960120"/>
            <a:ext cx="4206240" cy="1051560"/>
          </a:xfrm>
          <a:prstGeom prst="rect">
            <a:avLst/>
          </a:prstGeom>
          <a:noFill/>
        </p:spPr>
        <p:txBody>
          <a:bodyPr wrap="square" lIns="0" rIns="0" tIns="0" bIns="0" anchor="t">
            <a:spAutoFit/>
          </a:bodyPr>
          <a:lstStyle/>
          <a:p>
            <a:pPr algn="l">
              <a:defRPr sz="5800" b="1" i="0">
                <a:solidFill>
                  <a:srgbClr val="7653C6"/>
                </a:solidFill>
                <a:latin typeface="Aptos Display"/>
              </a:defRPr>
            </a:pPr>
            <a:r>
              <a:t>€250K</a:t>
            </a:r>
          </a:p>
        </p:txBody>
      </p:sp>
      <p:sp>
        <p:nvSpPr>
          <p:cNvPr id="4" name="TextBox 3"/>
          <p:cNvSpPr txBox="1"/>
          <p:nvPr/>
        </p:nvSpPr>
        <p:spPr>
          <a:xfrm>
            <a:off x="713232" y="1965960"/>
            <a:ext cx="3931920" cy="347472"/>
          </a:xfrm>
          <a:prstGeom prst="rect">
            <a:avLst/>
          </a:prstGeom>
          <a:noFill/>
        </p:spPr>
        <p:txBody>
          <a:bodyPr wrap="square" lIns="0" rIns="0" tIns="0" bIns="0" anchor="t">
            <a:spAutoFit/>
          </a:bodyPr>
          <a:lstStyle/>
          <a:p>
            <a:pPr algn="l">
              <a:defRPr sz="2000" b="1" i="0">
                <a:solidFill>
                  <a:srgbClr val="2F2345"/>
                </a:solidFill>
                <a:latin typeface="Aptos Display"/>
              </a:defRPr>
            </a:pPr>
            <a:r>
              <a:t>18-month runway</a:t>
            </a:r>
          </a:p>
        </p:txBody>
      </p:sp>
      <p:sp>
        <p:nvSpPr>
          <p:cNvPr id="5" name="Rounded Rectangle 4"/>
          <p:cNvSpPr/>
          <p:nvPr/>
        </p:nvSpPr>
        <p:spPr>
          <a:xfrm>
            <a:off x="658368" y="2743200"/>
            <a:ext cx="3429000" cy="1325880"/>
          </a:xfrm>
          <a:prstGeom prst="roundRect">
            <a:avLst/>
          </a:prstGeom>
          <a:solidFill>
            <a:srgbClr val="EDE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PRODUCT</a:t>
            </a:r>
          </a:p>
        </p:txBody>
      </p:sp>
      <p:sp>
        <p:nvSpPr>
          <p:cNvPr id="7" name="TextBox 6"/>
          <p:cNvSpPr txBox="1"/>
          <p:nvPr/>
        </p:nvSpPr>
        <p:spPr>
          <a:xfrm>
            <a:off x="886968"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Mobile · stability · scale · security</a:t>
            </a:r>
          </a:p>
        </p:txBody>
      </p:sp>
      <p:sp>
        <p:nvSpPr>
          <p:cNvPr id="8" name="Rounded Rectangle 7"/>
          <p:cNvSpPr/>
          <p:nvPr/>
        </p:nvSpPr>
        <p:spPr>
          <a:xfrm>
            <a:off x="4407407" y="2743200"/>
            <a:ext cx="3429000" cy="1325880"/>
          </a:xfrm>
          <a:prstGeom prst="roundRect">
            <a:avLst/>
          </a:prstGeom>
          <a:solidFill>
            <a:srgbClr val="FCEA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6007"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VALIDATION</a:t>
            </a:r>
          </a:p>
        </p:txBody>
      </p:sp>
      <p:sp>
        <p:nvSpPr>
          <p:cNvPr id="10" name="TextBox 9"/>
          <p:cNvSpPr txBox="1"/>
          <p:nvPr/>
        </p:nvSpPr>
        <p:spPr>
          <a:xfrm>
            <a:off x="4636007"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Pilots · analytics · retention · proof</a:t>
            </a:r>
          </a:p>
        </p:txBody>
      </p:sp>
      <p:sp>
        <p:nvSpPr>
          <p:cNvPr id="11" name="Rounded Rectangle 10"/>
          <p:cNvSpPr/>
          <p:nvPr/>
        </p:nvSpPr>
        <p:spPr>
          <a:xfrm>
            <a:off x="8156448" y="2743200"/>
            <a:ext cx="3429000" cy="1325880"/>
          </a:xfrm>
          <a:prstGeom prst="roundRect">
            <a:avLst/>
          </a:prstGeom>
          <a:solidFill>
            <a:srgbClr val="DDE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5048"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COMMERCIAL</a:t>
            </a:r>
          </a:p>
        </p:txBody>
      </p:sp>
      <p:sp>
        <p:nvSpPr>
          <p:cNvPr id="13" name="TextBox 12"/>
          <p:cNvSpPr txBox="1"/>
          <p:nvPr/>
        </p:nvSpPr>
        <p:spPr>
          <a:xfrm>
            <a:off x="8385048"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Onboarding · launch · first channels</a:t>
            </a:r>
          </a:p>
        </p:txBody>
      </p:sp>
      <p:sp>
        <p:nvSpPr>
          <p:cNvPr id="14" name="Rounded Rectangle 13"/>
          <p:cNvSpPr/>
          <p:nvPr/>
        </p:nvSpPr>
        <p:spPr>
          <a:xfrm>
            <a:off x="658368" y="4526280"/>
            <a:ext cx="10927080" cy="1143000"/>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91456"/>
            <a:ext cx="2286000" cy="256032"/>
          </a:xfrm>
          <a:prstGeom prst="rect">
            <a:avLst/>
          </a:prstGeom>
          <a:noFill/>
        </p:spPr>
        <p:txBody>
          <a:bodyPr wrap="square" lIns="0" rIns="0" tIns="0" bIns="0" anchor="t">
            <a:spAutoFit/>
          </a:bodyPr>
          <a:lstStyle/>
          <a:p>
            <a:pPr algn="l">
              <a:defRPr sz="1200" b="1" i="0">
                <a:solidFill>
                  <a:srgbClr val="A63D70"/>
                </a:solidFill>
                <a:latin typeface="Aptos Display"/>
              </a:defRPr>
            </a:pPr>
            <a:r>
              <a:t>END-OF-RUNWAY PROOF</a:t>
            </a:r>
          </a:p>
        </p:txBody>
      </p:sp>
      <p:sp>
        <p:nvSpPr>
          <p:cNvPr id="16" name="TextBox 15"/>
          <p:cNvSpPr txBox="1"/>
          <p:nvPr/>
        </p:nvSpPr>
        <p:spPr>
          <a:xfrm>
            <a:off x="2971800" y="4709160"/>
            <a:ext cx="8092440" cy="530352"/>
          </a:xfrm>
          <a:prstGeom prst="rect">
            <a:avLst/>
          </a:prstGeom>
          <a:noFill/>
        </p:spPr>
        <p:txBody>
          <a:bodyPr wrap="square" lIns="0" rIns="0" tIns="0" bIns="0" anchor="t">
            <a:spAutoFit/>
          </a:bodyPr>
          <a:lstStyle/>
          <a:p>
            <a:pPr algn="l">
              <a:defRPr sz="1600" b="1" i="0">
                <a:solidFill>
                  <a:srgbClr val="2F2345"/>
                </a:solidFill>
                <a:latin typeface="Aptos Display"/>
              </a:defRPr>
            </a:pPr>
            <a:r>
              <a:t>Measured outcomes · validated retention · pilot evidence · mobile ready · clearer commercial model · first scalable customer channel</a:t>
            </a:r>
          </a:p>
        </p:txBody>
      </p:sp>
      <p:sp>
        <p:nvSpPr>
          <p:cNvPr id="17" name="TextBox 16"/>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8" name="TextBox 17"/>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Rounded Rectangle 1"/>
          <p:cNvSpPr/>
          <p:nvPr/>
        </p:nvSpPr>
        <p:spPr>
          <a:xfrm>
            <a:off x="7836408" y="493776"/>
            <a:ext cx="3547872" cy="53126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4"/>
          <a:srcRect t="4588" b="4588"/>
          <a:stretch>
            <a:fillRect/>
          </a:stretch>
        </p:blipFill>
        <p:spPr>
          <a:xfrm>
            <a:off x="7909560" y="566928"/>
            <a:ext cx="3401568" cy="5166360"/>
          </a:xfrm>
          <a:prstGeom prst="rect">
            <a:avLst/>
          </a:prstGeom>
        </p:spPr>
      </p:pic>
      <p:sp>
        <p:nvSpPr>
          <p:cNvPr id="4" name="TextBox 3"/>
          <p:cNvSpPr txBox="1"/>
          <p:nvPr/>
        </p:nvSpPr>
        <p:spPr>
          <a:xfrm>
            <a:off x="658368" y="960120"/>
            <a:ext cx="6080760" cy="2148840"/>
          </a:xfrm>
          <a:prstGeom prst="rect">
            <a:avLst/>
          </a:prstGeom>
          <a:noFill/>
        </p:spPr>
        <p:txBody>
          <a:bodyPr wrap="square" lIns="0" rIns="0" tIns="0" bIns="0" anchor="t">
            <a:spAutoFit/>
          </a:bodyPr>
          <a:lstStyle/>
          <a:p>
            <a:pPr algn="l">
              <a:defRPr sz="3700" b="1" i="0">
                <a:solidFill>
                  <a:srgbClr val="FFFFFF"/>
                </a:solidFill>
                <a:latin typeface="Aptos Display"/>
              </a:defRPr>
            </a:pPr>
            <a:r>
              <a:t>Everyday life shouldn't</a:t>
            </a:r>
            <a:br/>
            <a:r>
              <a:t>require you to be</a:t>
            </a:r>
            <a:br/>
            <a:r>
              <a:t>someone else.</a:t>
            </a:r>
          </a:p>
        </p:txBody>
      </p:sp>
      <p:sp>
        <p:nvSpPr>
          <p:cNvPr id="5" name="TextBox 4"/>
          <p:cNvSpPr txBox="1"/>
          <p:nvPr/>
        </p:nvSpPr>
        <p:spPr>
          <a:xfrm>
            <a:off x="694944" y="3493008"/>
            <a:ext cx="5715000" cy="786384"/>
          </a:xfrm>
          <a:prstGeom prst="rect">
            <a:avLst/>
          </a:prstGeom>
          <a:noFill/>
        </p:spPr>
        <p:txBody>
          <a:bodyPr wrap="square" lIns="0" rIns="0" tIns="0" bIns="0" anchor="t">
            <a:spAutoFit/>
          </a:bodyPr>
          <a:lstStyle/>
          <a:p>
            <a:pPr algn="l">
              <a:defRPr sz="2000" b="0" i="0">
                <a:solidFill>
                  <a:srgbClr val="E1D5ED"/>
                </a:solidFill>
                <a:latin typeface="Aptos"/>
              </a:defRPr>
            </a:pPr>
            <a:r>
              <a:t>MyFlove adapts the system to the person — not the other way around.</a:t>
            </a:r>
          </a:p>
        </p:txBody>
      </p:sp>
      <p:sp>
        <p:nvSpPr>
          <p:cNvPr id="6" name="Rounded Rectangle 5"/>
          <p:cNvSpPr/>
          <p:nvPr/>
        </p:nvSpPr>
        <p:spPr>
          <a:xfrm>
            <a:off x="685800" y="4617720"/>
            <a:ext cx="5440680" cy="658368"/>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00600"/>
            <a:ext cx="4892040" cy="292608"/>
          </a:xfrm>
          <a:prstGeom prst="rect">
            <a:avLst/>
          </a:prstGeom>
          <a:noFill/>
        </p:spPr>
        <p:txBody>
          <a:bodyPr wrap="square" lIns="0" rIns="0" tIns="0" bIns="0" anchor="t">
            <a:spAutoFit/>
          </a:bodyPr>
          <a:lstStyle/>
          <a:p>
            <a:pPr algn="ctr">
              <a:defRPr sz="1600" b="1" i="0">
                <a:solidFill>
                  <a:srgbClr val="2F2345"/>
                </a:solidFill>
                <a:latin typeface="Aptos Display"/>
              </a:defRPr>
            </a:pPr>
            <a:r>
              <a:t>Plan for your capacity. Find your next possible step.</a:t>
            </a:r>
          </a:p>
        </p:txBody>
      </p:sp>
      <p:sp>
        <p:nvSpPr>
          <p:cNvPr id="8" name="TextBox 7"/>
          <p:cNvSpPr txBox="1"/>
          <p:nvPr/>
        </p:nvSpPr>
        <p:spPr>
          <a:xfrm>
            <a:off x="704088" y="5897880"/>
            <a:ext cx="3657600" cy="256032"/>
          </a:xfrm>
          <a:prstGeom prst="rect">
            <a:avLst/>
          </a:prstGeom>
          <a:noFill/>
        </p:spPr>
        <p:txBody>
          <a:bodyPr wrap="square" lIns="0" rIns="0" tIns="0" bIns="0" anchor="t">
            <a:spAutoFit/>
          </a:bodyPr>
          <a:lstStyle/>
          <a:p>
            <a:pPr algn="l">
              <a:defRPr sz="1300" b="0" i="0">
                <a:solidFill>
                  <a:srgbClr val="CFC2DF"/>
                </a:solidFill>
                <a:latin typeface="Aptos"/>
              </a:defRPr>
            </a:pPr>
            <a:r>
              <a:t>myflove.lovable.app</a:t>
            </a:r>
          </a:p>
        </p:txBody>
      </p:sp>
      <p:sp>
        <p:nvSpPr>
          <p:cNvPr id="9" name="TextBox 8"/>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0" name="TextBox 9"/>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LIVE PRODUCT DEMO · 27 SECONDS</a:t>
            </a:r>
          </a:p>
        </p:txBody>
      </p:sp>
      <p:sp>
        <p:nvSpPr>
          <p:cNvPr id="3" name="TextBox 2"/>
          <p:cNvSpPr txBox="1"/>
          <p:nvPr/>
        </p:nvSpPr>
        <p:spPr>
          <a:xfrm>
            <a:off x="621792" y="804672"/>
            <a:ext cx="8412480" cy="594360"/>
          </a:xfrm>
          <a:prstGeom prst="rect">
            <a:avLst/>
          </a:prstGeom>
          <a:noFill/>
        </p:spPr>
        <p:txBody>
          <a:bodyPr wrap="square" lIns="0" rIns="0" tIns="0" bIns="0" anchor="t">
            <a:spAutoFit/>
          </a:bodyPr>
          <a:lstStyle/>
          <a:p>
            <a:pPr algn="l">
              <a:defRPr sz="3100" b="1" i="0">
                <a:solidFill>
                  <a:srgbClr val="2F2345"/>
                </a:solidFill>
                <a:latin typeface="Aptos Display"/>
              </a:defRPr>
            </a:pPr>
            <a:r>
              <a:t>Watch the same day become doable.</a:t>
            </a:r>
          </a:p>
        </p:txBody>
      </p:sp>
      <p:sp>
        <p:nvSpPr>
          <p:cNvPr id="4" name="Rounded Rectangle 3"/>
          <p:cNvSpPr/>
          <p:nvPr/>
        </p:nvSpPr>
        <p:spPr>
          <a:xfrm>
            <a:off x="548640"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2"/>
          <a:srcRect l="25025" r="25025"/>
          <a:stretch>
            <a:fillRect/>
          </a:stretch>
        </p:blipFill>
        <p:spPr>
          <a:xfrm>
            <a:off x="621792" y="1645920"/>
            <a:ext cx="2029968" cy="2286000"/>
          </a:xfrm>
          <a:prstGeom prst="rect">
            <a:avLst/>
          </a:prstGeom>
        </p:spPr>
      </p:pic>
      <p:sp>
        <p:nvSpPr>
          <p:cNvPr id="6" name="TextBox 5"/>
          <p:cNvSpPr txBox="1"/>
          <p:nvPr/>
        </p:nvSpPr>
        <p:spPr>
          <a:xfrm>
            <a:off x="621792"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1 · QUICKFLOW</a:t>
            </a:r>
          </a:p>
        </p:txBody>
      </p:sp>
      <p:sp>
        <p:nvSpPr>
          <p:cNvPr id="7" name="Rounded Rectangle 6"/>
          <p:cNvSpPr/>
          <p:nvPr/>
        </p:nvSpPr>
        <p:spPr>
          <a:xfrm>
            <a:off x="2852928"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3"/>
          <a:srcRect l="25025" r="25025"/>
          <a:stretch>
            <a:fillRect/>
          </a:stretch>
        </p:blipFill>
        <p:spPr>
          <a:xfrm>
            <a:off x="2926080" y="1645920"/>
            <a:ext cx="2029968" cy="2286000"/>
          </a:xfrm>
          <a:prstGeom prst="rect">
            <a:avLst/>
          </a:prstGeom>
        </p:spPr>
      </p:pic>
      <p:sp>
        <p:nvSpPr>
          <p:cNvPr id="9" name="TextBox 8"/>
          <p:cNvSpPr txBox="1"/>
          <p:nvPr/>
        </p:nvSpPr>
        <p:spPr>
          <a:xfrm>
            <a:off x="2926080"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2 · FLOW</a:t>
            </a:r>
          </a:p>
        </p:txBody>
      </p:sp>
      <p:sp>
        <p:nvSpPr>
          <p:cNvPr id="10" name="Rounded Rectangle 9"/>
          <p:cNvSpPr/>
          <p:nvPr/>
        </p:nvSpPr>
        <p:spPr>
          <a:xfrm>
            <a:off x="5157216"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dapt-high.jpg"/>
          <p:cNvPicPr>
            <a:picLocks noChangeAspect="1"/>
          </p:cNvPicPr>
          <p:nvPr/>
        </p:nvPicPr>
        <p:blipFill>
          <a:blip r:embed="rId7"/>
          <a:srcRect t="6942" b="6942"/>
          <a:stretch>
            <a:fillRect/>
          </a:stretch>
        </p:blipFill>
        <p:spPr>
          <a:xfrm>
            <a:off x="5230368" y="1645920"/>
            <a:ext cx="2029968" cy="2286000"/>
          </a:xfrm>
          <a:prstGeom prst="rect">
            <a:avLst/>
          </a:prstGeom>
        </p:spPr>
      </p:pic>
      <p:sp>
        <p:nvSpPr>
          <p:cNvPr id="12" name="TextBox 11"/>
          <p:cNvSpPr txBox="1"/>
          <p:nvPr/>
        </p:nvSpPr>
        <p:spPr>
          <a:xfrm>
            <a:off x="5230368"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HIGH ENERGY · 4H</a:t>
            </a:r>
          </a:p>
        </p:txBody>
      </p:sp>
      <p:sp>
        <p:nvSpPr>
          <p:cNvPr id="13" name="Rounded Rectangle 12"/>
          <p:cNvSpPr/>
          <p:nvPr/>
        </p:nvSpPr>
        <p:spPr>
          <a:xfrm>
            <a:off x="7461504"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dapt-low.jpg"/>
          <p:cNvPicPr>
            <a:picLocks noChangeAspect="1"/>
          </p:cNvPicPr>
          <p:nvPr/>
        </p:nvPicPr>
        <p:blipFill>
          <a:blip r:embed="rId8"/>
          <a:srcRect t="6942" b="6942"/>
          <a:stretch>
            <a:fillRect/>
          </a:stretch>
        </p:blipFill>
        <p:spPr>
          <a:xfrm>
            <a:off x="7534656" y="1645920"/>
            <a:ext cx="2029968" cy="2286000"/>
          </a:xfrm>
          <a:prstGeom prst="rect">
            <a:avLst/>
          </a:prstGeom>
        </p:spPr>
      </p:pic>
      <p:sp>
        <p:nvSpPr>
          <p:cNvPr id="15" name="TextBox 14"/>
          <p:cNvSpPr txBox="1"/>
          <p:nvPr/>
        </p:nvSpPr>
        <p:spPr>
          <a:xfrm>
            <a:off x="7534656"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LOW ENERGY · 30M</a:t>
            </a:r>
          </a:p>
        </p:txBody>
      </p:sp>
      <p:sp>
        <p:nvSpPr>
          <p:cNvPr id="16" name="Rounded Rectangle 15"/>
          <p:cNvSpPr/>
          <p:nvPr/>
        </p:nvSpPr>
        <p:spPr>
          <a:xfrm>
            <a:off x="9765792"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jpg"/>
          <p:cNvPicPr>
            <a:picLocks noChangeAspect="1"/>
          </p:cNvPicPr>
          <p:nvPr/>
        </p:nvPicPr>
        <p:blipFill>
          <a:blip r:embed="rId4"/>
          <a:srcRect l="25025" r="25025"/>
          <a:stretch>
            <a:fillRect/>
          </a:stretch>
        </p:blipFill>
        <p:spPr>
          <a:xfrm>
            <a:off x="9838944" y="1645920"/>
            <a:ext cx="2029968" cy="2286000"/>
          </a:xfrm>
          <a:prstGeom prst="rect">
            <a:avLst/>
          </a:prstGeom>
        </p:spPr>
      </p:pic>
      <p:sp>
        <p:nvSpPr>
          <p:cNvPr id="18" name="TextBox 17"/>
          <p:cNvSpPr txBox="1"/>
          <p:nvPr/>
        </p:nvSpPr>
        <p:spPr>
          <a:xfrm>
            <a:off x="9838944"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3 · MY DAY</a:t>
            </a:r>
          </a:p>
        </p:txBody>
      </p:sp>
      <p:sp>
        <p:nvSpPr>
          <p:cNvPr id="19" name="Rounded Rectangle 18"/>
          <p:cNvSpPr/>
          <p:nvPr/>
        </p:nvSpPr>
        <p:spPr>
          <a:xfrm>
            <a:off x="621792" y="4681728"/>
            <a:ext cx="10835640" cy="987552"/>
          </a:xfrm>
          <a:prstGeom prst="roundRect">
            <a:avLst/>
          </a:prstGeom>
          <a:solidFill>
            <a:srgbClr val="2F23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4956048"/>
            <a:ext cx="10195560" cy="384048"/>
          </a:xfrm>
          <a:prstGeom prst="rect">
            <a:avLst/>
          </a:prstGeom>
          <a:noFill/>
        </p:spPr>
        <p:txBody>
          <a:bodyPr wrap="square" lIns="0" rIns="0" tIns="0" bIns="0" anchor="t">
            <a:spAutoFit/>
          </a:bodyPr>
          <a:lstStyle/>
          <a:p>
            <a:pPr algn="ctr">
              <a:defRPr sz="2200" b="1" i="0">
                <a:solidFill>
                  <a:srgbClr val="FFFFFF"/>
                </a:solidFill>
                <a:latin typeface="Aptos Display"/>
              </a:defRPr>
            </a:pPr>
            <a:r>
              <a:t>“The goal isn’t to get more done. It’s to make the day more doable.”</a:t>
            </a:r>
          </a:p>
        </p:txBody>
      </p:sp>
      <p:sp>
        <p:nvSpPr>
          <p:cNvPr id="21" name="TextBox 20"/>
          <p:cNvSpPr txBox="1"/>
          <p:nvPr/>
        </p:nvSpPr>
        <p:spPr>
          <a:xfrm>
            <a:off x="658368" y="5916168"/>
            <a:ext cx="10789920" cy="274320"/>
          </a:xfrm>
          <a:prstGeom prst="rect">
            <a:avLst/>
          </a:prstGeom>
          <a:noFill/>
        </p:spPr>
        <p:txBody>
          <a:bodyPr wrap="square" lIns="0" rIns="0" tIns="0" bIns="0" anchor="t">
            <a:spAutoFit/>
          </a:bodyPr>
          <a:lstStyle/>
          <a:p>
            <a:pPr algn="ctr">
              <a:defRPr sz="1200" b="0" i="0">
                <a:solidFill>
                  <a:srgbClr val="6E6382"/>
                </a:solidFill>
                <a:latin typeface="Aptos"/>
              </a:defRPr>
            </a:pPr>
            <a:r>
              <a:t>Video file: myflove-demo-20s.mp4 · 27 s · Flow acts only after the user approves</a:t>
            </a:r>
          </a:p>
        </p:txBody>
      </p:sp>
      <p:sp>
        <p:nvSpPr>
          <p:cNvPr id="22" name="TextBox 21"/>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3" name="TextBox 22"/>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C"/>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85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789920" cy="365760"/>
          </a:xfrm>
          <a:prstGeom prst="rect">
            <a:avLst/>
          </a:prstGeom>
          <a:noFill/>
        </p:spPr>
        <p:txBody>
          <a:bodyPr wrap="none">
            <a:spAutoFit/>
          </a:bodyPr>
          <a:lstStyle/>
          <a:p>
            <a:pPr>
              <a:defRPr sz="1200" b="1">
                <a:solidFill>
                  <a:srgbClr val="855BC4"/>
                </a:solidFill>
                <a:latin typeface="Arial"/>
              </a:defRPr>
            </a:pPr>
            <a:r>
              <a:t>MYFLOVE 5.0 · RELEASE 2026-09-11</a:t>
            </a:r>
          </a:p>
        </p:txBody>
      </p:sp>
      <p:sp>
        <p:nvSpPr>
          <p:cNvPr id="4" name="TextBox 3"/>
          <p:cNvSpPr txBox="1"/>
          <p:nvPr/>
        </p:nvSpPr>
        <p:spPr>
          <a:xfrm>
            <a:off x="685800" y="960120"/>
            <a:ext cx="10789920" cy="914400"/>
          </a:xfrm>
          <a:prstGeom prst="rect">
            <a:avLst/>
          </a:prstGeom>
          <a:noFill/>
        </p:spPr>
        <p:txBody>
          <a:bodyPr wrap="none">
            <a:spAutoFit/>
          </a:bodyPr>
          <a:lstStyle/>
          <a:p>
            <a:pPr>
              <a:defRPr sz="3400" b="1">
                <a:solidFill>
                  <a:srgbClr val="292042"/>
                </a:solidFill>
                <a:latin typeface="Arial"/>
              </a:defRPr>
            </a:pPr>
            <a:r>
              <a:t>MyFlove 5.0 — product readiness</a:t>
            </a:r>
          </a:p>
        </p:txBody>
      </p:sp>
      <p:sp>
        <p:nvSpPr>
          <p:cNvPr id="5" name="TextBox 4"/>
          <p:cNvSpPr txBox="1"/>
          <p:nvPr/>
        </p:nvSpPr>
        <p:spPr>
          <a:xfrm>
            <a:off x="713232" y="1828800"/>
            <a:ext cx="10424160" cy="548640"/>
          </a:xfrm>
          <a:prstGeom prst="rect">
            <a:avLst/>
          </a:prstGeom>
          <a:noFill/>
        </p:spPr>
        <p:txBody>
          <a:bodyPr wrap="none">
            <a:spAutoFit/>
          </a:bodyPr>
          <a:lstStyle/>
          <a:p>
            <a:pPr>
              <a:defRPr sz="1800">
                <a:solidFill>
                  <a:srgbClr val="60537D"/>
                </a:solidFill>
                <a:latin typeface="Arial"/>
              </a:defRPr>
            </a:pPr>
            <a:r>
              <a:t>The investor appendix reflects the product available today.</a:t>
            </a:r>
          </a:p>
        </p:txBody>
      </p:sp>
      <p:sp>
        <p:nvSpPr>
          <p:cNvPr id="6" name="Rounded Rectangle 5"/>
          <p:cNvSpPr/>
          <p:nvPr/>
        </p:nvSpPr>
        <p:spPr>
          <a:xfrm>
            <a:off x="685800" y="2606040"/>
            <a:ext cx="5257800" cy="1234440"/>
          </a:xfrm>
          <a:prstGeom prst="roundRect">
            <a:avLst/>
          </a:prstGeom>
          <a:solidFill>
            <a:srgbClr val="FFFFFF"/>
          </a:solidFill>
          <a:ln>
            <a:solidFill>
              <a:srgbClr val="E1D8EF"/>
            </a:solidFill>
          </a:ln>
        </p:spPr>
        <p:style>
          <a:lnRef idx="1">
            <a:schemeClr val="accent1"/>
          </a:lnRef>
          <a:fillRef idx="3">
            <a:schemeClr val="accent1"/>
          </a:fillRef>
          <a:effectRef idx="2">
            <a:schemeClr val="accent1"/>
          </a:effectRef>
          <a:fontRef idx="minor">
            <a:schemeClr val="lt1"/>
          </a:fontRef>
        </p:style>
        <p:txBody>
          <a:bodyPr rtlCol="0" anchor="ctr" lIns="219456" rIns="182880" tIns="146304"/>
          <a:lstStyle/>
          <a:p>
            <a:pPr algn="ctr">
              <a:defRPr sz="1700" b="1">
                <a:solidFill>
                  <a:srgbClr val="483070"/>
                </a:solidFill>
                <a:latin typeface="Arial"/>
              </a:defRPr>
            </a:pPr>
            <a:r>
              <a:t>Action, not just advice</a:t>
            </a:r>
          </a:p>
          <a:p>
            <a:pPr>
              <a:defRPr sz="1200">
                <a:solidFill>
                  <a:srgbClr val="60537D"/>
                </a:solidFill>
                <a:latin typeface="Arial"/>
              </a:defRPr>
            </a:pPr>
            <a:r>
              <a:t>Flow can move, simplify, split or complete a task after explicit approval.</a:t>
            </a:r>
          </a:p>
        </p:txBody>
      </p:sp>
      <p:sp>
        <p:nvSpPr>
          <p:cNvPr id="7" name="Rounded Rectangle 6"/>
          <p:cNvSpPr/>
          <p:nvPr/>
        </p:nvSpPr>
        <p:spPr>
          <a:xfrm>
            <a:off x="685800" y="4069080"/>
            <a:ext cx="5257800" cy="1234440"/>
          </a:xfrm>
          <a:prstGeom prst="roundRect">
            <a:avLst/>
          </a:prstGeom>
          <a:solidFill>
            <a:srgbClr val="FFFFFF"/>
          </a:solidFill>
          <a:ln>
            <a:solidFill>
              <a:srgbClr val="E1D8EF"/>
            </a:solidFill>
          </a:ln>
        </p:spPr>
        <p:style>
          <a:lnRef idx="1">
            <a:schemeClr val="accent1"/>
          </a:lnRef>
          <a:fillRef idx="3">
            <a:schemeClr val="accent1"/>
          </a:fillRef>
          <a:effectRef idx="2">
            <a:schemeClr val="accent1"/>
          </a:effectRef>
          <a:fontRef idx="minor">
            <a:schemeClr val="lt1"/>
          </a:fontRef>
        </p:style>
        <p:txBody>
          <a:bodyPr rtlCol="0" anchor="ctr" lIns="219456" rIns="182880" tIns="146304"/>
          <a:lstStyle/>
          <a:p>
            <a:pPr algn="ctr">
              <a:defRPr sz="1700" b="1">
                <a:solidFill>
                  <a:srgbClr val="483070"/>
                </a:solidFill>
                <a:latin typeface="Arial"/>
              </a:defRPr>
            </a:pPr>
            <a:r>
              <a:t>Calendar in both directions</a:t>
            </a:r>
          </a:p>
          <a:p>
            <a:pPr>
              <a:defRPr sz="1200">
                <a:solidFill>
                  <a:srgbClr val="60537D"/>
                </a:solidFill>
                <a:latin typeface="Arial"/>
              </a:defRPr>
            </a:pPr>
            <a:r>
              <a:t>Connect Google Calendar or Outlook and sync without duplicate events.</a:t>
            </a:r>
          </a:p>
        </p:txBody>
      </p:sp>
      <p:sp>
        <p:nvSpPr>
          <p:cNvPr id="8" name="Rounded Rectangle 7"/>
          <p:cNvSpPr/>
          <p:nvPr/>
        </p:nvSpPr>
        <p:spPr>
          <a:xfrm>
            <a:off x="685800" y="2606040"/>
            <a:ext cx="5257800" cy="1234440"/>
          </a:xfrm>
          <a:prstGeom prst="roundRect">
            <a:avLst/>
          </a:prstGeom>
          <a:solidFill>
            <a:srgbClr val="FFFFFF"/>
          </a:solidFill>
          <a:ln>
            <a:solidFill>
              <a:srgbClr val="E1D8EF"/>
            </a:solidFill>
          </a:ln>
        </p:spPr>
        <p:style>
          <a:lnRef idx="1">
            <a:schemeClr val="accent1"/>
          </a:lnRef>
          <a:fillRef idx="3">
            <a:schemeClr val="accent1"/>
          </a:fillRef>
          <a:effectRef idx="2">
            <a:schemeClr val="accent1"/>
          </a:effectRef>
          <a:fontRef idx="minor">
            <a:schemeClr val="lt1"/>
          </a:fontRef>
        </p:style>
        <p:txBody>
          <a:bodyPr rtlCol="0" anchor="ctr" lIns="219456" rIns="182880" tIns="146304"/>
          <a:lstStyle/>
          <a:p>
            <a:pPr algn="ctr">
              <a:defRPr sz="1700" b="1">
                <a:solidFill>
                  <a:srgbClr val="483070"/>
                </a:solidFill>
                <a:latin typeface="Arial"/>
              </a:defRPr>
            </a:pPr>
            <a:r>
              <a:t>Continuity</a:t>
            </a:r>
          </a:p>
          <a:p>
            <a:pPr>
              <a:defRPr sz="1200">
                <a:solidFill>
                  <a:srgbClr val="60537D"/>
                </a:solidFill>
                <a:latin typeface="Arial"/>
              </a:defRPr>
            </a:pPr>
            <a:r>
              <a:t>Saved Flow conversations resume where the user left off.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MyFlove — 3-Minute Investor Pitch</dc:title>
  <dc:subject>Connect Öst Online Pitch Review · September 10, 2026</dc:subject>
  <dc:creator>MyFlove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