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863840" y="-1463040"/>
            <a:ext cx="5669280" cy="5669280"/>
          </a:xfrm>
          <a:prstGeom prst="roundRect">
            <a:avLst>
              <a:gd name="adj" fmla="val 50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326880" y="3291840"/>
            <a:ext cx="2926080" cy="2926080"/>
          </a:xfrm>
          <a:prstGeom prst="roundRect">
            <a:avLst>
              <a:gd name="adj" fmla="val 50000"/>
            </a:avLst>
          </a:prstGeom>
          <a:solidFill>
            <a:srgbClr val="E3D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417320"/>
            <a:ext cx="7315200" cy="365760"/>
          </a:xfrm>
          <a:prstGeom prst="rect">
            <a:avLst/>
          </a:prstGeom>
          <a:noFill/>
        </p:spPr>
        <p:txBody>
          <a:bodyPr wrap="square" anchor="t" lIns="0" rIns="0" tIns="0" bIns="0">
            <a:spAutoFit/>
          </a:bodyPr>
          <a:lstStyle/>
          <a:p>
            <a:pPr algn="l">
              <a:lnSpc>
                <a:spcPct val="115000"/>
              </a:lnSpc>
              <a:spcBef>
                <a:spcPts val="0"/>
              </a:spcBef>
            </a:pPr>
            <a:r>
              <a:rPr sz="1500" b="1">
                <a:solidFill>
                  <a:srgbClr val="7C5CE0"/>
                </a:solidFill>
                <a:latin typeface="Nunito Sans"/>
              </a:rPr>
              <a:t>MYFLOVE</a:t>
            </a:r>
          </a:p>
        </p:txBody>
      </p:sp>
      <p:sp>
        <p:nvSpPr>
          <p:cNvPr id="6" name="TextBox 5"/>
          <p:cNvSpPr txBox="1"/>
          <p:nvPr/>
        </p:nvSpPr>
        <p:spPr>
          <a:xfrm>
            <a:off x="914400" y="1920240"/>
            <a:ext cx="7863840" cy="2194560"/>
          </a:xfrm>
          <a:prstGeom prst="rect">
            <a:avLst/>
          </a:prstGeom>
          <a:noFill/>
        </p:spPr>
        <p:txBody>
          <a:bodyPr wrap="square" anchor="t" lIns="0" rIns="0" tIns="0" bIns="0">
            <a:spAutoFit/>
          </a:bodyPr>
          <a:lstStyle/>
          <a:p>
            <a:pPr algn="l">
              <a:lnSpc>
                <a:spcPct val="100000"/>
              </a:lnSpc>
              <a:spcBef>
                <a:spcPts val="0"/>
              </a:spcBef>
            </a:pPr>
            <a:r>
              <a:rPr sz="5400" b="1">
                <a:solidFill>
                  <a:srgbClr val="241C3B"/>
                </a:solidFill>
                <a:latin typeface="Nunito Sans"/>
              </a:rPr>
              <a:t>One calm way through
everyday life.</a:t>
            </a:r>
          </a:p>
        </p:txBody>
      </p:sp>
      <p:sp>
        <p:nvSpPr>
          <p:cNvPr id="7" name="TextBox 6"/>
          <p:cNvSpPr txBox="1"/>
          <p:nvPr/>
        </p:nvSpPr>
        <p:spPr>
          <a:xfrm>
            <a:off x="914400" y="3931920"/>
            <a:ext cx="6766560" cy="1097280"/>
          </a:xfrm>
          <a:prstGeom prst="rect">
            <a:avLst/>
          </a:prstGeom>
          <a:noFill/>
        </p:spPr>
        <p:txBody>
          <a:bodyPr wrap="square" anchor="t" lIns="0" rIns="0" tIns="0" bIns="0">
            <a:spAutoFit/>
          </a:bodyPr>
          <a:lstStyle/>
          <a:p>
            <a:pPr algn="l">
              <a:lnSpc>
                <a:spcPct val="120000"/>
              </a:lnSpc>
              <a:spcBef>
                <a:spcPts val="0"/>
              </a:spcBef>
            </a:pPr>
            <a:r>
              <a:rPr sz="2200" b="1">
                <a:solidFill>
                  <a:srgbClr val="7C5CE0"/>
                </a:solidFill>
                <a:latin typeface="Nunito Sans"/>
              </a:rPr>
              <a:t>Plan for your capacity. Not just your time.</a:t>
            </a:r>
          </a:p>
          <a:p>
            <a:pPr algn="l">
              <a:lnSpc>
                <a:spcPct val="115000"/>
              </a:lnSpc>
              <a:spcBef>
                <a:spcPts val="1000"/>
              </a:spcBef>
            </a:pPr>
            <a:r>
              <a:rPr sz="1500" b="0">
                <a:solidFill>
                  <a:srgbClr val="6F6789"/>
                </a:solidFill>
                <a:latin typeface="Nunito Sans"/>
              </a:rPr>
              <a:t>AI-supported digital everyday support</a:t>
            </a:r>
          </a:p>
        </p:txBody>
      </p:sp>
      <p:sp>
        <p:nvSpPr>
          <p:cNvPr id="8" name="TextBox 7"/>
          <p:cNvSpPr txBox="1"/>
          <p:nvPr/>
        </p:nvSpPr>
        <p:spPr>
          <a:xfrm>
            <a:off x="914400" y="5532120"/>
            <a:ext cx="7315200" cy="365760"/>
          </a:xfrm>
          <a:prstGeom prst="rect">
            <a:avLst/>
          </a:prstGeom>
          <a:noFill/>
        </p:spPr>
        <p:txBody>
          <a:bodyPr wrap="square" anchor="t" lIns="0" rIns="0" tIns="0" bIns="0">
            <a:spAutoFit/>
          </a:bodyPr>
          <a:lstStyle/>
          <a:p>
            <a:pPr algn="l">
              <a:lnSpc>
                <a:spcPct val="115000"/>
              </a:lnSpc>
              <a:spcBef>
                <a:spcPts val="0"/>
              </a:spcBef>
            </a:pPr>
            <a:r>
              <a:rPr sz="1200" b="0">
                <a:solidFill>
                  <a:srgbClr val="6F6789"/>
                </a:solidFill>
                <a:latin typeface="Nunito Sans"/>
              </a:rPr>
              <a:t>Connect Öst · Online Pitch Review · September 10,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PROBLEM</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Everyday life requires more
than a to-do list.</a:t>
            </a:r>
          </a:p>
        </p:txBody>
      </p:sp>
      <p:sp>
        <p:nvSpPr>
          <p:cNvPr id="5" name="TextBox 4"/>
          <p:cNvSpPr txBox="1"/>
          <p:nvPr/>
        </p:nvSpPr>
        <p:spPr>
          <a:xfrm>
            <a:off x="914400" y="22860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People can know exactly what they need to do and still be unable to make the day work.</a:t>
            </a:r>
          </a:p>
        </p:txBody>
      </p:sp>
      <p:sp>
        <p:nvSpPr>
          <p:cNvPr id="6" name="Rounded Rectangle 5"/>
          <p:cNvSpPr/>
          <p:nvPr/>
        </p:nvSpPr>
        <p:spPr>
          <a:xfrm>
            <a:off x="914400" y="2697480"/>
            <a:ext cx="4572000" cy="2468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017520"/>
            <a:ext cx="3931920" cy="192024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WHAT NEEDS TO BE DONE</a:t>
            </a:r>
          </a:p>
          <a:p>
            <a:pPr algn="l">
              <a:lnSpc>
                <a:spcPct val="120000"/>
              </a:lnSpc>
              <a:spcBef>
                <a:spcPts val="1400"/>
              </a:spcBef>
            </a:pPr>
            <a:r>
              <a:rPr sz="2400" b="1">
                <a:solidFill>
                  <a:srgbClr val="241C3B"/>
                </a:solidFill>
                <a:latin typeface="Nunito Sans"/>
              </a:rPr>
              <a:t>Tasks · Time · Reminders</a:t>
            </a:r>
          </a:p>
          <a:p>
            <a:pPr algn="l">
              <a:lnSpc>
                <a:spcPct val="130000"/>
              </a:lnSpc>
              <a:spcBef>
                <a:spcPts val="1200"/>
              </a:spcBef>
            </a:pPr>
            <a:r>
              <a:rPr sz="1400" b="0">
                <a:solidFill>
                  <a:srgbClr val="6F6789"/>
                </a:solidFill>
                <a:latin typeface="Nunito Sans"/>
              </a:rPr>
              <a:t>Traditional tools organise the demands.</a:t>
            </a:r>
          </a:p>
        </p:txBody>
      </p:sp>
      <p:sp>
        <p:nvSpPr>
          <p:cNvPr id="8" name="Rounded Rectangle 7"/>
          <p:cNvSpPr/>
          <p:nvPr/>
        </p:nvSpPr>
        <p:spPr>
          <a:xfrm>
            <a:off x="5788152" y="2697480"/>
            <a:ext cx="4572000" cy="246888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08192" y="3017520"/>
            <a:ext cx="3931920" cy="192024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WHAT I ACTUALLY HAVE CAPACITY FOR</a:t>
            </a:r>
          </a:p>
          <a:p>
            <a:pPr algn="l">
              <a:lnSpc>
                <a:spcPct val="120000"/>
              </a:lnSpc>
              <a:spcBef>
                <a:spcPts val="1400"/>
              </a:spcBef>
            </a:pPr>
            <a:r>
              <a:rPr sz="2400" b="1">
                <a:solidFill>
                  <a:srgbClr val="FFFFFF"/>
                </a:solidFill>
                <a:latin typeface="Nunito Sans"/>
              </a:rPr>
              <a:t>Energy · Mental load · Invisible work</a:t>
            </a:r>
          </a:p>
          <a:p>
            <a:pPr algn="l">
              <a:lnSpc>
                <a:spcPct val="130000"/>
              </a:lnSpc>
              <a:spcBef>
                <a:spcPts val="1200"/>
              </a:spcBef>
            </a:pPr>
            <a:r>
              <a:rPr sz="1400" b="0">
                <a:solidFill>
                  <a:srgbClr val="E6DCFB"/>
                </a:solidFill>
                <a:latin typeface="Nunito Sans"/>
              </a:rPr>
              <a:t>Rarely accounted for anywhere.</a:t>
            </a:r>
          </a:p>
        </p:txBody>
      </p:sp>
      <p:sp>
        <p:nvSpPr>
          <p:cNvPr id="10" name="TextBox 9"/>
          <p:cNvSpPr txBox="1"/>
          <p:nvPr/>
        </p:nvSpPr>
        <p:spPr>
          <a:xfrm>
            <a:off x="914400" y="5440680"/>
            <a:ext cx="9418320" cy="4572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When demands exceed capacity, the person becomes the system.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INSIGHT</a:t>
            </a:r>
          </a:p>
        </p:txBody>
      </p:sp>
      <p:sp>
        <p:nvSpPr>
          <p:cNvPr id="4" name="TextBox 3"/>
          <p:cNvSpPr txBox="1"/>
          <p:nvPr/>
        </p:nvSpPr>
        <p:spPr>
          <a:xfrm>
            <a:off x="914400" y="1371600"/>
            <a:ext cx="9418320" cy="1463040"/>
          </a:xfrm>
          <a:prstGeom prst="rect">
            <a:avLst/>
          </a:prstGeom>
          <a:noFill/>
        </p:spPr>
        <p:txBody>
          <a:bodyPr wrap="square" anchor="t" lIns="0" rIns="0" tIns="0" bIns="0">
            <a:spAutoFit/>
          </a:bodyPr>
          <a:lstStyle/>
          <a:p>
            <a:pPr algn="l">
              <a:lnSpc>
                <a:spcPct val="105000"/>
              </a:lnSpc>
              <a:spcBef>
                <a:spcPts val="0"/>
              </a:spcBef>
            </a:pPr>
            <a:r>
              <a:rPr sz="5200" b="1">
                <a:solidFill>
                  <a:srgbClr val="241C3B"/>
                </a:solidFill>
                <a:latin typeface="Nunito Sans"/>
              </a:rPr>
              <a:t>Plan for capacity,
not just time.</a:t>
            </a:r>
          </a:p>
        </p:txBody>
      </p:sp>
      <p:sp>
        <p:nvSpPr>
          <p:cNvPr id="5" name="Rounded Rectangle 4"/>
          <p:cNvSpPr/>
          <p:nvPr/>
        </p:nvSpPr>
        <p:spPr>
          <a:xfrm>
            <a:off x="914400" y="3429000"/>
            <a:ext cx="4572000" cy="17373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3794760"/>
            <a:ext cx="3931920" cy="109728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A CALENDAR SAYS</a:t>
            </a:r>
          </a:p>
          <a:p>
            <a:pPr algn="l">
              <a:lnSpc>
                <a:spcPct val="125000"/>
              </a:lnSpc>
              <a:spcBef>
                <a:spcPts val="1200"/>
              </a:spcBef>
            </a:pPr>
            <a:r>
              <a:rPr sz="1900" b="0">
                <a:solidFill>
                  <a:srgbClr val="241C3B"/>
                </a:solidFill>
                <a:latin typeface="Nunito Sans"/>
              </a:rPr>
              <a:t>“You have three things scheduled today.”</a:t>
            </a:r>
          </a:p>
        </p:txBody>
      </p:sp>
      <p:sp>
        <p:nvSpPr>
          <p:cNvPr id="7" name="Rounded Rectangle 6"/>
          <p:cNvSpPr/>
          <p:nvPr/>
        </p:nvSpPr>
        <p:spPr>
          <a:xfrm>
            <a:off x="5788152" y="3429000"/>
            <a:ext cx="4572000" cy="173736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08192" y="3794760"/>
            <a:ext cx="3931920" cy="109728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MYFLOVE ASKS</a:t>
            </a:r>
          </a:p>
          <a:p>
            <a:pPr algn="l">
              <a:lnSpc>
                <a:spcPct val="125000"/>
              </a:lnSpc>
              <a:spcBef>
                <a:spcPts val="1200"/>
              </a:spcBef>
            </a:pPr>
            <a:r>
              <a:rPr sz="1900" b="1">
                <a:solidFill>
                  <a:srgbClr val="FFFFFF"/>
                </a:solidFill>
                <a:latin typeface="Nunito Sans"/>
              </a:rPr>
              <a:t>“Given how you are today, what is actually reasonable?”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SOLUTION</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MyFlove turns capacity into a planning signal.</a:t>
            </a:r>
          </a:p>
        </p:txBody>
      </p:sp>
      <p:sp>
        <p:nvSpPr>
          <p:cNvPr id="5" name="Rounded Rectangle 4"/>
          <p:cNvSpPr/>
          <p:nvPr/>
        </p:nvSpPr>
        <p:spPr>
          <a:xfrm>
            <a:off x="914400"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01 — How are you?</a:t>
            </a:r>
          </a:p>
          <a:p>
            <a:pPr algn="l">
              <a:lnSpc>
                <a:spcPct val="130000"/>
              </a:lnSpc>
              <a:spcBef>
                <a:spcPts val="800"/>
              </a:spcBef>
            </a:pPr>
            <a:r>
              <a:rPr sz="1300" b="0">
                <a:solidFill>
                  <a:srgbClr val="6F6789"/>
                </a:solidFill>
                <a:latin typeface="Nunito Sans"/>
              </a:rPr>
              <a:t>Check energy, mood and what is affecting your capacity right now.</a:t>
            </a:r>
          </a:p>
        </p:txBody>
      </p:sp>
      <p:sp>
        <p:nvSpPr>
          <p:cNvPr id="7" name="Rounded Rectangle 6"/>
          <p:cNvSpPr/>
          <p:nvPr/>
        </p:nvSpPr>
        <p:spPr>
          <a:xfrm>
            <a:off x="4148328"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02 — What's happening?</a:t>
            </a:r>
          </a:p>
          <a:p>
            <a:pPr algn="l">
              <a:lnSpc>
                <a:spcPct val="130000"/>
              </a:lnSpc>
              <a:spcBef>
                <a:spcPts val="800"/>
              </a:spcBef>
            </a:pPr>
            <a:r>
              <a:rPr sz="1300" b="0">
                <a:solidFill>
                  <a:srgbClr val="6F6789"/>
                </a:solidFill>
                <a:latin typeface="Nunito Sans"/>
              </a:rPr>
              <a:t>Capture what needs to happen — including the invisible work.</a:t>
            </a:r>
          </a:p>
        </p:txBody>
      </p:sp>
      <p:sp>
        <p:nvSpPr>
          <p:cNvPr id="9" name="Rounded Rectangle 8"/>
          <p:cNvSpPr/>
          <p:nvPr/>
        </p:nvSpPr>
        <p:spPr>
          <a:xfrm>
            <a:off x="7382256" y="2377440"/>
            <a:ext cx="2977896" cy="2286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651760"/>
            <a:ext cx="2392680" cy="18288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03 — Need to adapt?</a:t>
            </a:r>
          </a:p>
          <a:p>
            <a:pPr algn="l">
              <a:lnSpc>
                <a:spcPct val="130000"/>
              </a:lnSpc>
              <a:spcBef>
                <a:spcPts val="800"/>
              </a:spcBef>
            </a:pPr>
            <a:r>
              <a:rPr sz="1300" b="0">
                <a:solidFill>
                  <a:srgbClr val="6F6789"/>
                </a:solidFill>
                <a:latin typeface="Nunito Sans"/>
              </a:rPr>
              <a:t>FlowPlan adjusts the day to the capacity you actually have.</a:t>
            </a:r>
          </a:p>
        </p:txBody>
      </p:sp>
      <p:sp>
        <p:nvSpPr>
          <p:cNvPr id="11" name="Rounded Rectangle 10"/>
          <p:cNvSpPr/>
          <p:nvPr/>
        </p:nvSpPr>
        <p:spPr>
          <a:xfrm>
            <a:off x="914400" y="5029200"/>
            <a:ext cx="9445752" cy="77724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230368"/>
            <a:ext cx="9445752" cy="457200"/>
          </a:xfrm>
          <a:prstGeom prst="rect">
            <a:avLst/>
          </a:prstGeom>
          <a:noFill/>
        </p:spPr>
        <p:txBody>
          <a:bodyPr wrap="square" anchor="t" lIns="0" rIns="0" tIns="0" bIns="0">
            <a:spAutoFit/>
          </a:bodyPr>
          <a:lstStyle/>
          <a:p>
            <a:pPr algn="ctr">
              <a:lnSpc>
                <a:spcPct val="115000"/>
              </a:lnSpc>
              <a:spcBef>
                <a:spcPts val="0"/>
              </a:spcBef>
            </a:pPr>
            <a:r>
              <a:rPr sz="2200" b="1">
                <a:solidFill>
                  <a:srgbClr val="7C5CE0"/>
                </a:solidFill>
                <a:latin typeface="Nunito Sans"/>
              </a:rPr>
              <a:t>Capture → Understand → Adapt → Continue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THE PRODUCT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One system. One daily flow.</a:t>
            </a:r>
          </a:p>
        </p:txBody>
      </p:sp>
      <p:sp>
        <p:nvSpPr>
          <p:cNvPr id="5" name="TextBox 4"/>
          <p:cNvSpPr txBox="1"/>
          <p:nvPr/>
        </p:nvSpPr>
        <p:spPr>
          <a:xfrm>
            <a:off x="914400" y="20574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A working web application in use today.</a:t>
            </a:r>
          </a:p>
        </p:txBody>
      </p:sp>
      <p:sp>
        <p:nvSpPr>
          <p:cNvPr id="6" name="Rounded Rectangle 5"/>
          <p:cNvSpPr/>
          <p:nvPr/>
        </p:nvSpPr>
        <p:spPr>
          <a:xfrm>
            <a:off x="914400"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QuickFlow</a:t>
            </a:r>
          </a:p>
          <a:p>
            <a:pPr algn="l">
              <a:lnSpc>
                <a:spcPct val="130000"/>
              </a:lnSpc>
              <a:spcBef>
                <a:spcPts val="800"/>
              </a:spcBef>
            </a:pPr>
            <a:r>
              <a:rPr sz="1300" b="0">
                <a:solidFill>
                  <a:srgbClr val="6F6789"/>
                </a:solidFill>
                <a:latin typeface="Nunito Sans"/>
              </a:rPr>
              <a:t>Get thoughts and tasks out of your head in seconds.</a:t>
            </a:r>
          </a:p>
        </p:txBody>
      </p:sp>
      <p:sp>
        <p:nvSpPr>
          <p:cNvPr id="8" name="Rounded Rectangle 7"/>
          <p:cNvSpPr/>
          <p:nvPr/>
        </p:nvSpPr>
        <p:spPr>
          <a:xfrm>
            <a:off x="3339846"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2454"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Battery</a:t>
            </a:r>
          </a:p>
          <a:p>
            <a:pPr algn="l">
              <a:lnSpc>
                <a:spcPct val="130000"/>
              </a:lnSpc>
              <a:spcBef>
                <a:spcPts val="800"/>
              </a:spcBef>
            </a:pPr>
            <a:r>
              <a:rPr sz="1300" b="0">
                <a:solidFill>
                  <a:srgbClr val="6F6789"/>
                </a:solidFill>
                <a:latin typeface="Nunito Sans"/>
              </a:rPr>
              <a:t>Understand today's energy and capacity with one tap.</a:t>
            </a:r>
          </a:p>
        </p:txBody>
      </p:sp>
      <p:sp>
        <p:nvSpPr>
          <p:cNvPr id="10" name="Rounded Rectangle 9"/>
          <p:cNvSpPr/>
          <p:nvPr/>
        </p:nvSpPr>
        <p:spPr>
          <a:xfrm>
            <a:off x="5765292"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57900"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Calendar / Daily Flow</a:t>
            </a:r>
          </a:p>
          <a:p>
            <a:pPr algn="l">
              <a:lnSpc>
                <a:spcPct val="130000"/>
              </a:lnSpc>
              <a:spcBef>
                <a:spcPts val="800"/>
              </a:spcBef>
            </a:pPr>
            <a:r>
              <a:rPr sz="1300" b="0">
                <a:solidFill>
                  <a:srgbClr val="6F6789"/>
                </a:solidFill>
                <a:latin typeface="Nunito Sans"/>
              </a:rPr>
              <a:t>See what is actually happening, on the right day.</a:t>
            </a:r>
          </a:p>
        </p:txBody>
      </p:sp>
      <p:sp>
        <p:nvSpPr>
          <p:cNvPr id="12" name="Rounded Rectangle 11"/>
          <p:cNvSpPr/>
          <p:nvPr/>
        </p:nvSpPr>
        <p:spPr>
          <a:xfrm>
            <a:off x="8190738" y="2606040"/>
            <a:ext cx="2169414" cy="2194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83346" y="2880360"/>
            <a:ext cx="1584198" cy="173736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Flow / FlowPlan</a:t>
            </a:r>
          </a:p>
          <a:p>
            <a:pPr algn="l">
              <a:lnSpc>
                <a:spcPct val="130000"/>
              </a:lnSpc>
              <a:spcBef>
                <a:spcPts val="800"/>
              </a:spcBef>
            </a:pPr>
            <a:r>
              <a:rPr sz="1300" b="0">
                <a:solidFill>
                  <a:srgbClr val="6F6789"/>
                </a:solidFill>
                <a:latin typeface="Nunito Sans"/>
              </a:rPr>
              <a:t>Find the next reasonable step and adapt when capacity changes.</a:t>
            </a:r>
          </a:p>
        </p:txBody>
      </p:sp>
      <p:sp>
        <p:nvSpPr>
          <p:cNvPr id="14" name="TextBox 13"/>
          <p:cNvSpPr txBox="1"/>
          <p:nvPr/>
        </p:nvSpPr>
        <p:spPr>
          <a:xfrm>
            <a:off x="914400" y="5166360"/>
            <a:ext cx="9418320" cy="4572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Complex technology underneath. Simple experience on the surface.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WHY MYFLOVE IS DIFFERENT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From task management to capacity management.</a:t>
            </a:r>
          </a:p>
        </p:txBody>
      </p:sp>
      <p:sp>
        <p:nvSpPr>
          <p:cNvPr id="5" name="TextBox 4"/>
          <p:cNvSpPr txBox="1"/>
          <p:nvPr/>
        </p:nvSpPr>
        <p:spPr>
          <a:xfrm>
            <a:off x="914400" y="2468880"/>
            <a:ext cx="4572000" cy="365760"/>
          </a:xfrm>
          <a:prstGeom prst="rect">
            <a:avLst/>
          </a:prstGeom>
          <a:noFill/>
        </p:spPr>
        <p:txBody>
          <a:bodyPr wrap="square" anchor="t" lIns="0" rIns="0" tIns="0" bIns="0">
            <a:spAutoFit/>
          </a:bodyPr>
          <a:lstStyle/>
          <a:p>
            <a:pPr algn="l">
              <a:lnSpc>
                <a:spcPct val="115000"/>
              </a:lnSpc>
              <a:spcBef>
                <a:spcPts val="0"/>
              </a:spcBef>
            </a:pPr>
            <a:r>
              <a:rPr sz="1300" b="1">
                <a:solidFill>
                  <a:srgbClr val="6F6789"/>
                </a:solidFill>
                <a:latin typeface="Nunito Sans"/>
              </a:rPr>
              <a:t>TRADITIONAL TOOLS</a:t>
            </a:r>
          </a:p>
        </p:txBody>
      </p:sp>
      <p:sp>
        <p:nvSpPr>
          <p:cNvPr id="6" name="TextBox 5"/>
          <p:cNvSpPr txBox="1"/>
          <p:nvPr/>
        </p:nvSpPr>
        <p:spPr>
          <a:xfrm>
            <a:off x="5788152" y="2468880"/>
            <a:ext cx="4572000" cy="36576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MYFLOVE</a:t>
            </a:r>
          </a:p>
        </p:txBody>
      </p:sp>
      <p:sp>
        <p:nvSpPr>
          <p:cNvPr id="7" name="Rounded Rectangle 6"/>
          <p:cNvSpPr/>
          <p:nvPr/>
        </p:nvSpPr>
        <p:spPr>
          <a:xfrm>
            <a:off x="914400" y="2926080"/>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3081528"/>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What needs to be done?</a:t>
            </a:r>
          </a:p>
        </p:txBody>
      </p:sp>
      <p:sp>
        <p:nvSpPr>
          <p:cNvPr id="9" name="Rounded Rectangle 8"/>
          <p:cNvSpPr/>
          <p:nvPr/>
        </p:nvSpPr>
        <p:spPr>
          <a:xfrm>
            <a:off x="5788152" y="2926080"/>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62472" y="3072384"/>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What can I realistically do?</a:t>
            </a:r>
          </a:p>
        </p:txBody>
      </p:sp>
      <p:sp>
        <p:nvSpPr>
          <p:cNvPr id="11" name="Rounded Rectangle 10"/>
          <p:cNvSpPr/>
          <p:nvPr/>
        </p:nvSpPr>
        <p:spPr>
          <a:xfrm>
            <a:off x="914400" y="3511296"/>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3666744"/>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Time-based planning</a:t>
            </a:r>
          </a:p>
        </p:txBody>
      </p:sp>
      <p:sp>
        <p:nvSpPr>
          <p:cNvPr id="13" name="Rounded Rectangle 12"/>
          <p:cNvSpPr/>
          <p:nvPr/>
        </p:nvSpPr>
        <p:spPr>
          <a:xfrm>
            <a:off x="5788152" y="3511296"/>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62472" y="3657600"/>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Capacity-based planning</a:t>
            </a:r>
          </a:p>
        </p:txBody>
      </p:sp>
      <p:sp>
        <p:nvSpPr>
          <p:cNvPr id="15" name="Rounded Rectangle 14"/>
          <p:cNvSpPr/>
          <p:nvPr/>
        </p:nvSpPr>
        <p:spPr>
          <a:xfrm>
            <a:off x="914400" y="4096512"/>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251960"/>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Tasks and reminders</a:t>
            </a:r>
          </a:p>
        </p:txBody>
      </p:sp>
      <p:sp>
        <p:nvSpPr>
          <p:cNvPr id="17" name="Rounded Rectangle 16"/>
          <p:cNvSpPr/>
          <p:nvPr/>
        </p:nvSpPr>
        <p:spPr>
          <a:xfrm>
            <a:off x="5788152" y="4096512"/>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62472" y="4242816"/>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Tasks + energy + context</a:t>
            </a:r>
          </a:p>
        </p:txBody>
      </p:sp>
      <p:sp>
        <p:nvSpPr>
          <p:cNvPr id="19" name="Rounded Rectangle 18"/>
          <p:cNvSpPr/>
          <p:nvPr/>
        </p:nvSpPr>
        <p:spPr>
          <a:xfrm>
            <a:off x="914400" y="4681728"/>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4837176"/>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User adapts to the system</a:t>
            </a:r>
          </a:p>
        </p:txBody>
      </p:sp>
      <p:sp>
        <p:nvSpPr>
          <p:cNvPr id="21" name="Rounded Rectangle 20"/>
          <p:cNvSpPr/>
          <p:nvPr/>
        </p:nvSpPr>
        <p:spPr>
          <a:xfrm>
            <a:off x="5788152" y="4681728"/>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828032"/>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System adapts to the user</a:t>
            </a:r>
          </a:p>
        </p:txBody>
      </p:sp>
      <p:sp>
        <p:nvSpPr>
          <p:cNvPr id="23" name="Rounded Rectangle 22"/>
          <p:cNvSpPr/>
          <p:nvPr/>
        </p:nvSpPr>
        <p:spPr>
          <a:xfrm>
            <a:off x="914400" y="5266944"/>
            <a:ext cx="4572000" cy="502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88720" y="5422392"/>
            <a:ext cx="402336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Completion-focused</a:t>
            </a:r>
          </a:p>
        </p:txBody>
      </p:sp>
      <p:sp>
        <p:nvSpPr>
          <p:cNvPr id="25" name="Rounded Rectangle 24"/>
          <p:cNvSpPr/>
          <p:nvPr/>
        </p:nvSpPr>
        <p:spPr>
          <a:xfrm>
            <a:off x="5788152" y="5266944"/>
            <a:ext cx="4572000" cy="5029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062472" y="5413248"/>
            <a:ext cx="4023360" cy="365760"/>
          </a:xfrm>
          <a:prstGeom prst="rect">
            <a:avLst/>
          </a:prstGeom>
          <a:noFill/>
        </p:spPr>
        <p:txBody>
          <a:bodyPr wrap="square" anchor="t" lIns="0" rIns="0" tIns="0" bIns="0">
            <a:spAutoFit/>
          </a:bodyPr>
          <a:lstStyle/>
          <a:p>
            <a:pPr algn="l">
              <a:lnSpc>
                <a:spcPct val="115000"/>
              </a:lnSpc>
              <a:spcBef>
                <a:spcPts val="0"/>
              </a:spcBef>
            </a:pPr>
            <a:r>
              <a:rPr sz="1500" b="1">
                <a:solidFill>
                  <a:srgbClr val="FFFFFF"/>
                </a:solidFill>
                <a:latin typeface="Nunito Sans"/>
              </a:rPr>
              <a:t>Sustainable everyday life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MARKET OPPORTUNITY</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A large problem across markets.</a:t>
            </a:r>
          </a:p>
        </p:txBody>
      </p:sp>
      <p:sp>
        <p:nvSpPr>
          <p:cNvPr id="5" name="TextBox 4"/>
          <p:cNvSpPr txBox="1"/>
          <p:nvPr/>
        </p:nvSpPr>
        <p:spPr>
          <a:xfrm>
            <a:off x="914400" y="2057400"/>
            <a:ext cx="8412480" cy="822960"/>
          </a:xfrm>
          <a:prstGeom prst="rect">
            <a:avLst/>
          </a:prstGeom>
          <a:noFill/>
        </p:spPr>
        <p:txBody>
          <a:bodyPr wrap="square" anchor="t" lIns="0" rIns="0" tIns="0" bIns="0">
            <a:spAutoFit/>
          </a:bodyPr>
          <a:lstStyle/>
          <a:p>
            <a:pPr algn="l">
              <a:lnSpc>
                <a:spcPct val="130000"/>
              </a:lnSpc>
              <a:spcBef>
                <a:spcPts val="0"/>
              </a:spcBef>
            </a:pPr>
            <a:r>
              <a:rPr sz="1600" b="0">
                <a:solidFill>
                  <a:srgbClr val="6F6789"/>
                </a:solidFill>
                <a:latin typeface="Nunito Sans"/>
              </a:rPr>
              <a:t>MyFlove serves people with high mental load and complex everyday demands — a scalable platform, not a niche diagnosis app.</a:t>
            </a:r>
          </a:p>
        </p:txBody>
      </p:sp>
      <p:sp>
        <p:nvSpPr>
          <p:cNvPr id="6" name="Rounded Rectangle 5"/>
          <p:cNvSpPr/>
          <p:nvPr/>
        </p:nvSpPr>
        <p:spPr>
          <a:xfrm>
            <a:off x="914400"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B2C — Consumers</a:t>
            </a:r>
          </a:p>
          <a:p>
            <a:pPr algn="l">
              <a:lnSpc>
                <a:spcPct val="130000"/>
              </a:lnSpc>
              <a:spcBef>
                <a:spcPts val="800"/>
              </a:spcBef>
            </a:pPr>
            <a:r>
              <a:rPr sz="1300" b="0">
                <a:solidFill>
                  <a:srgbClr val="6F6789"/>
                </a:solidFill>
                <a:latin typeface="Nunito Sans"/>
              </a:rPr>
              <a:t>People who struggle to align everyday demands with their actual capacity.</a:t>
            </a:r>
          </a:p>
        </p:txBody>
      </p:sp>
      <p:sp>
        <p:nvSpPr>
          <p:cNvPr id="8" name="Rounded Rectangle 7"/>
          <p:cNvSpPr/>
          <p:nvPr/>
        </p:nvSpPr>
        <p:spPr>
          <a:xfrm>
            <a:off x="4148328"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40936"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B2B — Employers</a:t>
            </a:r>
          </a:p>
          <a:p>
            <a:pPr algn="l">
              <a:lnSpc>
                <a:spcPct val="130000"/>
              </a:lnSpc>
              <a:spcBef>
                <a:spcPts val="800"/>
              </a:spcBef>
            </a:pPr>
            <a:r>
              <a:rPr sz="1300" b="0">
                <a:solidFill>
                  <a:srgbClr val="6F6789"/>
                </a:solidFill>
                <a:latin typeface="Nunito Sans"/>
              </a:rPr>
              <a:t>Organizations investing in sustainable digital support and wellbeing.</a:t>
            </a:r>
          </a:p>
        </p:txBody>
      </p:sp>
      <p:sp>
        <p:nvSpPr>
          <p:cNvPr id="10" name="Rounded Rectangle 9"/>
          <p:cNvSpPr/>
          <p:nvPr/>
        </p:nvSpPr>
        <p:spPr>
          <a:xfrm>
            <a:off x="7382256" y="2880360"/>
            <a:ext cx="2977896" cy="16002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74864" y="3154679"/>
            <a:ext cx="2392680" cy="114300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B2G — Public sector</a:t>
            </a:r>
          </a:p>
          <a:p>
            <a:pPr algn="l">
              <a:lnSpc>
                <a:spcPct val="130000"/>
              </a:lnSpc>
              <a:spcBef>
                <a:spcPts val="800"/>
              </a:spcBef>
            </a:pPr>
            <a:r>
              <a:rPr sz="1300" b="0">
                <a:solidFill>
                  <a:srgbClr val="6F6789"/>
                </a:solidFill>
                <a:latin typeface="Nunito Sans"/>
              </a:rPr>
              <a:t>Municipalities supporting independence and everyday functioning.</a:t>
            </a:r>
          </a:p>
        </p:txBody>
      </p:sp>
      <p:sp>
        <p:nvSpPr>
          <p:cNvPr id="12" name="Rounded Rectangle 11"/>
          <p:cNvSpPr/>
          <p:nvPr/>
        </p:nvSpPr>
        <p:spPr>
          <a:xfrm>
            <a:off x="914400" y="4709160"/>
            <a:ext cx="9445752" cy="105156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92040"/>
            <a:ext cx="8869680" cy="822960"/>
          </a:xfrm>
          <a:prstGeom prst="rect">
            <a:avLst/>
          </a:prstGeom>
          <a:noFill/>
        </p:spPr>
        <p:txBody>
          <a:bodyPr wrap="square" anchor="t" lIns="0" rIns="0" tIns="0" bIns="0">
            <a:spAutoFit/>
          </a:bodyPr>
          <a:lstStyle/>
          <a:p>
            <a:pPr algn="l">
              <a:lnSpc>
                <a:spcPct val="130000"/>
              </a:lnSpc>
              <a:spcBef>
                <a:spcPts val="0"/>
              </a:spcBef>
            </a:pPr>
            <a:r>
              <a:rPr sz="1300" b="0">
                <a:solidFill>
                  <a:srgbClr val="241C3B"/>
                </a:solidFill>
                <a:latin typeface="Nunito Sans"/>
              </a:rPr>
              <a:t>Reference points: ADHD prevalence ~2.58% of adults globally (PubMed, 2021) · ~3% of adults in Sweden (Socialstyrelsen) · ADHD app market estimated at $1.9B in 2025, projected $6.7B by 2033 (Grand View Research).</a:t>
            </a:r>
          </a:p>
          <a:p>
            <a:pPr algn="l">
              <a:lnSpc>
                <a:spcPct val="115000"/>
              </a:lnSpc>
              <a:spcBef>
                <a:spcPts val="600"/>
              </a:spcBef>
            </a:pPr>
            <a:r>
              <a:rPr sz="1100" b="0">
                <a:solidFill>
                  <a:srgbClr val="6F6789"/>
                </a:solidFill>
                <a:latin typeface="Nunito Sans"/>
              </a:rPr>
              <a:t>External estimates — not MyFlove user or revenue figures.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TRACTION &amp; VALIDATION</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From product to proof.</a:t>
            </a:r>
          </a:p>
        </p:txBody>
      </p:sp>
      <p:sp>
        <p:nvSpPr>
          <p:cNvPr id="5" name="Rounded Rectangle 4"/>
          <p:cNvSpPr/>
          <p:nvPr/>
        </p:nvSpPr>
        <p:spPr>
          <a:xfrm>
            <a:off x="914400" y="2286000"/>
            <a:ext cx="4572000" cy="3063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78608"/>
            <a:ext cx="4023360" cy="265176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BUILT</a:t>
            </a:r>
          </a:p>
          <a:p>
            <a:pPr algn="l">
              <a:lnSpc>
                <a:spcPct val="110000"/>
              </a:lnSpc>
              <a:spcBef>
                <a:spcPts val="800"/>
              </a:spcBef>
            </a:pPr>
            <a:r>
              <a:rPr sz="3000" b="1">
                <a:solidFill>
                  <a:srgbClr val="241C3B"/>
                </a:solidFill>
                <a:latin typeface="Nunito Sans"/>
              </a:rPr>
              <a:t>48 users</a:t>
            </a:r>
          </a:p>
          <a:p>
            <a:pPr algn="l">
              <a:lnSpc>
                <a:spcPct val="130000"/>
              </a:lnSpc>
              <a:spcBef>
                <a:spcPts val="800"/>
              </a:spcBef>
            </a:pPr>
            <a:r>
              <a:rPr sz="1400" b="0">
                <a:solidFill>
                  <a:srgbClr val="6F6789"/>
                </a:solidFill>
                <a:latin typeface="Nunito Sans"/>
              </a:rPr>
              <a:t>Functioning MVP · working web application</a:t>
            </a:r>
          </a:p>
          <a:p>
            <a:pPr algn="l">
              <a:lnSpc>
                <a:spcPct val="135000"/>
              </a:lnSpc>
              <a:spcBef>
                <a:spcPts val="1200"/>
              </a:spcBef>
            </a:pPr>
            <a:r>
              <a:rPr sz="1400" b="0">
                <a:solidFill>
                  <a:srgbClr val="241C3B"/>
                </a:solidFill>
                <a:latin typeface="Nunito Sans"/>
              </a:rPr>
              <a:t>QuickFlow · Battery / energy · Calendar · Daily Flow · Flow / AI · energy history · weekly overview</a:t>
            </a:r>
          </a:p>
        </p:txBody>
      </p:sp>
      <p:sp>
        <p:nvSpPr>
          <p:cNvPr id="7" name="Rounded Rectangle 6"/>
          <p:cNvSpPr/>
          <p:nvPr/>
        </p:nvSpPr>
        <p:spPr>
          <a:xfrm>
            <a:off x="5788152" y="2286000"/>
            <a:ext cx="4572000" cy="306324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62472" y="2578608"/>
            <a:ext cx="4023360" cy="2651760"/>
          </a:xfrm>
          <a:prstGeom prst="rect">
            <a:avLst/>
          </a:prstGeom>
          <a:noFill/>
        </p:spPr>
        <p:txBody>
          <a:bodyPr wrap="square" anchor="t" lIns="0" rIns="0" tIns="0" bIns="0">
            <a:spAutoFit/>
          </a:bodyPr>
          <a:lstStyle/>
          <a:p>
            <a:pPr algn="l">
              <a:lnSpc>
                <a:spcPct val="115000"/>
              </a:lnSpc>
              <a:spcBef>
                <a:spcPts val="0"/>
              </a:spcBef>
            </a:pPr>
            <a:r>
              <a:rPr sz="1300" b="1">
                <a:solidFill>
                  <a:srgbClr val="E6DCFB"/>
                </a:solidFill>
                <a:latin typeface="Nunito Sans"/>
              </a:rPr>
              <a:t>NOW: STRUCTURED VALIDATION + PILOT TESTING</a:t>
            </a:r>
          </a:p>
          <a:p>
            <a:pPr algn="l">
              <a:lnSpc>
                <a:spcPct val="115000"/>
              </a:lnSpc>
              <a:spcBef>
                <a:spcPts val="1000"/>
              </a:spcBef>
            </a:pPr>
            <a:r>
              <a:rPr sz="2000" b="1">
                <a:solidFill>
                  <a:srgbClr val="FFFFFF"/>
                </a:solidFill>
                <a:latin typeface="Nunito Sans"/>
              </a:rPr>
              <a:t>We are measuring</a:t>
            </a:r>
          </a:p>
          <a:p>
            <a:pPr algn="l">
              <a:lnSpc>
                <a:spcPct val="135000"/>
              </a:lnSpc>
              <a:spcBef>
                <a:spcPts val="1000"/>
              </a:spcBef>
            </a:pPr>
            <a:r>
              <a:rPr sz="1400" b="0">
                <a:solidFill>
                  <a:srgbClr val="FFFFFF"/>
                </a:solidFill>
                <a:latin typeface="Nunito Sans"/>
              </a:rPr>
              <a:t>Recurring usage · perceived mental load · sense of control · prioritisation · ability to get started · usefulness of QuickFlow and Flow/FlowPlan · willingness to continue · willingness to pay</a:t>
            </a:r>
          </a:p>
        </p:txBody>
      </p:sp>
      <p:sp>
        <p:nvSpPr>
          <p:cNvPr id="9" name="TextBox 8"/>
          <p:cNvSpPr txBox="1"/>
          <p:nvPr/>
        </p:nvSpPr>
        <p:spPr>
          <a:xfrm>
            <a:off x="914400" y="5486400"/>
            <a:ext cx="9418320" cy="365760"/>
          </a:xfrm>
          <a:prstGeom prst="rect">
            <a:avLst/>
          </a:prstGeom>
          <a:noFill/>
        </p:spPr>
        <p:txBody>
          <a:bodyPr wrap="square" anchor="t" lIns="0" rIns="0" tIns="0" bIns="0">
            <a:spAutoFit/>
          </a:bodyPr>
          <a:lstStyle/>
          <a:p>
            <a:pPr algn="l">
              <a:lnSpc>
                <a:spcPct val="115000"/>
              </a:lnSpc>
              <a:spcBef>
                <a:spcPts val="0"/>
              </a:spcBef>
            </a:pPr>
            <a:r>
              <a:rPr sz="1300" b="0">
                <a:solidFill>
                  <a:srgbClr val="6F6789"/>
                </a:solidFill>
                <a:latin typeface="Nunito Sans"/>
              </a:rPr>
              <a:t>No paying customers and no clinical outcomes claimed — those are exactly what we are now measuring.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BUSINESS MODEL &amp; GO-TO-MARKET</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Prove value first. Scale second.</a:t>
            </a:r>
          </a:p>
        </p:txBody>
      </p:sp>
      <p:sp>
        <p:nvSpPr>
          <p:cNvPr id="5" name="Rounded Rectangle 4"/>
          <p:cNvSpPr/>
          <p:nvPr/>
        </p:nvSpPr>
        <p:spPr>
          <a:xfrm>
            <a:off x="914400"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B2C — now</a:t>
            </a:r>
          </a:p>
          <a:p>
            <a:pPr algn="l">
              <a:lnSpc>
                <a:spcPct val="130000"/>
              </a:lnSpc>
              <a:spcBef>
                <a:spcPts val="800"/>
              </a:spcBef>
            </a:pPr>
            <a:r>
              <a:rPr sz="1300" b="0">
                <a:solidFill>
                  <a:srgbClr val="6F6789"/>
                </a:solidFill>
                <a:latin typeface="Nunito Sans"/>
              </a:rPr>
              <a:t>Free → Premium. Pricing validated before it is set.</a:t>
            </a:r>
          </a:p>
        </p:txBody>
      </p:sp>
      <p:sp>
        <p:nvSpPr>
          <p:cNvPr id="7" name="Rounded Rectangle 6"/>
          <p:cNvSpPr/>
          <p:nvPr/>
        </p:nvSpPr>
        <p:spPr>
          <a:xfrm>
            <a:off x="4148328"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B2B — next</a:t>
            </a:r>
          </a:p>
          <a:p>
            <a:pPr algn="l">
              <a:lnSpc>
                <a:spcPct val="130000"/>
              </a:lnSpc>
              <a:spcBef>
                <a:spcPts val="800"/>
              </a:spcBef>
            </a:pPr>
            <a:r>
              <a:rPr sz="1300" b="0">
                <a:solidFill>
                  <a:srgbClr val="6F6789"/>
                </a:solidFill>
                <a:latin typeface="Nunito Sans"/>
              </a:rPr>
              <a:t>Employers and organizations.</a:t>
            </a:r>
          </a:p>
        </p:txBody>
      </p:sp>
      <p:sp>
        <p:nvSpPr>
          <p:cNvPr id="9" name="Rounded Rectangle 8"/>
          <p:cNvSpPr/>
          <p:nvPr/>
        </p:nvSpPr>
        <p:spPr>
          <a:xfrm>
            <a:off x="7382256" y="2514600"/>
            <a:ext cx="2977896"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788920"/>
            <a:ext cx="2392680" cy="118872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B2G — then</a:t>
            </a:r>
          </a:p>
          <a:p>
            <a:pPr algn="l">
              <a:lnSpc>
                <a:spcPct val="130000"/>
              </a:lnSpc>
              <a:spcBef>
                <a:spcPts val="800"/>
              </a:spcBef>
            </a:pPr>
            <a:r>
              <a:rPr sz="1300" b="0">
                <a:solidFill>
                  <a:srgbClr val="6F6789"/>
                </a:solidFill>
                <a:latin typeface="Nunito Sans"/>
              </a:rPr>
              <a:t>Public sector and municipalities.</a:t>
            </a:r>
          </a:p>
        </p:txBody>
      </p:sp>
      <p:sp>
        <p:nvSpPr>
          <p:cNvPr id="11" name="Rounded Rectangle 10"/>
          <p:cNvSpPr/>
          <p:nvPr/>
        </p:nvSpPr>
        <p:spPr>
          <a:xfrm>
            <a:off x="914400" y="4526280"/>
            <a:ext cx="1437132" cy="7315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FFFFFF"/>
                </a:solidFill>
                <a:latin typeface="Nunito Sans"/>
              </a:rPr>
              <a:t>Pilot</a:t>
            </a:r>
          </a:p>
        </p:txBody>
      </p:sp>
      <p:sp>
        <p:nvSpPr>
          <p:cNvPr id="13" name="Rounded Rectangle 12"/>
          <p:cNvSpPr/>
          <p:nvPr/>
        </p:nvSpPr>
        <p:spPr>
          <a:xfrm>
            <a:off x="2516124" y="4526280"/>
            <a:ext cx="1437132" cy="73152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6124"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FFFFFF"/>
                </a:solidFill>
                <a:latin typeface="Nunito Sans"/>
              </a:rPr>
              <a:t>Validate</a:t>
            </a:r>
          </a:p>
        </p:txBody>
      </p:sp>
      <p:sp>
        <p:nvSpPr>
          <p:cNvPr id="15" name="Rounded Rectangle 14"/>
          <p:cNvSpPr/>
          <p:nvPr/>
        </p:nvSpPr>
        <p:spPr>
          <a:xfrm>
            <a:off x="4117848"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7848"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Launch</a:t>
            </a:r>
          </a:p>
        </p:txBody>
      </p:sp>
      <p:sp>
        <p:nvSpPr>
          <p:cNvPr id="17" name="Rounded Rectangle 16"/>
          <p:cNvSpPr/>
          <p:nvPr/>
        </p:nvSpPr>
        <p:spPr>
          <a:xfrm>
            <a:off x="5719572"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19572"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B2C</a:t>
            </a:r>
          </a:p>
        </p:txBody>
      </p:sp>
      <p:sp>
        <p:nvSpPr>
          <p:cNvPr id="19" name="Rounded Rectangle 18"/>
          <p:cNvSpPr/>
          <p:nvPr/>
        </p:nvSpPr>
        <p:spPr>
          <a:xfrm>
            <a:off x="7321296"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21296"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B2B / B2G</a:t>
            </a:r>
          </a:p>
        </p:txBody>
      </p:sp>
      <p:sp>
        <p:nvSpPr>
          <p:cNvPr id="21" name="Rounded Rectangle 20"/>
          <p:cNvSpPr/>
          <p:nvPr/>
        </p:nvSpPr>
        <p:spPr>
          <a:xfrm>
            <a:off x="8923020" y="4526280"/>
            <a:ext cx="1437132" cy="73152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23020" y="4736592"/>
            <a:ext cx="1437132" cy="365760"/>
          </a:xfrm>
          <a:prstGeom prst="rect">
            <a:avLst/>
          </a:prstGeom>
          <a:noFill/>
        </p:spPr>
        <p:txBody>
          <a:bodyPr wrap="square" anchor="t" lIns="0" rIns="0" tIns="0" bIns="0">
            <a:spAutoFit/>
          </a:bodyPr>
          <a:lstStyle/>
          <a:p>
            <a:pPr algn="ctr">
              <a:lnSpc>
                <a:spcPct val="115000"/>
              </a:lnSpc>
              <a:spcBef>
                <a:spcPts val="0"/>
              </a:spcBef>
            </a:pPr>
            <a:r>
              <a:rPr sz="1500" b="1">
                <a:solidFill>
                  <a:srgbClr val="241C3B"/>
                </a:solidFill>
                <a:latin typeface="Nunito Sans"/>
              </a:rPr>
              <a:t>Scale</a:t>
            </a:r>
          </a:p>
        </p:txBody>
      </p:sp>
      <p:sp>
        <p:nvSpPr>
          <p:cNvPr id="23" name="TextBox 22"/>
          <p:cNvSpPr txBox="1"/>
          <p:nvPr/>
        </p:nvSpPr>
        <p:spPr>
          <a:xfrm>
            <a:off x="914400" y="5532120"/>
            <a:ext cx="9418320" cy="365760"/>
          </a:xfrm>
          <a:prstGeom prst="rect">
            <a:avLst/>
          </a:prstGeom>
          <a:noFill/>
        </p:spPr>
        <p:txBody>
          <a:bodyPr wrap="square" anchor="t" lIns="0" rIns="0" tIns="0" bIns="0">
            <a:spAutoFit/>
          </a:bodyPr>
          <a:lstStyle/>
          <a:p>
            <a:pPr algn="l">
              <a:lnSpc>
                <a:spcPct val="115000"/>
              </a:lnSpc>
              <a:spcBef>
                <a:spcPts val="0"/>
              </a:spcBef>
            </a:pPr>
            <a:r>
              <a:rPr sz="1500" b="0">
                <a:solidFill>
                  <a:srgbClr val="6F6789"/>
                </a:solidFill>
                <a:latin typeface="Nunito Sans"/>
              </a:rPr>
              <a:t>We are deliberately validating the product and the business model before scaling.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TEAM</a:t>
            </a:r>
          </a:p>
        </p:txBody>
      </p:sp>
      <p:sp>
        <p:nvSpPr>
          <p:cNvPr id="4" name="TextBox 3"/>
          <p:cNvSpPr txBox="1"/>
          <p:nvPr/>
        </p:nvSpPr>
        <p:spPr>
          <a:xfrm>
            <a:off x="914400" y="960120"/>
            <a:ext cx="9418320" cy="1097280"/>
          </a:xfrm>
          <a:prstGeom prst="rect">
            <a:avLst/>
          </a:prstGeom>
          <a:noFill/>
        </p:spPr>
        <p:txBody>
          <a:bodyPr wrap="square" anchor="t" lIns="0" rIns="0" tIns="0" bIns="0">
            <a:spAutoFit/>
          </a:bodyPr>
          <a:lstStyle/>
          <a:p>
            <a:pPr algn="l">
              <a:lnSpc>
                <a:spcPct val="105000"/>
              </a:lnSpc>
              <a:spcBef>
                <a:spcPts val="0"/>
              </a:spcBef>
            </a:pPr>
            <a:r>
              <a:rPr sz="4000" b="1">
                <a:solidFill>
                  <a:srgbClr val="241C3B"/>
                </a:solidFill>
                <a:latin typeface="Nunito Sans"/>
              </a:rPr>
              <a:t>Built from lived experience + professional expertise.</a:t>
            </a:r>
          </a:p>
        </p:txBody>
      </p:sp>
      <p:sp>
        <p:nvSpPr>
          <p:cNvPr id="5" name="Rounded Rectangle 4"/>
          <p:cNvSpPr/>
          <p:nvPr/>
        </p:nvSpPr>
        <p:spPr>
          <a:xfrm>
            <a:off x="914400" y="2377440"/>
            <a:ext cx="4572000" cy="2834640"/>
          </a:xfrm>
          <a:prstGeom prst="roundRect">
            <a:avLst>
              <a:gd name="adj" fmla="val 6000"/>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3931920" cy="2286000"/>
          </a:xfrm>
          <a:prstGeom prst="rect">
            <a:avLst/>
          </a:prstGeom>
          <a:noFill/>
        </p:spPr>
        <p:txBody>
          <a:bodyPr wrap="square" anchor="t" lIns="0" rIns="0" tIns="0" bIns="0">
            <a:spAutoFit/>
          </a:bodyPr>
          <a:lstStyle/>
          <a:p>
            <a:pPr algn="l">
              <a:lnSpc>
                <a:spcPct val="115000"/>
              </a:lnSpc>
              <a:spcBef>
                <a:spcPts val="0"/>
              </a:spcBef>
            </a:pPr>
            <a:r>
              <a:rPr sz="3200" b="1">
                <a:solidFill>
                  <a:srgbClr val="FFFFFF"/>
                </a:solidFill>
                <a:latin typeface="Nunito Sans"/>
              </a:rPr>
              <a:t>Camilla Baksi</a:t>
            </a:r>
          </a:p>
          <a:p>
            <a:pPr algn="l">
              <a:lnSpc>
                <a:spcPct val="115000"/>
              </a:lnSpc>
              <a:spcBef>
                <a:spcPts val="600"/>
              </a:spcBef>
            </a:pPr>
            <a:r>
              <a:rPr sz="1600" b="0">
                <a:solidFill>
                  <a:srgbClr val="E6DCFB"/>
                </a:solidFill>
                <a:latin typeface="Nunito Sans"/>
              </a:rPr>
              <a:t>Founder, MyFlove</a:t>
            </a:r>
          </a:p>
          <a:p>
            <a:pPr algn="l">
              <a:lnSpc>
                <a:spcPct val="115000"/>
              </a:lnSpc>
              <a:spcBef>
                <a:spcPts val="1600"/>
              </a:spcBef>
            </a:pPr>
            <a:r>
              <a:rPr sz="1600" b="1">
                <a:solidFill>
                  <a:srgbClr val="FFFFFF"/>
                </a:solidFill>
                <a:latin typeface="Nunito Sans"/>
              </a:rPr>
              <a:t>Humanistic Social Pedagogue</a:t>
            </a:r>
          </a:p>
          <a:p>
            <a:pPr algn="l">
              <a:lnSpc>
                <a:spcPct val="135000"/>
              </a:lnSpc>
              <a:spcBef>
                <a:spcPts val="800"/>
              </a:spcBef>
            </a:pPr>
            <a:r>
              <a:rPr sz="1400" b="0">
                <a:solidFill>
                  <a:srgbClr val="E6DCFB"/>
                </a:solidFill>
                <a:latin typeface="Nunito Sans"/>
              </a:rPr>
              <a:t>Further education in NPF, pedagogy, problematic school absence, and professional response to trauma and difficult events.</a:t>
            </a:r>
          </a:p>
        </p:txBody>
      </p:sp>
      <p:sp>
        <p:nvSpPr>
          <p:cNvPr id="7" name="Rounded Rectangle 6"/>
          <p:cNvSpPr/>
          <p:nvPr/>
        </p:nvSpPr>
        <p:spPr>
          <a:xfrm>
            <a:off x="5788152" y="2377440"/>
            <a:ext cx="4572000" cy="13258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08192" y="2651760"/>
            <a:ext cx="3931920" cy="9144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Professional experience</a:t>
            </a:r>
          </a:p>
          <a:p>
            <a:pPr algn="l">
              <a:lnSpc>
                <a:spcPct val="130000"/>
              </a:lnSpc>
              <a:spcBef>
                <a:spcPts val="800"/>
              </a:spcBef>
            </a:pPr>
            <a:r>
              <a:rPr sz="1400" b="0">
                <a:solidFill>
                  <a:srgbClr val="6F6789"/>
                </a:solidFill>
                <a:latin typeface="Nunito Sans"/>
              </a:rPr>
              <a:t>Youth coach · support worker · childcare worker</a:t>
            </a:r>
          </a:p>
        </p:txBody>
      </p:sp>
      <p:sp>
        <p:nvSpPr>
          <p:cNvPr id="9" name="Rounded Rectangle 8"/>
          <p:cNvSpPr/>
          <p:nvPr/>
        </p:nvSpPr>
        <p:spPr>
          <a:xfrm>
            <a:off x="5788152" y="3886200"/>
            <a:ext cx="4572000" cy="132588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4160520"/>
            <a:ext cx="3931920" cy="914400"/>
          </a:xfrm>
          <a:prstGeom prst="rect">
            <a:avLst/>
          </a:prstGeom>
          <a:noFill/>
        </p:spPr>
        <p:txBody>
          <a:bodyPr wrap="square" anchor="t" lIns="0" rIns="0" tIns="0" bIns="0">
            <a:spAutoFit/>
          </a:bodyPr>
          <a:lstStyle/>
          <a:p>
            <a:pPr algn="l">
              <a:lnSpc>
                <a:spcPct val="115000"/>
              </a:lnSpc>
              <a:spcBef>
                <a:spcPts val="0"/>
              </a:spcBef>
            </a:pPr>
            <a:r>
              <a:rPr sz="1700" b="1">
                <a:solidFill>
                  <a:srgbClr val="241C3B"/>
                </a:solidFill>
                <a:latin typeface="Nunito Sans"/>
              </a:rPr>
              <a:t>Founder insight</a:t>
            </a:r>
          </a:p>
          <a:p>
            <a:pPr algn="l">
              <a:lnSpc>
                <a:spcPct val="130000"/>
              </a:lnSpc>
              <a:spcBef>
                <a:spcPts val="800"/>
              </a:spcBef>
            </a:pPr>
            <a:r>
              <a:rPr sz="1400" b="0">
                <a:solidFill>
                  <a:srgbClr val="6F6789"/>
                </a:solidFill>
                <a:latin typeface="Nunito Sans"/>
              </a:rPr>
              <a:t>The intersection of professional knowledge, lived experience and product development.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7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66928"/>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7C5CE0"/>
                </a:solidFill>
                <a:latin typeface="Nunito Sans"/>
              </a:rPr>
              <a:t>FUNDING</a:t>
            </a:r>
          </a:p>
        </p:txBody>
      </p:sp>
      <p:sp>
        <p:nvSpPr>
          <p:cNvPr id="4" name="TextBox 3"/>
          <p:cNvSpPr txBox="1"/>
          <p:nvPr/>
        </p:nvSpPr>
        <p:spPr>
          <a:xfrm>
            <a:off x="914400" y="960120"/>
            <a:ext cx="9418320" cy="914400"/>
          </a:xfrm>
          <a:prstGeom prst="rect">
            <a:avLst/>
          </a:prstGeom>
          <a:noFill/>
        </p:spPr>
        <p:txBody>
          <a:bodyPr wrap="square" anchor="t" lIns="0" rIns="0" tIns="0" bIns="0">
            <a:spAutoFit/>
          </a:bodyPr>
          <a:lstStyle/>
          <a:p>
            <a:pPr algn="l">
              <a:lnSpc>
                <a:spcPct val="115000"/>
              </a:lnSpc>
              <a:spcBef>
                <a:spcPts val="0"/>
              </a:spcBef>
            </a:pPr>
            <a:r>
              <a:rPr sz="4000" b="1">
                <a:solidFill>
                  <a:srgbClr val="241C3B"/>
                </a:solidFill>
                <a:latin typeface="Nunito Sans"/>
              </a:rPr>
              <a:t>Raising €250K · 18-month runway</a:t>
            </a:r>
          </a:p>
        </p:txBody>
      </p:sp>
      <p:sp>
        <p:nvSpPr>
          <p:cNvPr id="5" name="Rounded Rectangle 4"/>
          <p:cNvSpPr/>
          <p:nvPr/>
        </p:nvSpPr>
        <p:spPr>
          <a:xfrm>
            <a:off x="914400"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Product &amp; technology</a:t>
            </a:r>
          </a:p>
          <a:p>
            <a:pPr algn="l">
              <a:lnSpc>
                <a:spcPct val="130000"/>
              </a:lnSpc>
              <a:spcBef>
                <a:spcPts val="800"/>
              </a:spcBef>
            </a:pPr>
            <a:r>
              <a:rPr sz="1300" b="0">
                <a:solidFill>
                  <a:srgbClr val="6F6789"/>
                </a:solidFill>
                <a:latin typeface="Nunito Sans"/>
              </a:rPr>
              <a:t>iOS / Android · technical stabilization · backend &amp; scalability · security / GDPR</a:t>
            </a:r>
          </a:p>
        </p:txBody>
      </p:sp>
      <p:sp>
        <p:nvSpPr>
          <p:cNvPr id="7" name="Rounded Rectangle 6"/>
          <p:cNvSpPr/>
          <p:nvPr/>
        </p:nvSpPr>
        <p:spPr>
          <a:xfrm>
            <a:off x="4148328"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40936"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Validation</a:t>
            </a:r>
          </a:p>
          <a:p>
            <a:pPr algn="l">
              <a:lnSpc>
                <a:spcPct val="130000"/>
              </a:lnSpc>
              <a:spcBef>
                <a:spcPts val="800"/>
              </a:spcBef>
            </a:pPr>
            <a:r>
              <a:rPr sz="1300" b="0">
                <a:solidFill>
                  <a:srgbClr val="6F6789"/>
                </a:solidFill>
                <a:latin typeface="Nunito Sans"/>
              </a:rPr>
              <a:t>Structured pilots · analytics · retention measurement · proof of value</a:t>
            </a:r>
          </a:p>
        </p:txBody>
      </p:sp>
      <p:sp>
        <p:nvSpPr>
          <p:cNvPr id="9" name="Rounded Rectangle 8"/>
          <p:cNvSpPr/>
          <p:nvPr/>
        </p:nvSpPr>
        <p:spPr>
          <a:xfrm>
            <a:off x="7382256" y="2148840"/>
            <a:ext cx="2977896" cy="19202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74864" y="2423160"/>
            <a:ext cx="2392680" cy="1463040"/>
          </a:xfrm>
          <a:prstGeom prst="rect">
            <a:avLst/>
          </a:prstGeom>
          <a:noFill/>
        </p:spPr>
        <p:txBody>
          <a:bodyPr wrap="square" anchor="t" lIns="0" rIns="0" tIns="0" bIns="0">
            <a:spAutoFit/>
          </a:bodyPr>
          <a:lstStyle/>
          <a:p>
            <a:pPr algn="l">
              <a:lnSpc>
                <a:spcPct val="115000"/>
              </a:lnSpc>
              <a:spcBef>
                <a:spcPts val="0"/>
              </a:spcBef>
            </a:pPr>
            <a:r>
              <a:rPr sz="1800" b="1">
                <a:solidFill>
                  <a:srgbClr val="241C3B"/>
                </a:solidFill>
                <a:latin typeface="Nunito Sans"/>
              </a:rPr>
              <a:t>Commercialization</a:t>
            </a:r>
          </a:p>
          <a:p>
            <a:pPr algn="l">
              <a:lnSpc>
                <a:spcPct val="130000"/>
              </a:lnSpc>
              <a:spcBef>
                <a:spcPts val="800"/>
              </a:spcBef>
            </a:pPr>
            <a:r>
              <a:rPr sz="1300" b="0">
                <a:solidFill>
                  <a:srgbClr val="6F6789"/>
                </a:solidFill>
                <a:latin typeface="Nunito Sans"/>
              </a:rPr>
              <a:t>Onboarding · launch preparation · initial B2C / B2B / B2G development</a:t>
            </a:r>
          </a:p>
        </p:txBody>
      </p:sp>
      <p:sp>
        <p:nvSpPr>
          <p:cNvPr id="11" name="Rounded Rectangle 10"/>
          <p:cNvSpPr/>
          <p:nvPr/>
        </p:nvSpPr>
        <p:spPr>
          <a:xfrm>
            <a:off x="914400" y="4251960"/>
            <a:ext cx="9445752" cy="1508760"/>
          </a:xfrm>
          <a:prstGeom prst="roundRect">
            <a:avLst>
              <a:gd name="adj" fmla="val 6000"/>
            </a:avLst>
          </a:prstGeom>
          <a:solidFill>
            <a:srgbClr val="EDE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4480560"/>
            <a:ext cx="8869680" cy="1188720"/>
          </a:xfrm>
          <a:prstGeom prst="rect">
            <a:avLst/>
          </a:prstGeom>
          <a:noFill/>
        </p:spPr>
        <p:txBody>
          <a:bodyPr wrap="square" anchor="t" lIns="0" rIns="0" tIns="0" bIns="0">
            <a:spAutoFit/>
          </a:bodyPr>
          <a:lstStyle/>
          <a:p>
            <a:pPr algn="l">
              <a:lnSpc>
                <a:spcPct val="115000"/>
              </a:lnSpc>
              <a:spcBef>
                <a:spcPts val="0"/>
              </a:spcBef>
            </a:pPr>
            <a:r>
              <a:rPr sz="1300" b="1">
                <a:solidFill>
                  <a:srgbClr val="7C5CE0"/>
                </a:solidFill>
                <a:latin typeface="Nunito Sans"/>
              </a:rPr>
              <a:t>MILESTONES BY END OF RUNWAY</a:t>
            </a:r>
          </a:p>
          <a:p>
            <a:pPr algn="l">
              <a:lnSpc>
                <a:spcPct val="135000"/>
              </a:lnSpc>
              <a:spcBef>
                <a:spcPts val="800"/>
              </a:spcBef>
            </a:pPr>
            <a:r>
              <a:rPr sz="1400" b="0">
                <a:solidFill>
                  <a:srgbClr val="241C3B"/>
                </a:solidFill>
                <a:latin typeface="Nunito Sans"/>
              </a:rPr>
              <a:t>Validated product-market fit signals · measured user outcomes · validated retention and recurring use · completed pilot evidence · mobile product ready for broader launch · clearer commercial model and a first scalable customer channel.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7C5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138160" y="-1280160"/>
            <a:ext cx="4937760" cy="4937760"/>
          </a:xfrm>
          <a:prstGeom prst="roundRect">
            <a:avLst>
              <a:gd name="adj" fmla="val 50000"/>
            </a:avLst>
          </a:prstGeom>
          <a:solidFill>
            <a:srgbClr val="A98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7863840" cy="2011680"/>
          </a:xfrm>
          <a:prstGeom prst="rect">
            <a:avLst/>
          </a:prstGeom>
          <a:noFill/>
        </p:spPr>
        <p:txBody>
          <a:bodyPr wrap="square" anchor="t" lIns="0" rIns="0" tIns="0" bIns="0">
            <a:spAutoFit/>
          </a:bodyPr>
          <a:lstStyle/>
          <a:p>
            <a:pPr algn="l">
              <a:lnSpc>
                <a:spcPct val="105000"/>
              </a:lnSpc>
              <a:spcBef>
                <a:spcPts val="0"/>
              </a:spcBef>
            </a:pPr>
            <a:r>
              <a:rPr sz="4600" b="1">
                <a:solidFill>
                  <a:srgbClr val="FFFFFF"/>
                </a:solidFill>
                <a:latin typeface="Nunito Sans"/>
              </a:rPr>
              <a:t>Everyday life shouldn't
require you to be
someone else.</a:t>
            </a:r>
          </a:p>
        </p:txBody>
      </p:sp>
      <p:sp>
        <p:nvSpPr>
          <p:cNvPr id="5" name="TextBox 4"/>
          <p:cNvSpPr txBox="1"/>
          <p:nvPr/>
        </p:nvSpPr>
        <p:spPr>
          <a:xfrm>
            <a:off x="914400" y="3977639"/>
            <a:ext cx="7315200" cy="1188720"/>
          </a:xfrm>
          <a:prstGeom prst="rect">
            <a:avLst/>
          </a:prstGeom>
          <a:noFill/>
        </p:spPr>
        <p:txBody>
          <a:bodyPr wrap="square" anchor="t" lIns="0" rIns="0" tIns="0" bIns="0">
            <a:spAutoFit/>
          </a:bodyPr>
          <a:lstStyle/>
          <a:p>
            <a:pPr algn="l">
              <a:lnSpc>
                <a:spcPct val="130000"/>
              </a:lnSpc>
              <a:spcBef>
                <a:spcPts val="0"/>
              </a:spcBef>
            </a:pPr>
            <a:r>
              <a:rPr sz="1800" b="0">
                <a:solidFill>
                  <a:srgbClr val="E9E1FC"/>
                </a:solidFill>
                <a:latin typeface="Nunito Sans"/>
              </a:rPr>
              <a:t>MyFlove adapts the system to the person — not the other way around.</a:t>
            </a:r>
          </a:p>
          <a:p>
            <a:pPr algn="l">
              <a:lnSpc>
                <a:spcPct val="115000"/>
              </a:lnSpc>
              <a:spcBef>
                <a:spcPts val="1200"/>
              </a:spcBef>
            </a:pPr>
            <a:r>
              <a:rPr sz="2000" b="1">
                <a:solidFill>
                  <a:srgbClr val="FFFFFF"/>
                </a:solidFill>
                <a:latin typeface="Nunito Sans"/>
              </a:rPr>
              <a:t>Plan for your capacity. Find your next possible step.</a:t>
            </a:r>
          </a:p>
        </p:txBody>
      </p:sp>
      <p:sp>
        <p:nvSpPr>
          <p:cNvPr id="6" name="TextBox 5"/>
          <p:cNvSpPr txBox="1"/>
          <p:nvPr/>
        </p:nvSpPr>
        <p:spPr>
          <a:xfrm>
            <a:off x="914400" y="5486400"/>
            <a:ext cx="7315200" cy="365760"/>
          </a:xfrm>
          <a:prstGeom prst="rect">
            <a:avLst/>
          </a:prstGeom>
          <a:noFill/>
        </p:spPr>
        <p:txBody>
          <a:bodyPr wrap="square" anchor="t" lIns="0" rIns="0" tIns="0" bIns="0">
            <a:spAutoFit/>
          </a:bodyPr>
          <a:lstStyle/>
          <a:p>
            <a:pPr algn="l">
              <a:lnSpc>
                <a:spcPct val="115000"/>
              </a:lnSpc>
              <a:spcBef>
                <a:spcPts val="0"/>
              </a:spcBef>
            </a:pPr>
            <a:r>
              <a:rPr sz="1400" b="1">
                <a:solidFill>
                  <a:srgbClr val="E9E1FC"/>
                </a:solidFill>
                <a:latin typeface="Nunito Sans"/>
              </a:rPr>
              <a:t>MyFlove · myflove.lovable.app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