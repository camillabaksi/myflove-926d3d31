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Camilla Baksi, founder of MyFlove. In the next three minutes I want to show you why we believe everyday life needs a completely different kind of support tool - and why we've already built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tools assume the hard part is knowing what to do. It isn't. People know. What breaks the day is everything the tools ignore - energy, mental load, invisible work, and a capacity that changes from morning to afternoon. When demands exceed capacity, the person has to be the system: remembering, prioritising, rescheduling, and constantly judging what is realistic. That is exhausting, and it is where everyday life falls apart.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started from a different question. Not what is scheduled - but what is reasonable, given how this person actually is today. That single shift, from time to capacity, is the insight the whole product is built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product it becomes three simple steps. You say how you are. You get everything out of your head. And then the system - not you - does the work of adapting the day. Capture, understand, adapt, continue. That loop runs every single 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concept. It is live. Four things carry the experience: QuickFlow to empty your head, the Battery for capacity, the calendar for what is real today, and Flow, our AI companion, that turns all of it into one next reasonable step. Complex underneath, deliberately simple on the surface.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difference is easy to say out loud. Other tools ask what needs to be done. MyFlove asks what you can realistically do. In every other tool the user adapts to the system. Here the system adapts to the user.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people who need this are not a niche. Our first entry point is consumers, but the same capacity signal is what employers and the public sector are trying to buy today under names like wellbeing and independence. The figures on this slide are external estimates, cited, and we treat them as reference points - not as our claims.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have 48 users on a working MVP. I want to be precise: we do not have paying customers and we do not claim clinical outcomes. What we have is a product that runs, and a validation programme starting now - measuring recurring use, perceived mental load, sense of control, and willingness to pay. That evidence is the next milestone.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Commercially we start direct to consumer, free to premium, and we validate price rather than guess it. Employers and the public sector are the scale path, and both already buy in this space. We are deliberately proving value before we spend money scaling.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build this from both sides. Professionally I'm a humanistic social pedagogue with further training in neurodevelopmental conditions, school absence and trauma response, and I've worked as a youth coach and support worker. I've also lived this problem. That combination is why the product feels the way it does.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raising two hundred and fifty thousand euros for an eighteen month runway. It goes to three things: finishing mobile and hardening the platform, running real pilots with real measurement, and preparing commercial launch. At the end of it we intend to have evidence - measured outcomes, validated retention, pilot results, and a first scalable customer channel.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don't need another tool telling them what to do. They need one that helps them understand what they can actually handle. We've built the MVP. Now we're proving it creates measurable value - and building the foundation to scale.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863840" y="-1463040"/>
            <a:ext cx="5669280" cy="5669280"/>
          </a:xfrm>
          <a:prstGeom prst="roundRect">
            <a:avLst>
              <a:gd name="adj" fmla="val 50000"/>
            </a:avLst>
          </a:prstGeom>
          <a:solidFill>
            <a:srgbClr val="EDE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326880" y="3291840"/>
            <a:ext cx="2926080" cy="2926080"/>
          </a:xfrm>
          <a:prstGeom prst="roundRect">
            <a:avLst>
              <a:gd name="adj" fmla="val 50000"/>
            </a:avLst>
          </a:prstGeom>
          <a:solidFill>
            <a:srgbClr val="E3D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7315200" cy="365760"/>
          </a:xfrm>
          <a:prstGeom prst="rect">
            <a:avLst/>
          </a:prstGeom>
          <a:noFill/>
        </p:spPr>
        <p:txBody>
          <a:bodyPr wrap="square" anchor="t" lIns="0" rIns="0" tIns="0" bIns="0">
            <a:spAutoFit/>
          </a:bodyPr>
          <a:lstStyle/>
          <a:p>
            <a:pPr algn="l">
              <a:lnSpc>
                <a:spcPct val="115000"/>
              </a:lnSpc>
              <a:spcBef>
                <a:spcPts val="0"/>
              </a:spcBef>
            </a:pPr>
            <a:r>
              <a:rPr sz="1500" b="1">
                <a:solidFill>
                  <a:srgbClr val="7C5CE0"/>
                </a:solidFill>
                <a:latin typeface="Nunito Sans"/>
              </a:rPr>
              <a:t>MYFLOVE</a:t>
            </a:r>
          </a:p>
        </p:txBody>
      </p:sp>
      <p:sp>
        <p:nvSpPr>
          <p:cNvPr id="6" name="TextBox 5"/>
          <p:cNvSpPr txBox="1"/>
          <p:nvPr/>
        </p:nvSpPr>
        <p:spPr>
          <a:xfrm>
            <a:off x="914400" y="1920240"/>
            <a:ext cx="7863840" cy="2194560"/>
          </a:xfrm>
          <a:prstGeom prst="rect">
            <a:avLst/>
          </a:prstGeom>
          <a:noFill/>
        </p:spPr>
        <p:txBody>
          <a:bodyPr wrap="square" anchor="t" lIns="0" rIns="0" tIns="0" bIns="0">
            <a:spAutoFit/>
          </a:bodyPr>
          <a:lstStyle/>
          <a:p>
            <a:pPr algn="l">
              <a:lnSpc>
                <a:spcPct val="100000"/>
              </a:lnSpc>
              <a:spcBef>
                <a:spcPts val="0"/>
              </a:spcBef>
            </a:pPr>
            <a:r>
              <a:rPr sz="5400" b="1">
                <a:solidFill>
                  <a:srgbClr val="241C3B"/>
                </a:solidFill>
                <a:latin typeface="Nunito Sans"/>
              </a:rPr>
              <a:t>One calm way through
everyday life.</a:t>
            </a:r>
          </a:p>
        </p:txBody>
      </p:sp>
      <p:sp>
        <p:nvSpPr>
          <p:cNvPr id="7" name="TextBox 6"/>
          <p:cNvSpPr txBox="1"/>
          <p:nvPr/>
        </p:nvSpPr>
        <p:spPr>
          <a:xfrm>
            <a:off x="914400" y="3931920"/>
            <a:ext cx="6766560" cy="1097280"/>
          </a:xfrm>
          <a:prstGeom prst="rect">
            <a:avLst/>
          </a:prstGeom>
          <a:noFill/>
        </p:spPr>
        <p:txBody>
          <a:bodyPr wrap="square" anchor="t" lIns="0" rIns="0" tIns="0" bIns="0">
            <a:spAutoFit/>
          </a:bodyPr>
          <a:lstStyle/>
          <a:p>
            <a:pPr algn="l">
              <a:lnSpc>
                <a:spcPct val="120000"/>
              </a:lnSpc>
              <a:spcBef>
                <a:spcPts val="0"/>
              </a:spcBef>
            </a:pPr>
            <a:r>
              <a:rPr sz="2200" b="1">
                <a:solidFill>
                  <a:srgbClr val="7C5CE0"/>
                </a:solidFill>
                <a:latin typeface="Nunito Sans"/>
              </a:rPr>
              <a:t>Plan for your capacity. Not just your time.</a:t>
            </a:r>
          </a:p>
          <a:p>
            <a:pPr algn="l">
              <a:lnSpc>
                <a:spcPct val="115000"/>
              </a:lnSpc>
              <a:spcBef>
                <a:spcPts val="1000"/>
              </a:spcBef>
            </a:pPr>
            <a:r>
              <a:rPr sz="1500" b="0">
                <a:solidFill>
                  <a:srgbClr val="6F6789"/>
                </a:solidFill>
                <a:latin typeface="Nunito Sans"/>
              </a:rPr>
              <a:t>AI-supported digital everyday support</a:t>
            </a:r>
          </a:p>
        </p:txBody>
      </p:sp>
      <p:sp>
        <p:nvSpPr>
          <p:cNvPr id="8" name="TextBox 7"/>
          <p:cNvSpPr txBox="1"/>
          <p:nvPr/>
        </p:nvSpPr>
        <p:spPr>
          <a:xfrm>
            <a:off x="914400" y="5532120"/>
            <a:ext cx="7315200" cy="365760"/>
          </a:xfrm>
          <a:prstGeom prst="rect">
            <a:avLst/>
          </a:prstGeom>
          <a:noFill/>
        </p:spPr>
        <p:txBody>
          <a:bodyPr wrap="square" anchor="t" lIns="0" rIns="0" tIns="0" bIns="0">
            <a:spAutoFit/>
          </a:bodyPr>
          <a:lstStyle/>
          <a:p>
            <a:pPr algn="l">
              <a:lnSpc>
                <a:spcPct val="115000"/>
              </a:lnSpc>
              <a:spcBef>
                <a:spcPts val="0"/>
              </a:spcBef>
            </a:pPr>
            <a:r>
              <a:rPr sz="1200" b="0">
                <a:solidFill>
                  <a:srgbClr val="6F6789"/>
                </a:solidFill>
                <a:latin typeface="Nunito Sans"/>
              </a:rPr>
              <a:t>Connect Öst · Online Pitch Review · September 10,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66928"/>
            <a:ext cx="7315200" cy="365760"/>
          </a:xfrm>
          <a:prstGeom prst="rect">
            <a:avLst/>
          </a:prstGeom>
          <a:noFill/>
        </p:spPr>
        <p:txBody>
          <a:bodyPr wrap="square" anchor="t" lIns="0" rIns="0" tIns="0" bIns="0">
            <a:spAutoFit/>
          </a:bodyPr>
          <a:lstStyle/>
          <a:p>
            <a:pPr algn="l">
              <a:lnSpc>
                <a:spcPct val="115000"/>
              </a:lnSpc>
              <a:spcBef>
                <a:spcPts val="0"/>
              </a:spcBef>
            </a:pPr>
            <a:r>
              <a:rPr sz="1400" b="1">
                <a:solidFill>
                  <a:srgbClr val="7C5CE0"/>
                </a:solidFill>
                <a:latin typeface="Nunito Sans"/>
              </a:rPr>
              <a:t>THE PROBLEM</a:t>
            </a:r>
          </a:p>
        </p:txBody>
      </p:sp>
      <p:sp>
        <p:nvSpPr>
          <p:cNvPr id="4" name="TextBox 3"/>
          <p:cNvSpPr txBox="1"/>
          <p:nvPr/>
        </p:nvSpPr>
        <p:spPr>
          <a:xfrm>
            <a:off x="914400" y="960120"/>
            <a:ext cx="9418320" cy="1097280"/>
          </a:xfrm>
          <a:prstGeom prst="rect">
            <a:avLst/>
          </a:prstGeom>
          <a:noFill/>
        </p:spPr>
        <p:txBody>
          <a:bodyPr wrap="square" anchor="t" lIns="0" rIns="0" tIns="0" bIns="0">
            <a:spAutoFit/>
          </a:bodyPr>
          <a:lstStyle/>
          <a:p>
            <a:pPr algn="l">
              <a:lnSpc>
                <a:spcPct val="105000"/>
              </a:lnSpc>
              <a:spcBef>
                <a:spcPts val="0"/>
              </a:spcBef>
            </a:pPr>
            <a:r>
              <a:rPr sz="4000" b="1">
                <a:solidFill>
                  <a:srgbClr val="241C3B"/>
                </a:solidFill>
                <a:latin typeface="Nunito Sans"/>
              </a:rPr>
              <a:t>Everyday life requires more
than a to-do list.</a:t>
            </a:r>
          </a:p>
        </p:txBody>
      </p:sp>
      <p:sp>
        <p:nvSpPr>
          <p:cNvPr id="5" name="TextBox 4"/>
          <p:cNvSpPr txBox="1"/>
          <p:nvPr/>
        </p:nvSpPr>
        <p:spPr>
          <a:xfrm>
            <a:off x="914400" y="2286000"/>
            <a:ext cx="8412480" cy="822960"/>
          </a:xfrm>
          <a:prstGeom prst="rect">
            <a:avLst/>
          </a:prstGeom>
          <a:noFill/>
        </p:spPr>
        <p:txBody>
          <a:bodyPr wrap="square" anchor="t" lIns="0" rIns="0" tIns="0" bIns="0">
            <a:spAutoFit/>
          </a:bodyPr>
          <a:lstStyle/>
          <a:p>
            <a:pPr algn="l">
              <a:lnSpc>
                <a:spcPct val="130000"/>
              </a:lnSpc>
              <a:spcBef>
                <a:spcPts val="0"/>
              </a:spcBef>
            </a:pPr>
            <a:r>
              <a:rPr sz="1600" b="0">
                <a:solidFill>
                  <a:srgbClr val="6F6789"/>
                </a:solidFill>
                <a:latin typeface="Nunito Sans"/>
              </a:rPr>
              <a:t>People can know exactly what they need to do and still be unable to make the day work.</a:t>
            </a:r>
          </a:p>
        </p:txBody>
      </p:sp>
      <p:sp>
        <p:nvSpPr>
          <p:cNvPr id="6" name="Rounded Rectangle 5"/>
          <p:cNvSpPr/>
          <p:nvPr/>
        </p:nvSpPr>
        <p:spPr>
          <a:xfrm>
            <a:off x="914400" y="2697480"/>
            <a:ext cx="4572000"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017520"/>
            <a:ext cx="3931920" cy="1920240"/>
          </a:xfrm>
          <a:prstGeom prst="rect">
            <a:avLst/>
          </a:prstGeom>
          <a:noFill/>
        </p:spPr>
        <p:txBody>
          <a:bodyPr wrap="square" anchor="t" lIns="0" rIns="0" tIns="0" bIns="0">
            <a:spAutoFit/>
          </a:bodyPr>
          <a:lstStyle/>
          <a:p>
            <a:pPr algn="l">
              <a:lnSpc>
                <a:spcPct val="115000"/>
              </a:lnSpc>
              <a:spcBef>
                <a:spcPts val="0"/>
              </a:spcBef>
            </a:pPr>
            <a:r>
              <a:rPr sz="1300" b="1">
                <a:solidFill>
                  <a:srgbClr val="6F6789"/>
                </a:solidFill>
                <a:latin typeface="Nunito Sans"/>
              </a:rPr>
              <a:t>WHAT NEEDS TO BE DONE</a:t>
            </a:r>
          </a:p>
          <a:p>
            <a:pPr algn="l">
              <a:lnSpc>
                <a:spcPct val="120000"/>
              </a:lnSpc>
              <a:spcBef>
                <a:spcPts val="1400"/>
              </a:spcBef>
            </a:pPr>
            <a:r>
              <a:rPr sz="2400" b="1">
                <a:solidFill>
                  <a:srgbClr val="241C3B"/>
                </a:solidFill>
                <a:latin typeface="Nunito Sans"/>
              </a:rPr>
              <a:t>Tasks · Time · Reminders</a:t>
            </a:r>
          </a:p>
          <a:p>
            <a:pPr algn="l">
              <a:lnSpc>
                <a:spcPct val="130000"/>
              </a:lnSpc>
              <a:spcBef>
                <a:spcPts val="1200"/>
              </a:spcBef>
            </a:pPr>
            <a:r>
              <a:rPr sz="1400" b="0">
                <a:solidFill>
                  <a:srgbClr val="6F6789"/>
                </a:solidFill>
                <a:latin typeface="Nunito Sans"/>
              </a:rPr>
              <a:t>Traditional tools organise the demands.</a:t>
            </a:r>
          </a:p>
        </p:txBody>
      </p:sp>
      <p:sp>
        <p:nvSpPr>
          <p:cNvPr id="8" name="Rounded Rectangle 7"/>
          <p:cNvSpPr/>
          <p:nvPr/>
        </p:nvSpPr>
        <p:spPr>
          <a:xfrm>
            <a:off x="5788152" y="2697480"/>
            <a:ext cx="4572000" cy="2468880"/>
          </a:xfrm>
          <a:prstGeom prst="roundRect">
            <a:avLst>
              <a:gd name="adj" fmla="val 6000"/>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08192" y="3017520"/>
            <a:ext cx="3931920" cy="1920240"/>
          </a:xfrm>
          <a:prstGeom prst="rect">
            <a:avLst/>
          </a:prstGeom>
          <a:noFill/>
        </p:spPr>
        <p:txBody>
          <a:bodyPr wrap="square" anchor="t" lIns="0" rIns="0" tIns="0" bIns="0">
            <a:spAutoFit/>
          </a:bodyPr>
          <a:lstStyle/>
          <a:p>
            <a:pPr algn="l">
              <a:lnSpc>
                <a:spcPct val="115000"/>
              </a:lnSpc>
              <a:spcBef>
                <a:spcPts val="0"/>
              </a:spcBef>
            </a:pPr>
            <a:r>
              <a:rPr sz="1300" b="1">
                <a:solidFill>
                  <a:srgbClr val="E6DCFB"/>
                </a:solidFill>
                <a:latin typeface="Nunito Sans"/>
              </a:rPr>
              <a:t>WHAT I ACTUALLY HAVE CAPACITY FOR</a:t>
            </a:r>
          </a:p>
          <a:p>
            <a:pPr algn="l">
              <a:lnSpc>
                <a:spcPct val="120000"/>
              </a:lnSpc>
              <a:spcBef>
                <a:spcPts val="1400"/>
              </a:spcBef>
            </a:pPr>
            <a:r>
              <a:rPr sz="2400" b="1">
                <a:solidFill>
                  <a:srgbClr val="FFFFFF"/>
                </a:solidFill>
                <a:latin typeface="Nunito Sans"/>
              </a:rPr>
              <a:t>Energy · Mental load · Invisible work</a:t>
            </a:r>
          </a:p>
          <a:p>
            <a:pPr algn="l">
              <a:lnSpc>
                <a:spcPct val="130000"/>
              </a:lnSpc>
              <a:spcBef>
                <a:spcPts val="1200"/>
              </a:spcBef>
            </a:pPr>
            <a:r>
              <a:rPr sz="1400" b="0">
                <a:solidFill>
                  <a:srgbClr val="E6DCFB"/>
                </a:solidFill>
                <a:latin typeface="Nunito Sans"/>
              </a:rPr>
              <a:t>Rarely accounted for anywhere.</a:t>
            </a:r>
          </a:p>
        </p:txBody>
      </p:sp>
      <p:sp>
        <p:nvSpPr>
          <p:cNvPr id="10" name="TextBox 9"/>
          <p:cNvSpPr txBox="1"/>
          <p:nvPr/>
        </p:nvSpPr>
        <p:spPr>
          <a:xfrm>
            <a:off x="914400" y="5440680"/>
            <a:ext cx="9418320" cy="457200"/>
          </a:xfrm>
          <a:prstGeom prst="rect">
            <a:avLst/>
          </a:prstGeom>
          <a:noFill/>
        </p:spPr>
        <p:txBody>
          <a:bodyPr wrap="square" anchor="t" lIns="0" rIns="0" tIns="0" bIns="0">
            <a:spAutoFit/>
          </a:bodyPr>
          <a:lstStyle/>
          <a:p>
            <a:pPr algn="l">
              <a:lnSpc>
                <a:spcPct val="115000"/>
              </a:lnSpc>
              <a:spcBef>
                <a:spcPts val="0"/>
              </a:spcBef>
            </a:pPr>
            <a:r>
              <a:rPr sz="1700" b="1">
                <a:solidFill>
                  <a:srgbClr val="241C3B"/>
                </a:solidFill>
                <a:latin typeface="Nunito Sans"/>
              </a:rPr>
              <a:t>When demands exceed capacity, the person becomes the 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DE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66928"/>
            <a:ext cx="7315200" cy="365760"/>
          </a:xfrm>
          <a:prstGeom prst="rect">
            <a:avLst/>
          </a:prstGeom>
          <a:noFill/>
        </p:spPr>
        <p:txBody>
          <a:bodyPr wrap="square" anchor="t" lIns="0" rIns="0" tIns="0" bIns="0">
            <a:spAutoFit/>
          </a:bodyPr>
          <a:lstStyle/>
          <a:p>
            <a:pPr algn="l">
              <a:lnSpc>
                <a:spcPct val="115000"/>
              </a:lnSpc>
              <a:spcBef>
                <a:spcPts val="0"/>
              </a:spcBef>
            </a:pPr>
            <a:r>
              <a:rPr sz="1400" b="1">
                <a:solidFill>
                  <a:srgbClr val="7C5CE0"/>
                </a:solidFill>
                <a:latin typeface="Nunito Sans"/>
              </a:rPr>
              <a:t>THE INSIGHT</a:t>
            </a:r>
          </a:p>
        </p:txBody>
      </p:sp>
      <p:sp>
        <p:nvSpPr>
          <p:cNvPr id="4" name="TextBox 3"/>
          <p:cNvSpPr txBox="1"/>
          <p:nvPr/>
        </p:nvSpPr>
        <p:spPr>
          <a:xfrm>
            <a:off x="914400" y="1371600"/>
            <a:ext cx="9418320" cy="1463040"/>
          </a:xfrm>
          <a:prstGeom prst="rect">
            <a:avLst/>
          </a:prstGeom>
          <a:noFill/>
        </p:spPr>
        <p:txBody>
          <a:bodyPr wrap="square" anchor="t" lIns="0" rIns="0" tIns="0" bIns="0">
            <a:spAutoFit/>
          </a:bodyPr>
          <a:lstStyle/>
          <a:p>
            <a:pPr algn="l">
              <a:lnSpc>
                <a:spcPct val="105000"/>
              </a:lnSpc>
              <a:spcBef>
                <a:spcPts val="0"/>
              </a:spcBef>
            </a:pPr>
            <a:r>
              <a:rPr sz="5200" b="1">
                <a:solidFill>
                  <a:srgbClr val="241C3B"/>
                </a:solidFill>
                <a:latin typeface="Nunito Sans"/>
              </a:rPr>
              <a:t>Plan for capacity,
not just time.</a:t>
            </a:r>
          </a:p>
        </p:txBody>
      </p:sp>
      <p:sp>
        <p:nvSpPr>
          <p:cNvPr id="5" name="Rounded Rectangle 4"/>
          <p:cNvSpPr/>
          <p:nvPr/>
        </p:nvSpPr>
        <p:spPr>
          <a:xfrm>
            <a:off x="914400" y="3429000"/>
            <a:ext cx="4572000"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3794760"/>
            <a:ext cx="3931920" cy="1097280"/>
          </a:xfrm>
          <a:prstGeom prst="rect">
            <a:avLst/>
          </a:prstGeom>
          <a:noFill/>
        </p:spPr>
        <p:txBody>
          <a:bodyPr wrap="square" anchor="t" lIns="0" rIns="0" tIns="0" bIns="0">
            <a:spAutoFit/>
          </a:bodyPr>
          <a:lstStyle/>
          <a:p>
            <a:pPr algn="l">
              <a:lnSpc>
                <a:spcPct val="115000"/>
              </a:lnSpc>
              <a:spcBef>
                <a:spcPts val="0"/>
              </a:spcBef>
            </a:pPr>
            <a:r>
              <a:rPr sz="1300" b="1">
                <a:solidFill>
                  <a:srgbClr val="6F6789"/>
                </a:solidFill>
                <a:latin typeface="Nunito Sans"/>
              </a:rPr>
              <a:t>A CALENDAR SAYS</a:t>
            </a:r>
          </a:p>
          <a:p>
            <a:pPr algn="l">
              <a:lnSpc>
                <a:spcPct val="125000"/>
              </a:lnSpc>
              <a:spcBef>
                <a:spcPts val="1200"/>
              </a:spcBef>
            </a:pPr>
            <a:r>
              <a:rPr sz="1900" b="0">
                <a:solidFill>
                  <a:srgbClr val="241C3B"/>
                </a:solidFill>
                <a:latin typeface="Nunito Sans"/>
              </a:rPr>
              <a:t>“You have three things scheduled today.”</a:t>
            </a:r>
          </a:p>
        </p:txBody>
      </p:sp>
      <p:sp>
        <p:nvSpPr>
          <p:cNvPr id="7" name="Rounded Rectangle 6"/>
          <p:cNvSpPr/>
          <p:nvPr/>
        </p:nvSpPr>
        <p:spPr>
          <a:xfrm>
            <a:off x="5788152" y="3429000"/>
            <a:ext cx="4572000" cy="1737360"/>
          </a:xfrm>
          <a:prstGeom prst="roundRect">
            <a:avLst>
              <a:gd name="adj" fmla="val 6000"/>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08192" y="3794760"/>
            <a:ext cx="3931920" cy="1097280"/>
          </a:xfrm>
          <a:prstGeom prst="rect">
            <a:avLst/>
          </a:prstGeom>
          <a:noFill/>
        </p:spPr>
        <p:txBody>
          <a:bodyPr wrap="square" anchor="t" lIns="0" rIns="0" tIns="0" bIns="0">
            <a:spAutoFit/>
          </a:bodyPr>
          <a:lstStyle/>
          <a:p>
            <a:pPr algn="l">
              <a:lnSpc>
                <a:spcPct val="115000"/>
              </a:lnSpc>
              <a:spcBef>
                <a:spcPts val="0"/>
              </a:spcBef>
            </a:pPr>
            <a:r>
              <a:rPr sz="1300" b="1">
                <a:solidFill>
                  <a:srgbClr val="E6DCFB"/>
                </a:solidFill>
                <a:latin typeface="Nunito Sans"/>
              </a:rPr>
              <a:t>MYFLOVE ASKS</a:t>
            </a:r>
          </a:p>
          <a:p>
            <a:pPr algn="l">
              <a:lnSpc>
                <a:spcPct val="125000"/>
              </a:lnSpc>
              <a:spcBef>
                <a:spcPts val="1200"/>
              </a:spcBef>
            </a:pPr>
            <a:r>
              <a:rPr sz="1900" b="1">
                <a:solidFill>
                  <a:srgbClr val="FFFFFF"/>
                </a:solidFill>
                <a:latin typeface="Nunito Sans"/>
              </a:rPr>
              <a:t>“Given how you are today, what is actually reasonable?”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66928"/>
            <a:ext cx="7315200" cy="365760"/>
          </a:xfrm>
          <a:prstGeom prst="rect">
            <a:avLst/>
          </a:prstGeom>
          <a:noFill/>
        </p:spPr>
        <p:txBody>
          <a:bodyPr wrap="square" anchor="t" lIns="0" rIns="0" tIns="0" bIns="0">
            <a:spAutoFit/>
          </a:bodyPr>
          <a:lstStyle/>
          <a:p>
            <a:pPr algn="l">
              <a:lnSpc>
                <a:spcPct val="115000"/>
              </a:lnSpc>
              <a:spcBef>
                <a:spcPts val="0"/>
              </a:spcBef>
            </a:pPr>
            <a:r>
              <a:rPr sz="1400" b="1">
                <a:solidFill>
                  <a:srgbClr val="7C5CE0"/>
                </a:solidFill>
                <a:latin typeface="Nunito Sans"/>
              </a:rPr>
              <a:t>THE SOLUTION</a:t>
            </a:r>
          </a:p>
        </p:txBody>
      </p:sp>
      <p:sp>
        <p:nvSpPr>
          <p:cNvPr id="4" name="TextBox 3"/>
          <p:cNvSpPr txBox="1"/>
          <p:nvPr/>
        </p:nvSpPr>
        <p:spPr>
          <a:xfrm>
            <a:off x="914400" y="960120"/>
            <a:ext cx="9418320" cy="1097280"/>
          </a:xfrm>
          <a:prstGeom prst="rect">
            <a:avLst/>
          </a:prstGeom>
          <a:noFill/>
        </p:spPr>
        <p:txBody>
          <a:bodyPr wrap="square" anchor="t" lIns="0" rIns="0" tIns="0" bIns="0">
            <a:spAutoFit/>
          </a:bodyPr>
          <a:lstStyle/>
          <a:p>
            <a:pPr algn="l">
              <a:lnSpc>
                <a:spcPct val="105000"/>
              </a:lnSpc>
              <a:spcBef>
                <a:spcPts val="0"/>
              </a:spcBef>
            </a:pPr>
            <a:r>
              <a:rPr sz="4000" b="1">
                <a:solidFill>
                  <a:srgbClr val="241C3B"/>
                </a:solidFill>
                <a:latin typeface="Nunito Sans"/>
              </a:rPr>
              <a:t>MyFlove turns capacity into a planning signal.</a:t>
            </a:r>
          </a:p>
        </p:txBody>
      </p:sp>
      <p:sp>
        <p:nvSpPr>
          <p:cNvPr id="5" name="Rounded Rectangle 4"/>
          <p:cNvSpPr/>
          <p:nvPr/>
        </p:nvSpPr>
        <p:spPr>
          <a:xfrm>
            <a:off x="914400" y="2377440"/>
            <a:ext cx="2977896" cy="2286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2651760"/>
            <a:ext cx="2392680" cy="182880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01 — How are you?</a:t>
            </a:r>
          </a:p>
          <a:p>
            <a:pPr algn="l">
              <a:lnSpc>
                <a:spcPct val="130000"/>
              </a:lnSpc>
              <a:spcBef>
                <a:spcPts val="800"/>
              </a:spcBef>
            </a:pPr>
            <a:r>
              <a:rPr sz="1300" b="0">
                <a:solidFill>
                  <a:srgbClr val="6F6789"/>
                </a:solidFill>
                <a:latin typeface="Nunito Sans"/>
              </a:rPr>
              <a:t>Check energy, mood and what is affecting your capacity right now.</a:t>
            </a:r>
          </a:p>
        </p:txBody>
      </p:sp>
      <p:sp>
        <p:nvSpPr>
          <p:cNvPr id="7" name="Rounded Rectangle 6"/>
          <p:cNvSpPr/>
          <p:nvPr/>
        </p:nvSpPr>
        <p:spPr>
          <a:xfrm>
            <a:off x="4148328" y="2377440"/>
            <a:ext cx="2977896" cy="2286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0936" y="2651760"/>
            <a:ext cx="2392680" cy="182880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02 — What's happening?</a:t>
            </a:r>
          </a:p>
          <a:p>
            <a:pPr algn="l">
              <a:lnSpc>
                <a:spcPct val="130000"/>
              </a:lnSpc>
              <a:spcBef>
                <a:spcPts val="800"/>
              </a:spcBef>
            </a:pPr>
            <a:r>
              <a:rPr sz="1300" b="0">
                <a:solidFill>
                  <a:srgbClr val="6F6789"/>
                </a:solidFill>
                <a:latin typeface="Nunito Sans"/>
              </a:rPr>
              <a:t>Capture what needs to happen — including the invisible work.</a:t>
            </a:r>
          </a:p>
        </p:txBody>
      </p:sp>
      <p:sp>
        <p:nvSpPr>
          <p:cNvPr id="9" name="Rounded Rectangle 8"/>
          <p:cNvSpPr/>
          <p:nvPr/>
        </p:nvSpPr>
        <p:spPr>
          <a:xfrm>
            <a:off x="7382256" y="2377440"/>
            <a:ext cx="2977896" cy="2286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4864" y="2651760"/>
            <a:ext cx="2392680" cy="182880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03 — Need to adapt?</a:t>
            </a:r>
          </a:p>
          <a:p>
            <a:pPr algn="l">
              <a:lnSpc>
                <a:spcPct val="130000"/>
              </a:lnSpc>
              <a:spcBef>
                <a:spcPts val="800"/>
              </a:spcBef>
            </a:pPr>
            <a:r>
              <a:rPr sz="1300" b="0">
                <a:solidFill>
                  <a:srgbClr val="6F6789"/>
                </a:solidFill>
                <a:latin typeface="Nunito Sans"/>
              </a:rPr>
              <a:t>FlowPlan adjusts the day to the capacity you actually have.</a:t>
            </a:r>
          </a:p>
        </p:txBody>
      </p:sp>
      <p:sp>
        <p:nvSpPr>
          <p:cNvPr id="11" name="Rounded Rectangle 10"/>
          <p:cNvSpPr/>
          <p:nvPr/>
        </p:nvSpPr>
        <p:spPr>
          <a:xfrm>
            <a:off x="914400" y="5029200"/>
            <a:ext cx="9445752" cy="777240"/>
          </a:xfrm>
          <a:prstGeom prst="roundRect">
            <a:avLst>
              <a:gd name="adj" fmla="val 6000"/>
            </a:avLst>
          </a:prstGeom>
          <a:solidFill>
            <a:srgbClr val="EDE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230368"/>
            <a:ext cx="9445752" cy="457200"/>
          </a:xfrm>
          <a:prstGeom prst="rect">
            <a:avLst/>
          </a:prstGeom>
          <a:noFill/>
        </p:spPr>
        <p:txBody>
          <a:bodyPr wrap="square" anchor="t" lIns="0" rIns="0" tIns="0" bIns="0">
            <a:spAutoFit/>
          </a:bodyPr>
          <a:lstStyle/>
          <a:p>
            <a:pPr algn="ctr">
              <a:lnSpc>
                <a:spcPct val="115000"/>
              </a:lnSpc>
              <a:spcBef>
                <a:spcPts val="0"/>
              </a:spcBef>
            </a:pPr>
            <a:r>
              <a:rPr sz="2200" b="1">
                <a:solidFill>
                  <a:srgbClr val="7C5CE0"/>
                </a:solidFill>
                <a:latin typeface="Nunito Sans"/>
              </a:rPr>
              <a:t>Capture → Understand → Adapt → Continue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66928"/>
            <a:ext cx="7315200" cy="365760"/>
          </a:xfrm>
          <a:prstGeom prst="rect">
            <a:avLst/>
          </a:prstGeom>
          <a:noFill/>
        </p:spPr>
        <p:txBody>
          <a:bodyPr wrap="square" anchor="t" lIns="0" rIns="0" tIns="0" bIns="0">
            <a:spAutoFit/>
          </a:bodyPr>
          <a:lstStyle/>
          <a:p>
            <a:pPr algn="l">
              <a:lnSpc>
                <a:spcPct val="115000"/>
              </a:lnSpc>
              <a:spcBef>
                <a:spcPts val="0"/>
              </a:spcBef>
            </a:pPr>
            <a:r>
              <a:rPr sz="1400" b="1">
                <a:solidFill>
                  <a:srgbClr val="7C5CE0"/>
                </a:solidFill>
                <a:latin typeface="Nunito Sans"/>
              </a:rPr>
              <a:t>THE PRODUCT</a:t>
            </a:r>
          </a:p>
        </p:txBody>
      </p:sp>
      <p:sp>
        <p:nvSpPr>
          <p:cNvPr id="4" name="TextBox 3"/>
          <p:cNvSpPr txBox="1"/>
          <p:nvPr/>
        </p:nvSpPr>
        <p:spPr>
          <a:xfrm>
            <a:off x="914400" y="960120"/>
            <a:ext cx="9418320" cy="1097280"/>
          </a:xfrm>
          <a:prstGeom prst="rect">
            <a:avLst/>
          </a:prstGeom>
          <a:noFill/>
        </p:spPr>
        <p:txBody>
          <a:bodyPr wrap="square" anchor="t" lIns="0" rIns="0" tIns="0" bIns="0">
            <a:spAutoFit/>
          </a:bodyPr>
          <a:lstStyle/>
          <a:p>
            <a:pPr algn="l">
              <a:lnSpc>
                <a:spcPct val="105000"/>
              </a:lnSpc>
              <a:spcBef>
                <a:spcPts val="0"/>
              </a:spcBef>
            </a:pPr>
            <a:r>
              <a:rPr sz="4000" b="1">
                <a:solidFill>
                  <a:srgbClr val="241C3B"/>
                </a:solidFill>
                <a:latin typeface="Nunito Sans"/>
              </a:rPr>
              <a:t>One system. One daily flow.</a:t>
            </a:r>
          </a:p>
        </p:txBody>
      </p:sp>
      <p:sp>
        <p:nvSpPr>
          <p:cNvPr id="5" name="TextBox 4"/>
          <p:cNvSpPr txBox="1"/>
          <p:nvPr/>
        </p:nvSpPr>
        <p:spPr>
          <a:xfrm>
            <a:off x="914400" y="2057400"/>
            <a:ext cx="8412480" cy="822960"/>
          </a:xfrm>
          <a:prstGeom prst="rect">
            <a:avLst/>
          </a:prstGeom>
          <a:noFill/>
        </p:spPr>
        <p:txBody>
          <a:bodyPr wrap="square" anchor="t" lIns="0" rIns="0" tIns="0" bIns="0">
            <a:spAutoFit/>
          </a:bodyPr>
          <a:lstStyle/>
          <a:p>
            <a:pPr algn="l">
              <a:lnSpc>
                <a:spcPct val="130000"/>
              </a:lnSpc>
              <a:spcBef>
                <a:spcPts val="0"/>
              </a:spcBef>
            </a:pPr>
            <a:r>
              <a:rPr sz="1600" b="0">
                <a:solidFill>
                  <a:srgbClr val="6F6789"/>
                </a:solidFill>
                <a:latin typeface="Nunito Sans"/>
              </a:rPr>
              <a:t>A working web application in use today.</a:t>
            </a:r>
          </a:p>
        </p:txBody>
      </p:sp>
      <p:sp>
        <p:nvSpPr>
          <p:cNvPr id="6" name="Rounded Rectangle 5"/>
          <p:cNvSpPr/>
          <p:nvPr/>
        </p:nvSpPr>
        <p:spPr>
          <a:xfrm>
            <a:off x="914400" y="2606040"/>
            <a:ext cx="2169414"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880360"/>
            <a:ext cx="1584198" cy="173736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QuickFlow</a:t>
            </a:r>
          </a:p>
          <a:p>
            <a:pPr algn="l">
              <a:lnSpc>
                <a:spcPct val="130000"/>
              </a:lnSpc>
              <a:spcBef>
                <a:spcPts val="800"/>
              </a:spcBef>
            </a:pPr>
            <a:r>
              <a:rPr sz="1300" b="0">
                <a:solidFill>
                  <a:srgbClr val="6F6789"/>
                </a:solidFill>
                <a:latin typeface="Nunito Sans"/>
              </a:rPr>
              <a:t>Get thoughts and tasks out of your head in seconds.</a:t>
            </a:r>
          </a:p>
        </p:txBody>
      </p:sp>
      <p:sp>
        <p:nvSpPr>
          <p:cNvPr id="8" name="Rounded Rectangle 7"/>
          <p:cNvSpPr/>
          <p:nvPr/>
        </p:nvSpPr>
        <p:spPr>
          <a:xfrm>
            <a:off x="3339846" y="2606040"/>
            <a:ext cx="2169414"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2454" y="2880360"/>
            <a:ext cx="1584198" cy="173736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Battery</a:t>
            </a:r>
          </a:p>
          <a:p>
            <a:pPr algn="l">
              <a:lnSpc>
                <a:spcPct val="130000"/>
              </a:lnSpc>
              <a:spcBef>
                <a:spcPts val="800"/>
              </a:spcBef>
            </a:pPr>
            <a:r>
              <a:rPr sz="1300" b="0">
                <a:solidFill>
                  <a:srgbClr val="6F6789"/>
                </a:solidFill>
                <a:latin typeface="Nunito Sans"/>
              </a:rPr>
              <a:t>Understand today's energy and capacity with one tap.</a:t>
            </a:r>
          </a:p>
        </p:txBody>
      </p:sp>
      <p:sp>
        <p:nvSpPr>
          <p:cNvPr id="10" name="Rounded Rectangle 9"/>
          <p:cNvSpPr/>
          <p:nvPr/>
        </p:nvSpPr>
        <p:spPr>
          <a:xfrm>
            <a:off x="5765292" y="2606040"/>
            <a:ext cx="2169414"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57900" y="2880360"/>
            <a:ext cx="1584198" cy="173736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Calendar / Daily Flow</a:t>
            </a:r>
          </a:p>
          <a:p>
            <a:pPr algn="l">
              <a:lnSpc>
                <a:spcPct val="130000"/>
              </a:lnSpc>
              <a:spcBef>
                <a:spcPts val="800"/>
              </a:spcBef>
            </a:pPr>
            <a:r>
              <a:rPr sz="1300" b="0">
                <a:solidFill>
                  <a:srgbClr val="6F6789"/>
                </a:solidFill>
                <a:latin typeface="Nunito Sans"/>
              </a:rPr>
              <a:t>See what is actually happening, on the right day.</a:t>
            </a:r>
          </a:p>
        </p:txBody>
      </p:sp>
      <p:sp>
        <p:nvSpPr>
          <p:cNvPr id="12" name="Rounded Rectangle 11"/>
          <p:cNvSpPr/>
          <p:nvPr/>
        </p:nvSpPr>
        <p:spPr>
          <a:xfrm>
            <a:off x="8190738" y="2606040"/>
            <a:ext cx="2169414"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3346" y="2880360"/>
            <a:ext cx="1584198" cy="173736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Flow / FlowPlan</a:t>
            </a:r>
          </a:p>
          <a:p>
            <a:pPr algn="l">
              <a:lnSpc>
                <a:spcPct val="130000"/>
              </a:lnSpc>
              <a:spcBef>
                <a:spcPts val="800"/>
              </a:spcBef>
            </a:pPr>
            <a:r>
              <a:rPr sz="1300" b="0">
                <a:solidFill>
                  <a:srgbClr val="6F6789"/>
                </a:solidFill>
                <a:latin typeface="Nunito Sans"/>
              </a:rPr>
              <a:t>Find the next reasonable step and adapt when capacity changes.</a:t>
            </a:r>
          </a:p>
        </p:txBody>
      </p:sp>
      <p:sp>
        <p:nvSpPr>
          <p:cNvPr id="14" name="TextBox 13"/>
          <p:cNvSpPr txBox="1"/>
          <p:nvPr/>
        </p:nvSpPr>
        <p:spPr>
          <a:xfrm>
            <a:off x="914400" y="5166360"/>
            <a:ext cx="9418320" cy="457200"/>
          </a:xfrm>
          <a:prstGeom prst="rect">
            <a:avLst/>
          </a:prstGeom>
          <a:noFill/>
        </p:spPr>
        <p:txBody>
          <a:bodyPr wrap="square" anchor="t" lIns="0" rIns="0" tIns="0" bIns="0">
            <a:spAutoFit/>
          </a:bodyPr>
          <a:lstStyle/>
          <a:p>
            <a:pPr algn="l">
              <a:lnSpc>
                <a:spcPct val="115000"/>
              </a:lnSpc>
              <a:spcBef>
                <a:spcPts val="0"/>
              </a:spcBef>
            </a:pPr>
            <a:r>
              <a:rPr sz="1700" b="1">
                <a:solidFill>
                  <a:srgbClr val="241C3B"/>
                </a:solidFill>
                <a:latin typeface="Nunito Sans"/>
              </a:rPr>
              <a:t>Complex technology underneath. Simple experience on the surface.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66928"/>
            <a:ext cx="7315200" cy="365760"/>
          </a:xfrm>
          <a:prstGeom prst="rect">
            <a:avLst/>
          </a:prstGeom>
          <a:noFill/>
        </p:spPr>
        <p:txBody>
          <a:bodyPr wrap="square" anchor="t" lIns="0" rIns="0" tIns="0" bIns="0">
            <a:spAutoFit/>
          </a:bodyPr>
          <a:lstStyle/>
          <a:p>
            <a:pPr algn="l">
              <a:lnSpc>
                <a:spcPct val="115000"/>
              </a:lnSpc>
              <a:spcBef>
                <a:spcPts val="0"/>
              </a:spcBef>
            </a:pPr>
            <a:r>
              <a:rPr sz="1400" b="1">
                <a:solidFill>
                  <a:srgbClr val="7C5CE0"/>
                </a:solidFill>
                <a:latin typeface="Nunito Sans"/>
              </a:rPr>
              <a:t>WHY MYFLOVE IS DIFFERENT</a:t>
            </a:r>
          </a:p>
        </p:txBody>
      </p:sp>
      <p:sp>
        <p:nvSpPr>
          <p:cNvPr id="4" name="TextBox 3"/>
          <p:cNvSpPr txBox="1"/>
          <p:nvPr/>
        </p:nvSpPr>
        <p:spPr>
          <a:xfrm>
            <a:off x="914400" y="960120"/>
            <a:ext cx="9418320" cy="1097280"/>
          </a:xfrm>
          <a:prstGeom prst="rect">
            <a:avLst/>
          </a:prstGeom>
          <a:noFill/>
        </p:spPr>
        <p:txBody>
          <a:bodyPr wrap="square" anchor="t" lIns="0" rIns="0" tIns="0" bIns="0">
            <a:spAutoFit/>
          </a:bodyPr>
          <a:lstStyle/>
          <a:p>
            <a:pPr algn="l">
              <a:lnSpc>
                <a:spcPct val="105000"/>
              </a:lnSpc>
              <a:spcBef>
                <a:spcPts val="0"/>
              </a:spcBef>
            </a:pPr>
            <a:r>
              <a:rPr sz="4000" b="1">
                <a:solidFill>
                  <a:srgbClr val="241C3B"/>
                </a:solidFill>
                <a:latin typeface="Nunito Sans"/>
              </a:rPr>
              <a:t>From task management to capacity management.</a:t>
            </a:r>
          </a:p>
        </p:txBody>
      </p:sp>
      <p:sp>
        <p:nvSpPr>
          <p:cNvPr id="5" name="TextBox 4"/>
          <p:cNvSpPr txBox="1"/>
          <p:nvPr/>
        </p:nvSpPr>
        <p:spPr>
          <a:xfrm>
            <a:off x="914400" y="2468880"/>
            <a:ext cx="4572000" cy="365760"/>
          </a:xfrm>
          <a:prstGeom prst="rect">
            <a:avLst/>
          </a:prstGeom>
          <a:noFill/>
        </p:spPr>
        <p:txBody>
          <a:bodyPr wrap="square" anchor="t" lIns="0" rIns="0" tIns="0" bIns="0">
            <a:spAutoFit/>
          </a:bodyPr>
          <a:lstStyle/>
          <a:p>
            <a:pPr algn="l">
              <a:lnSpc>
                <a:spcPct val="115000"/>
              </a:lnSpc>
              <a:spcBef>
                <a:spcPts val="0"/>
              </a:spcBef>
            </a:pPr>
            <a:r>
              <a:rPr sz="1300" b="1">
                <a:solidFill>
                  <a:srgbClr val="6F6789"/>
                </a:solidFill>
                <a:latin typeface="Nunito Sans"/>
              </a:rPr>
              <a:t>TRADITIONAL TOOLS</a:t>
            </a:r>
          </a:p>
        </p:txBody>
      </p:sp>
      <p:sp>
        <p:nvSpPr>
          <p:cNvPr id="6" name="TextBox 5"/>
          <p:cNvSpPr txBox="1"/>
          <p:nvPr/>
        </p:nvSpPr>
        <p:spPr>
          <a:xfrm>
            <a:off x="5788152" y="2468880"/>
            <a:ext cx="4572000" cy="365760"/>
          </a:xfrm>
          <a:prstGeom prst="rect">
            <a:avLst/>
          </a:prstGeom>
          <a:noFill/>
        </p:spPr>
        <p:txBody>
          <a:bodyPr wrap="square" anchor="t" lIns="0" rIns="0" tIns="0" bIns="0">
            <a:spAutoFit/>
          </a:bodyPr>
          <a:lstStyle/>
          <a:p>
            <a:pPr algn="l">
              <a:lnSpc>
                <a:spcPct val="115000"/>
              </a:lnSpc>
              <a:spcBef>
                <a:spcPts val="0"/>
              </a:spcBef>
            </a:pPr>
            <a:r>
              <a:rPr sz="1300" b="1">
                <a:solidFill>
                  <a:srgbClr val="7C5CE0"/>
                </a:solidFill>
                <a:latin typeface="Nunito Sans"/>
              </a:rPr>
              <a:t>MYFLOVE</a:t>
            </a:r>
          </a:p>
        </p:txBody>
      </p:sp>
      <p:sp>
        <p:nvSpPr>
          <p:cNvPr id="7" name="Rounded Rectangle 6"/>
          <p:cNvSpPr/>
          <p:nvPr/>
        </p:nvSpPr>
        <p:spPr>
          <a:xfrm>
            <a:off x="914400" y="2926080"/>
            <a:ext cx="4572000" cy="502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081528"/>
            <a:ext cx="4023360" cy="365760"/>
          </a:xfrm>
          <a:prstGeom prst="rect">
            <a:avLst/>
          </a:prstGeom>
          <a:noFill/>
        </p:spPr>
        <p:txBody>
          <a:bodyPr wrap="square" anchor="t" lIns="0" rIns="0" tIns="0" bIns="0">
            <a:spAutoFit/>
          </a:bodyPr>
          <a:lstStyle/>
          <a:p>
            <a:pPr algn="l">
              <a:lnSpc>
                <a:spcPct val="115000"/>
              </a:lnSpc>
              <a:spcBef>
                <a:spcPts val="0"/>
              </a:spcBef>
            </a:pPr>
            <a:r>
              <a:rPr sz="1500" b="0">
                <a:solidFill>
                  <a:srgbClr val="6F6789"/>
                </a:solidFill>
                <a:latin typeface="Nunito Sans"/>
              </a:rPr>
              <a:t>What needs to be done?</a:t>
            </a:r>
          </a:p>
        </p:txBody>
      </p:sp>
      <p:sp>
        <p:nvSpPr>
          <p:cNvPr id="9" name="Rounded Rectangle 8"/>
          <p:cNvSpPr/>
          <p:nvPr/>
        </p:nvSpPr>
        <p:spPr>
          <a:xfrm>
            <a:off x="5788152" y="2926080"/>
            <a:ext cx="4572000" cy="502920"/>
          </a:xfrm>
          <a:prstGeom prst="roundRect">
            <a:avLst>
              <a:gd name="adj" fmla="val 6000"/>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62472" y="3072384"/>
            <a:ext cx="4023360" cy="365760"/>
          </a:xfrm>
          <a:prstGeom prst="rect">
            <a:avLst/>
          </a:prstGeom>
          <a:noFill/>
        </p:spPr>
        <p:txBody>
          <a:bodyPr wrap="square" anchor="t" lIns="0" rIns="0" tIns="0" bIns="0">
            <a:spAutoFit/>
          </a:bodyPr>
          <a:lstStyle/>
          <a:p>
            <a:pPr algn="l">
              <a:lnSpc>
                <a:spcPct val="115000"/>
              </a:lnSpc>
              <a:spcBef>
                <a:spcPts val="0"/>
              </a:spcBef>
            </a:pPr>
            <a:r>
              <a:rPr sz="1500" b="1">
                <a:solidFill>
                  <a:srgbClr val="FFFFFF"/>
                </a:solidFill>
                <a:latin typeface="Nunito Sans"/>
              </a:rPr>
              <a:t>What can I realistically do?</a:t>
            </a:r>
          </a:p>
        </p:txBody>
      </p:sp>
      <p:sp>
        <p:nvSpPr>
          <p:cNvPr id="11" name="Rounded Rectangle 10"/>
          <p:cNvSpPr/>
          <p:nvPr/>
        </p:nvSpPr>
        <p:spPr>
          <a:xfrm>
            <a:off x="914400" y="3511296"/>
            <a:ext cx="4572000" cy="502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3666744"/>
            <a:ext cx="4023360" cy="365760"/>
          </a:xfrm>
          <a:prstGeom prst="rect">
            <a:avLst/>
          </a:prstGeom>
          <a:noFill/>
        </p:spPr>
        <p:txBody>
          <a:bodyPr wrap="square" anchor="t" lIns="0" rIns="0" tIns="0" bIns="0">
            <a:spAutoFit/>
          </a:bodyPr>
          <a:lstStyle/>
          <a:p>
            <a:pPr algn="l">
              <a:lnSpc>
                <a:spcPct val="115000"/>
              </a:lnSpc>
              <a:spcBef>
                <a:spcPts val="0"/>
              </a:spcBef>
            </a:pPr>
            <a:r>
              <a:rPr sz="1500" b="0">
                <a:solidFill>
                  <a:srgbClr val="6F6789"/>
                </a:solidFill>
                <a:latin typeface="Nunito Sans"/>
              </a:rPr>
              <a:t>Time-based planning</a:t>
            </a:r>
          </a:p>
        </p:txBody>
      </p:sp>
      <p:sp>
        <p:nvSpPr>
          <p:cNvPr id="13" name="Rounded Rectangle 12"/>
          <p:cNvSpPr/>
          <p:nvPr/>
        </p:nvSpPr>
        <p:spPr>
          <a:xfrm>
            <a:off x="5788152" y="3511296"/>
            <a:ext cx="4572000" cy="502920"/>
          </a:xfrm>
          <a:prstGeom prst="roundRect">
            <a:avLst>
              <a:gd name="adj" fmla="val 6000"/>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62472" y="3657600"/>
            <a:ext cx="4023360" cy="365760"/>
          </a:xfrm>
          <a:prstGeom prst="rect">
            <a:avLst/>
          </a:prstGeom>
          <a:noFill/>
        </p:spPr>
        <p:txBody>
          <a:bodyPr wrap="square" anchor="t" lIns="0" rIns="0" tIns="0" bIns="0">
            <a:spAutoFit/>
          </a:bodyPr>
          <a:lstStyle/>
          <a:p>
            <a:pPr algn="l">
              <a:lnSpc>
                <a:spcPct val="115000"/>
              </a:lnSpc>
              <a:spcBef>
                <a:spcPts val="0"/>
              </a:spcBef>
            </a:pPr>
            <a:r>
              <a:rPr sz="1500" b="1">
                <a:solidFill>
                  <a:srgbClr val="FFFFFF"/>
                </a:solidFill>
                <a:latin typeface="Nunito Sans"/>
              </a:rPr>
              <a:t>Capacity-based planning</a:t>
            </a:r>
          </a:p>
        </p:txBody>
      </p:sp>
      <p:sp>
        <p:nvSpPr>
          <p:cNvPr id="15" name="Rounded Rectangle 14"/>
          <p:cNvSpPr/>
          <p:nvPr/>
        </p:nvSpPr>
        <p:spPr>
          <a:xfrm>
            <a:off x="914400" y="4096512"/>
            <a:ext cx="4572000" cy="502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4251960"/>
            <a:ext cx="4023360" cy="365760"/>
          </a:xfrm>
          <a:prstGeom prst="rect">
            <a:avLst/>
          </a:prstGeom>
          <a:noFill/>
        </p:spPr>
        <p:txBody>
          <a:bodyPr wrap="square" anchor="t" lIns="0" rIns="0" tIns="0" bIns="0">
            <a:spAutoFit/>
          </a:bodyPr>
          <a:lstStyle/>
          <a:p>
            <a:pPr algn="l">
              <a:lnSpc>
                <a:spcPct val="115000"/>
              </a:lnSpc>
              <a:spcBef>
                <a:spcPts val="0"/>
              </a:spcBef>
            </a:pPr>
            <a:r>
              <a:rPr sz="1500" b="0">
                <a:solidFill>
                  <a:srgbClr val="6F6789"/>
                </a:solidFill>
                <a:latin typeface="Nunito Sans"/>
              </a:rPr>
              <a:t>Tasks and reminders</a:t>
            </a:r>
          </a:p>
        </p:txBody>
      </p:sp>
      <p:sp>
        <p:nvSpPr>
          <p:cNvPr id="17" name="Rounded Rectangle 16"/>
          <p:cNvSpPr/>
          <p:nvPr/>
        </p:nvSpPr>
        <p:spPr>
          <a:xfrm>
            <a:off x="5788152" y="4096512"/>
            <a:ext cx="4572000" cy="502920"/>
          </a:xfrm>
          <a:prstGeom prst="roundRect">
            <a:avLst>
              <a:gd name="adj" fmla="val 6000"/>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62472" y="4242816"/>
            <a:ext cx="4023360" cy="365760"/>
          </a:xfrm>
          <a:prstGeom prst="rect">
            <a:avLst/>
          </a:prstGeom>
          <a:noFill/>
        </p:spPr>
        <p:txBody>
          <a:bodyPr wrap="square" anchor="t" lIns="0" rIns="0" tIns="0" bIns="0">
            <a:spAutoFit/>
          </a:bodyPr>
          <a:lstStyle/>
          <a:p>
            <a:pPr algn="l">
              <a:lnSpc>
                <a:spcPct val="115000"/>
              </a:lnSpc>
              <a:spcBef>
                <a:spcPts val="0"/>
              </a:spcBef>
            </a:pPr>
            <a:r>
              <a:rPr sz="1500" b="1">
                <a:solidFill>
                  <a:srgbClr val="FFFFFF"/>
                </a:solidFill>
                <a:latin typeface="Nunito Sans"/>
              </a:rPr>
              <a:t>Tasks + energy + context</a:t>
            </a:r>
          </a:p>
        </p:txBody>
      </p:sp>
      <p:sp>
        <p:nvSpPr>
          <p:cNvPr id="19" name="Rounded Rectangle 18"/>
          <p:cNvSpPr/>
          <p:nvPr/>
        </p:nvSpPr>
        <p:spPr>
          <a:xfrm>
            <a:off x="914400" y="4681728"/>
            <a:ext cx="4572000" cy="502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4837176"/>
            <a:ext cx="4023360" cy="365760"/>
          </a:xfrm>
          <a:prstGeom prst="rect">
            <a:avLst/>
          </a:prstGeom>
          <a:noFill/>
        </p:spPr>
        <p:txBody>
          <a:bodyPr wrap="square" anchor="t" lIns="0" rIns="0" tIns="0" bIns="0">
            <a:spAutoFit/>
          </a:bodyPr>
          <a:lstStyle/>
          <a:p>
            <a:pPr algn="l">
              <a:lnSpc>
                <a:spcPct val="115000"/>
              </a:lnSpc>
              <a:spcBef>
                <a:spcPts val="0"/>
              </a:spcBef>
            </a:pPr>
            <a:r>
              <a:rPr sz="1500" b="0">
                <a:solidFill>
                  <a:srgbClr val="6F6789"/>
                </a:solidFill>
                <a:latin typeface="Nunito Sans"/>
              </a:rPr>
              <a:t>User adapts to the system</a:t>
            </a:r>
          </a:p>
        </p:txBody>
      </p:sp>
      <p:sp>
        <p:nvSpPr>
          <p:cNvPr id="21" name="Rounded Rectangle 20"/>
          <p:cNvSpPr/>
          <p:nvPr/>
        </p:nvSpPr>
        <p:spPr>
          <a:xfrm>
            <a:off x="5788152" y="4681728"/>
            <a:ext cx="4572000" cy="502920"/>
          </a:xfrm>
          <a:prstGeom prst="roundRect">
            <a:avLst>
              <a:gd name="adj" fmla="val 6000"/>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2472" y="4828032"/>
            <a:ext cx="4023360" cy="365760"/>
          </a:xfrm>
          <a:prstGeom prst="rect">
            <a:avLst/>
          </a:prstGeom>
          <a:noFill/>
        </p:spPr>
        <p:txBody>
          <a:bodyPr wrap="square" anchor="t" lIns="0" rIns="0" tIns="0" bIns="0">
            <a:spAutoFit/>
          </a:bodyPr>
          <a:lstStyle/>
          <a:p>
            <a:pPr algn="l">
              <a:lnSpc>
                <a:spcPct val="115000"/>
              </a:lnSpc>
              <a:spcBef>
                <a:spcPts val="0"/>
              </a:spcBef>
            </a:pPr>
            <a:r>
              <a:rPr sz="1500" b="1">
                <a:solidFill>
                  <a:srgbClr val="FFFFFF"/>
                </a:solidFill>
                <a:latin typeface="Nunito Sans"/>
              </a:rPr>
              <a:t>System adapts to the user</a:t>
            </a:r>
          </a:p>
        </p:txBody>
      </p:sp>
      <p:sp>
        <p:nvSpPr>
          <p:cNvPr id="23" name="Rounded Rectangle 22"/>
          <p:cNvSpPr/>
          <p:nvPr/>
        </p:nvSpPr>
        <p:spPr>
          <a:xfrm>
            <a:off x="914400" y="5266944"/>
            <a:ext cx="4572000" cy="502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5422392"/>
            <a:ext cx="4023360" cy="365760"/>
          </a:xfrm>
          <a:prstGeom prst="rect">
            <a:avLst/>
          </a:prstGeom>
          <a:noFill/>
        </p:spPr>
        <p:txBody>
          <a:bodyPr wrap="square" anchor="t" lIns="0" rIns="0" tIns="0" bIns="0">
            <a:spAutoFit/>
          </a:bodyPr>
          <a:lstStyle/>
          <a:p>
            <a:pPr algn="l">
              <a:lnSpc>
                <a:spcPct val="115000"/>
              </a:lnSpc>
              <a:spcBef>
                <a:spcPts val="0"/>
              </a:spcBef>
            </a:pPr>
            <a:r>
              <a:rPr sz="1500" b="0">
                <a:solidFill>
                  <a:srgbClr val="6F6789"/>
                </a:solidFill>
                <a:latin typeface="Nunito Sans"/>
              </a:rPr>
              <a:t>Completion-focused</a:t>
            </a:r>
          </a:p>
        </p:txBody>
      </p:sp>
      <p:sp>
        <p:nvSpPr>
          <p:cNvPr id="25" name="Rounded Rectangle 24"/>
          <p:cNvSpPr/>
          <p:nvPr/>
        </p:nvSpPr>
        <p:spPr>
          <a:xfrm>
            <a:off x="5788152" y="5266944"/>
            <a:ext cx="4572000" cy="502920"/>
          </a:xfrm>
          <a:prstGeom prst="roundRect">
            <a:avLst>
              <a:gd name="adj" fmla="val 6000"/>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62472" y="5413248"/>
            <a:ext cx="4023360" cy="365760"/>
          </a:xfrm>
          <a:prstGeom prst="rect">
            <a:avLst/>
          </a:prstGeom>
          <a:noFill/>
        </p:spPr>
        <p:txBody>
          <a:bodyPr wrap="square" anchor="t" lIns="0" rIns="0" tIns="0" bIns="0">
            <a:spAutoFit/>
          </a:bodyPr>
          <a:lstStyle/>
          <a:p>
            <a:pPr algn="l">
              <a:lnSpc>
                <a:spcPct val="115000"/>
              </a:lnSpc>
              <a:spcBef>
                <a:spcPts val="0"/>
              </a:spcBef>
            </a:pPr>
            <a:r>
              <a:rPr sz="1500" b="1">
                <a:solidFill>
                  <a:srgbClr val="FFFFFF"/>
                </a:solidFill>
                <a:latin typeface="Nunito Sans"/>
              </a:rPr>
              <a:t>Sustainable everyday life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66928"/>
            <a:ext cx="7315200" cy="365760"/>
          </a:xfrm>
          <a:prstGeom prst="rect">
            <a:avLst/>
          </a:prstGeom>
          <a:noFill/>
        </p:spPr>
        <p:txBody>
          <a:bodyPr wrap="square" anchor="t" lIns="0" rIns="0" tIns="0" bIns="0">
            <a:spAutoFit/>
          </a:bodyPr>
          <a:lstStyle/>
          <a:p>
            <a:pPr algn="l">
              <a:lnSpc>
                <a:spcPct val="115000"/>
              </a:lnSpc>
              <a:spcBef>
                <a:spcPts val="0"/>
              </a:spcBef>
            </a:pPr>
            <a:r>
              <a:rPr sz="1400" b="1">
                <a:solidFill>
                  <a:srgbClr val="7C5CE0"/>
                </a:solidFill>
                <a:latin typeface="Nunito Sans"/>
              </a:rPr>
              <a:t>MARKET OPPORTUNITY</a:t>
            </a:r>
          </a:p>
        </p:txBody>
      </p:sp>
      <p:sp>
        <p:nvSpPr>
          <p:cNvPr id="4" name="TextBox 3"/>
          <p:cNvSpPr txBox="1"/>
          <p:nvPr/>
        </p:nvSpPr>
        <p:spPr>
          <a:xfrm>
            <a:off x="914400" y="960120"/>
            <a:ext cx="9418320" cy="1097280"/>
          </a:xfrm>
          <a:prstGeom prst="rect">
            <a:avLst/>
          </a:prstGeom>
          <a:noFill/>
        </p:spPr>
        <p:txBody>
          <a:bodyPr wrap="square" anchor="t" lIns="0" rIns="0" tIns="0" bIns="0">
            <a:spAutoFit/>
          </a:bodyPr>
          <a:lstStyle/>
          <a:p>
            <a:pPr algn="l">
              <a:lnSpc>
                <a:spcPct val="105000"/>
              </a:lnSpc>
              <a:spcBef>
                <a:spcPts val="0"/>
              </a:spcBef>
            </a:pPr>
            <a:r>
              <a:rPr sz="4000" b="1">
                <a:solidFill>
                  <a:srgbClr val="241C3B"/>
                </a:solidFill>
                <a:latin typeface="Nunito Sans"/>
              </a:rPr>
              <a:t>A large problem across markets.</a:t>
            </a:r>
          </a:p>
        </p:txBody>
      </p:sp>
      <p:sp>
        <p:nvSpPr>
          <p:cNvPr id="5" name="TextBox 4"/>
          <p:cNvSpPr txBox="1"/>
          <p:nvPr/>
        </p:nvSpPr>
        <p:spPr>
          <a:xfrm>
            <a:off x="914400" y="2057400"/>
            <a:ext cx="8412480" cy="822960"/>
          </a:xfrm>
          <a:prstGeom prst="rect">
            <a:avLst/>
          </a:prstGeom>
          <a:noFill/>
        </p:spPr>
        <p:txBody>
          <a:bodyPr wrap="square" anchor="t" lIns="0" rIns="0" tIns="0" bIns="0">
            <a:spAutoFit/>
          </a:bodyPr>
          <a:lstStyle/>
          <a:p>
            <a:pPr algn="l">
              <a:lnSpc>
                <a:spcPct val="130000"/>
              </a:lnSpc>
              <a:spcBef>
                <a:spcPts val="0"/>
              </a:spcBef>
            </a:pPr>
            <a:r>
              <a:rPr sz="1600" b="0">
                <a:solidFill>
                  <a:srgbClr val="6F6789"/>
                </a:solidFill>
                <a:latin typeface="Nunito Sans"/>
              </a:rPr>
              <a:t>MyFlove serves people with high mental load and complex everyday demands — a scalable platform, not a niche diagnosis app.</a:t>
            </a:r>
          </a:p>
        </p:txBody>
      </p:sp>
      <p:sp>
        <p:nvSpPr>
          <p:cNvPr id="6" name="Rounded Rectangle 5"/>
          <p:cNvSpPr/>
          <p:nvPr/>
        </p:nvSpPr>
        <p:spPr>
          <a:xfrm>
            <a:off x="914400" y="2880360"/>
            <a:ext cx="2977896" cy="1600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3154679"/>
            <a:ext cx="2392680" cy="114300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B2C — Consumers</a:t>
            </a:r>
          </a:p>
          <a:p>
            <a:pPr algn="l">
              <a:lnSpc>
                <a:spcPct val="130000"/>
              </a:lnSpc>
              <a:spcBef>
                <a:spcPts val="800"/>
              </a:spcBef>
            </a:pPr>
            <a:r>
              <a:rPr sz="1300" b="0">
                <a:solidFill>
                  <a:srgbClr val="6F6789"/>
                </a:solidFill>
                <a:latin typeface="Nunito Sans"/>
              </a:rPr>
              <a:t>People who struggle to align everyday demands with their actual capacity.</a:t>
            </a:r>
          </a:p>
        </p:txBody>
      </p:sp>
      <p:sp>
        <p:nvSpPr>
          <p:cNvPr id="8" name="Rounded Rectangle 7"/>
          <p:cNvSpPr/>
          <p:nvPr/>
        </p:nvSpPr>
        <p:spPr>
          <a:xfrm>
            <a:off x="4148328" y="2880360"/>
            <a:ext cx="2977896" cy="1600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40936" y="3154679"/>
            <a:ext cx="2392680" cy="114300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B2B — Employers</a:t>
            </a:r>
          </a:p>
          <a:p>
            <a:pPr algn="l">
              <a:lnSpc>
                <a:spcPct val="130000"/>
              </a:lnSpc>
              <a:spcBef>
                <a:spcPts val="800"/>
              </a:spcBef>
            </a:pPr>
            <a:r>
              <a:rPr sz="1300" b="0">
                <a:solidFill>
                  <a:srgbClr val="6F6789"/>
                </a:solidFill>
                <a:latin typeface="Nunito Sans"/>
              </a:rPr>
              <a:t>Organizations investing in sustainable digital support and wellbeing.</a:t>
            </a:r>
          </a:p>
        </p:txBody>
      </p:sp>
      <p:sp>
        <p:nvSpPr>
          <p:cNvPr id="10" name="Rounded Rectangle 9"/>
          <p:cNvSpPr/>
          <p:nvPr/>
        </p:nvSpPr>
        <p:spPr>
          <a:xfrm>
            <a:off x="7382256" y="2880360"/>
            <a:ext cx="2977896" cy="1600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74864" y="3154679"/>
            <a:ext cx="2392680" cy="114300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B2G — Public sector</a:t>
            </a:r>
          </a:p>
          <a:p>
            <a:pPr algn="l">
              <a:lnSpc>
                <a:spcPct val="130000"/>
              </a:lnSpc>
              <a:spcBef>
                <a:spcPts val="800"/>
              </a:spcBef>
            </a:pPr>
            <a:r>
              <a:rPr sz="1300" b="0">
                <a:solidFill>
                  <a:srgbClr val="6F6789"/>
                </a:solidFill>
                <a:latin typeface="Nunito Sans"/>
              </a:rPr>
              <a:t>Municipalities supporting independence and everyday functioning.</a:t>
            </a:r>
          </a:p>
        </p:txBody>
      </p:sp>
      <p:sp>
        <p:nvSpPr>
          <p:cNvPr id="12" name="Rounded Rectangle 11"/>
          <p:cNvSpPr/>
          <p:nvPr/>
        </p:nvSpPr>
        <p:spPr>
          <a:xfrm>
            <a:off x="914400" y="4709160"/>
            <a:ext cx="9445752" cy="1051560"/>
          </a:xfrm>
          <a:prstGeom prst="roundRect">
            <a:avLst>
              <a:gd name="adj" fmla="val 6000"/>
            </a:avLst>
          </a:prstGeom>
          <a:solidFill>
            <a:srgbClr val="EDE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892040"/>
            <a:ext cx="8869680" cy="822960"/>
          </a:xfrm>
          <a:prstGeom prst="rect">
            <a:avLst/>
          </a:prstGeom>
          <a:noFill/>
        </p:spPr>
        <p:txBody>
          <a:bodyPr wrap="square" anchor="t" lIns="0" rIns="0" tIns="0" bIns="0">
            <a:spAutoFit/>
          </a:bodyPr>
          <a:lstStyle/>
          <a:p>
            <a:pPr algn="l">
              <a:lnSpc>
                <a:spcPct val="130000"/>
              </a:lnSpc>
              <a:spcBef>
                <a:spcPts val="0"/>
              </a:spcBef>
            </a:pPr>
            <a:r>
              <a:rPr sz="1300" b="0">
                <a:solidFill>
                  <a:srgbClr val="241C3B"/>
                </a:solidFill>
                <a:latin typeface="Nunito Sans"/>
              </a:rPr>
              <a:t>Reference points: ADHD prevalence ~2.58% of adults globally (PubMed, 2021) · ~3% of adults in Sweden (Socialstyrelsen) · ADHD app market estimated at $1.9B in 2025, projected $6.7B by 2033 (Grand View Research).</a:t>
            </a:r>
          </a:p>
          <a:p>
            <a:pPr algn="l">
              <a:lnSpc>
                <a:spcPct val="115000"/>
              </a:lnSpc>
              <a:spcBef>
                <a:spcPts val="600"/>
              </a:spcBef>
            </a:pPr>
            <a:r>
              <a:rPr sz="1100" b="0">
                <a:solidFill>
                  <a:srgbClr val="6F6789"/>
                </a:solidFill>
                <a:latin typeface="Nunito Sans"/>
              </a:rPr>
              <a:t>External estimates — not MyFlove user or revenue figures.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66928"/>
            <a:ext cx="7315200" cy="365760"/>
          </a:xfrm>
          <a:prstGeom prst="rect">
            <a:avLst/>
          </a:prstGeom>
          <a:noFill/>
        </p:spPr>
        <p:txBody>
          <a:bodyPr wrap="square" anchor="t" lIns="0" rIns="0" tIns="0" bIns="0">
            <a:spAutoFit/>
          </a:bodyPr>
          <a:lstStyle/>
          <a:p>
            <a:pPr algn="l">
              <a:lnSpc>
                <a:spcPct val="115000"/>
              </a:lnSpc>
              <a:spcBef>
                <a:spcPts val="0"/>
              </a:spcBef>
            </a:pPr>
            <a:r>
              <a:rPr sz="1400" b="1">
                <a:solidFill>
                  <a:srgbClr val="7C5CE0"/>
                </a:solidFill>
                <a:latin typeface="Nunito Sans"/>
              </a:rPr>
              <a:t>TRACTION &amp; VALIDATION</a:t>
            </a:r>
          </a:p>
        </p:txBody>
      </p:sp>
      <p:sp>
        <p:nvSpPr>
          <p:cNvPr id="4" name="TextBox 3"/>
          <p:cNvSpPr txBox="1"/>
          <p:nvPr/>
        </p:nvSpPr>
        <p:spPr>
          <a:xfrm>
            <a:off x="914400" y="960120"/>
            <a:ext cx="9418320" cy="1097280"/>
          </a:xfrm>
          <a:prstGeom prst="rect">
            <a:avLst/>
          </a:prstGeom>
          <a:noFill/>
        </p:spPr>
        <p:txBody>
          <a:bodyPr wrap="square" anchor="t" lIns="0" rIns="0" tIns="0" bIns="0">
            <a:spAutoFit/>
          </a:bodyPr>
          <a:lstStyle/>
          <a:p>
            <a:pPr algn="l">
              <a:lnSpc>
                <a:spcPct val="105000"/>
              </a:lnSpc>
              <a:spcBef>
                <a:spcPts val="0"/>
              </a:spcBef>
            </a:pPr>
            <a:r>
              <a:rPr sz="4000" b="1">
                <a:solidFill>
                  <a:srgbClr val="241C3B"/>
                </a:solidFill>
                <a:latin typeface="Nunito Sans"/>
              </a:rPr>
              <a:t>From product to proof.</a:t>
            </a:r>
          </a:p>
        </p:txBody>
      </p:sp>
      <p:sp>
        <p:nvSpPr>
          <p:cNvPr id="5" name="Rounded Rectangle 4"/>
          <p:cNvSpPr/>
          <p:nvPr/>
        </p:nvSpPr>
        <p:spPr>
          <a:xfrm>
            <a:off x="914400" y="2286000"/>
            <a:ext cx="4572000" cy="3063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578608"/>
            <a:ext cx="4023360" cy="2651760"/>
          </a:xfrm>
          <a:prstGeom prst="rect">
            <a:avLst/>
          </a:prstGeom>
          <a:noFill/>
        </p:spPr>
        <p:txBody>
          <a:bodyPr wrap="square" anchor="t" lIns="0" rIns="0" tIns="0" bIns="0">
            <a:spAutoFit/>
          </a:bodyPr>
          <a:lstStyle/>
          <a:p>
            <a:pPr algn="l">
              <a:lnSpc>
                <a:spcPct val="115000"/>
              </a:lnSpc>
              <a:spcBef>
                <a:spcPts val="0"/>
              </a:spcBef>
            </a:pPr>
            <a:r>
              <a:rPr sz="1300" b="1">
                <a:solidFill>
                  <a:srgbClr val="7C5CE0"/>
                </a:solidFill>
                <a:latin typeface="Nunito Sans"/>
              </a:rPr>
              <a:t>BUILT</a:t>
            </a:r>
          </a:p>
          <a:p>
            <a:pPr algn="l">
              <a:lnSpc>
                <a:spcPct val="110000"/>
              </a:lnSpc>
              <a:spcBef>
                <a:spcPts val="800"/>
              </a:spcBef>
            </a:pPr>
            <a:r>
              <a:rPr sz="3000" b="1">
                <a:solidFill>
                  <a:srgbClr val="241C3B"/>
                </a:solidFill>
                <a:latin typeface="Nunito Sans"/>
              </a:rPr>
              <a:t>48 users</a:t>
            </a:r>
          </a:p>
          <a:p>
            <a:pPr algn="l">
              <a:lnSpc>
                <a:spcPct val="130000"/>
              </a:lnSpc>
              <a:spcBef>
                <a:spcPts val="800"/>
              </a:spcBef>
            </a:pPr>
            <a:r>
              <a:rPr sz="1400" b="0">
                <a:solidFill>
                  <a:srgbClr val="6F6789"/>
                </a:solidFill>
                <a:latin typeface="Nunito Sans"/>
              </a:rPr>
              <a:t>Functioning MVP · working web application</a:t>
            </a:r>
          </a:p>
          <a:p>
            <a:pPr algn="l">
              <a:lnSpc>
                <a:spcPct val="135000"/>
              </a:lnSpc>
              <a:spcBef>
                <a:spcPts val="1200"/>
              </a:spcBef>
            </a:pPr>
            <a:r>
              <a:rPr sz="1400" b="0">
                <a:solidFill>
                  <a:srgbClr val="241C3B"/>
                </a:solidFill>
                <a:latin typeface="Nunito Sans"/>
              </a:rPr>
              <a:t>QuickFlow · Battery / energy · Calendar · Daily Flow · Flow / AI · energy history · weekly overview</a:t>
            </a:r>
          </a:p>
        </p:txBody>
      </p:sp>
      <p:sp>
        <p:nvSpPr>
          <p:cNvPr id="7" name="Rounded Rectangle 6"/>
          <p:cNvSpPr/>
          <p:nvPr/>
        </p:nvSpPr>
        <p:spPr>
          <a:xfrm>
            <a:off x="5788152" y="2286000"/>
            <a:ext cx="4572000" cy="3063240"/>
          </a:xfrm>
          <a:prstGeom prst="roundRect">
            <a:avLst>
              <a:gd name="adj" fmla="val 6000"/>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62472" y="2578608"/>
            <a:ext cx="4023360" cy="2651760"/>
          </a:xfrm>
          <a:prstGeom prst="rect">
            <a:avLst/>
          </a:prstGeom>
          <a:noFill/>
        </p:spPr>
        <p:txBody>
          <a:bodyPr wrap="square" anchor="t" lIns="0" rIns="0" tIns="0" bIns="0">
            <a:spAutoFit/>
          </a:bodyPr>
          <a:lstStyle/>
          <a:p>
            <a:pPr algn="l">
              <a:lnSpc>
                <a:spcPct val="115000"/>
              </a:lnSpc>
              <a:spcBef>
                <a:spcPts val="0"/>
              </a:spcBef>
            </a:pPr>
            <a:r>
              <a:rPr sz="1300" b="1">
                <a:solidFill>
                  <a:srgbClr val="E6DCFB"/>
                </a:solidFill>
                <a:latin typeface="Nunito Sans"/>
              </a:rPr>
              <a:t>NOW: STRUCTURED VALIDATION + PILOT TESTING</a:t>
            </a:r>
          </a:p>
          <a:p>
            <a:pPr algn="l">
              <a:lnSpc>
                <a:spcPct val="115000"/>
              </a:lnSpc>
              <a:spcBef>
                <a:spcPts val="1000"/>
              </a:spcBef>
            </a:pPr>
            <a:r>
              <a:rPr sz="2000" b="1">
                <a:solidFill>
                  <a:srgbClr val="FFFFFF"/>
                </a:solidFill>
                <a:latin typeface="Nunito Sans"/>
              </a:rPr>
              <a:t>We are measuring</a:t>
            </a:r>
          </a:p>
          <a:p>
            <a:pPr algn="l">
              <a:lnSpc>
                <a:spcPct val="135000"/>
              </a:lnSpc>
              <a:spcBef>
                <a:spcPts val="1000"/>
              </a:spcBef>
            </a:pPr>
            <a:r>
              <a:rPr sz="1400" b="0">
                <a:solidFill>
                  <a:srgbClr val="FFFFFF"/>
                </a:solidFill>
                <a:latin typeface="Nunito Sans"/>
              </a:rPr>
              <a:t>Recurring usage · perceived mental load · sense of control · prioritisation · ability to get started · usefulness of QuickFlow and Flow/FlowPlan · willingness to continue · willingness to pay</a:t>
            </a:r>
          </a:p>
        </p:txBody>
      </p:sp>
      <p:sp>
        <p:nvSpPr>
          <p:cNvPr id="9" name="TextBox 8"/>
          <p:cNvSpPr txBox="1"/>
          <p:nvPr/>
        </p:nvSpPr>
        <p:spPr>
          <a:xfrm>
            <a:off x="914400" y="5486400"/>
            <a:ext cx="9418320" cy="365760"/>
          </a:xfrm>
          <a:prstGeom prst="rect">
            <a:avLst/>
          </a:prstGeom>
          <a:noFill/>
        </p:spPr>
        <p:txBody>
          <a:bodyPr wrap="square" anchor="t" lIns="0" rIns="0" tIns="0" bIns="0">
            <a:spAutoFit/>
          </a:bodyPr>
          <a:lstStyle/>
          <a:p>
            <a:pPr algn="l">
              <a:lnSpc>
                <a:spcPct val="115000"/>
              </a:lnSpc>
              <a:spcBef>
                <a:spcPts val="0"/>
              </a:spcBef>
            </a:pPr>
            <a:r>
              <a:rPr sz="1300" b="0">
                <a:solidFill>
                  <a:srgbClr val="6F6789"/>
                </a:solidFill>
                <a:latin typeface="Nunito Sans"/>
              </a:rPr>
              <a:t>No paying customers and no clinical outcomes claimed — those are exactly what we are now measuring.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66928"/>
            <a:ext cx="7315200" cy="365760"/>
          </a:xfrm>
          <a:prstGeom prst="rect">
            <a:avLst/>
          </a:prstGeom>
          <a:noFill/>
        </p:spPr>
        <p:txBody>
          <a:bodyPr wrap="square" anchor="t" lIns="0" rIns="0" tIns="0" bIns="0">
            <a:spAutoFit/>
          </a:bodyPr>
          <a:lstStyle/>
          <a:p>
            <a:pPr algn="l">
              <a:lnSpc>
                <a:spcPct val="115000"/>
              </a:lnSpc>
              <a:spcBef>
                <a:spcPts val="0"/>
              </a:spcBef>
            </a:pPr>
            <a:r>
              <a:rPr sz="1400" b="1">
                <a:solidFill>
                  <a:srgbClr val="7C5CE0"/>
                </a:solidFill>
                <a:latin typeface="Nunito Sans"/>
              </a:rPr>
              <a:t>BUSINESS MODEL &amp; GO-TO-MARKET</a:t>
            </a:r>
          </a:p>
        </p:txBody>
      </p:sp>
      <p:sp>
        <p:nvSpPr>
          <p:cNvPr id="4" name="TextBox 3"/>
          <p:cNvSpPr txBox="1"/>
          <p:nvPr/>
        </p:nvSpPr>
        <p:spPr>
          <a:xfrm>
            <a:off x="914400" y="960120"/>
            <a:ext cx="9418320" cy="1097280"/>
          </a:xfrm>
          <a:prstGeom prst="rect">
            <a:avLst/>
          </a:prstGeom>
          <a:noFill/>
        </p:spPr>
        <p:txBody>
          <a:bodyPr wrap="square" anchor="t" lIns="0" rIns="0" tIns="0" bIns="0">
            <a:spAutoFit/>
          </a:bodyPr>
          <a:lstStyle/>
          <a:p>
            <a:pPr algn="l">
              <a:lnSpc>
                <a:spcPct val="105000"/>
              </a:lnSpc>
              <a:spcBef>
                <a:spcPts val="0"/>
              </a:spcBef>
            </a:pPr>
            <a:r>
              <a:rPr sz="4000" b="1">
                <a:solidFill>
                  <a:srgbClr val="241C3B"/>
                </a:solidFill>
                <a:latin typeface="Nunito Sans"/>
              </a:rPr>
              <a:t>Prove value first. Scale second.</a:t>
            </a:r>
          </a:p>
        </p:txBody>
      </p:sp>
      <p:sp>
        <p:nvSpPr>
          <p:cNvPr id="5" name="Rounded Rectangle 4"/>
          <p:cNvSpPr/>
          <p:nvPr/>
        </p:nvSpPr>
        <p:spPr>
          <a:xfrm>
            <a:off x="914400" y="2514600"/>
            <a:ext cx="2977896"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2788920"/>
            <a:ext cx="2392680" cy="118872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B2C — now</a:t>
            </a:r>
          </a:p>
          <a:p>
            <a:pPr algn="l">
              <a:lnSpc>
                <a:spcPct val="130000"/>
              </a:lnSpc>
              <a:spcBef>
                <a:spcPts val="800"/>
              </a:spcBef>
            </a:pPr>
            <a:r>
              <a:rPr sz="1300" b="0">
                <a:solidFill>
                  <a:srgbClr val="6F6789"/>
                </a:solidFill>
                <a:latin typeface="Nunito Sans"/>
              </a:rPr>
              <a:t>Free → Premium. Pricing validated before it is set.</a:t>
            </a:r>
          </a:p>
        </p:txBody>
      </p:sp>
      <p:sp>
        <p:nvSpPr>
          <p:cNvPr id="7" name="Rounded Rectangle 6"/>
          <p:cNvSpPr/>
          <p:nvPr/>
        </p:nvSpPr>
        <p:spPr>
          <a:xfrm>
            <a:off x="4148328" y="2514600"/>
            <a:ext cx="2977896"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0936" y="2788920"/>
            <a:ext cx="2392680" cy="118872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B2B — next</a:t>
            </a:r>
          </a:p>
          <a:p>
            <a:pPr algn="l">
              <a:lnSpc>
                <a:spcPct val="130000"/>
              </a:lnSpc>
              <a:spcBef>
                <a:spcPts val="800"/>
              </a:spcBef>
            </a:pPr>
            <a:r>
              <a:rPr sz="1300" b="0">
                <a:solidFill>
                  <a:srgbClr val="6F6789"/>
                </a:solidFill>
                <a:latin typeface="Nunito Sans"/>
              </a:rPr>
              <a:t>Employers and organizations.</a:t>
            </a:r>
          </a:p>
        </p:txBody>
      </p:sp>
      <p:sp>
        <p:nvSpPr>
          <p:cNvPr id="9" name="Rounded Rectangle 8"/>
          <p:cNvSpPr/>
          <p:nvPr/>
        </p:nvSpPr>
        <p:spPr>
          <a:xfrm>
            <a:off x="7382256" y="2514600"/>
            <a:ext cx="2977896"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4864" y="2788920"/>
            <a:ext cx="2392680" cy="118872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B2G — then</a:t>
            </a:r>
          </a:p>
          <a:p>
            <a:pPr algn="l">
              <a:lnSpc>
                <a:spcPct val="130000"/>
              </a:lnSpc>
              <a:spcBef>
                <a:spcPts val="800"/>
              </a:spcBef>
            </a:pPr>
            <a:r>
              <a:rPr sz="1300" b="0">
                <a:solidFill>
                  <a:srgbClr val="6F6789"/>
                </a:solidFill>
                <a:latin typeface="Nunito Sans"/>
              </a:rPr>
              <a:t>Public sector and municipalities.</a:t>
            </a:r>
          </a:p>
        </p:txBody>
      </p:sp>
      <p:sp>
        <p:nvSpPr>
          <p:cNvPr id="11" name="Rounded Rectangle 10"/>
          <p:cNvSpPr/>
          <p:nvPr/>
        </p:nvSpPr>
        <p:spPr>
          <a:xfrm>
            <a:off x="914400" y="4526280"/>
            <a:ext cx="1437132" cy="731520"/>
          </a:xfrm>
          <a:prstGeom prst="roundRect">
            <a:avLst>
              <a:gd name="adj" fmla="val 6000"/>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736592"/>
            <a:ext cx="1437132" cy="365760"/>
          </a:xfrm>
          <a:prstGeom prst="rect">
            <a:avLst/>
          </a:prstGeom>
          <a:noFill/>
        </p:spPr>
        <p:txBody>
          <a:bodyPr wrap="square" anchor="t" lIns="0" rIns="0" tIns="0" bIns="0">
            <a:spAutoFit/>
          </a:bodyPr>
          <a:lstStyle/>
          <a:p>
            <a:pPr algn="ctr">
              <a:lnSpc>
                <a:spcPct val="115000"/>
              </a:lnSpc>
              <a:spcBef>
                <a:spcPts val="0"/>
              </a:spcBef>
            </a:pPr>
            <a:r>
              <a:rPr sz="1500" b="1">
                <a:solidFill>
                  <a:srgbClr val="FFFFFF"/>
                </a:solidFill>
                <a:latin typeface="Nunito Sans"/>
              </a:rPr>
              <a:t>Pilot</a:t>
            </a:r>
          </a:p>
        </p:txBody>
      </p:sp>
      <p:sp>
        <p:nvSpPr>
          <p:cNvPr id="13" name="Rounded Rectangle 12"/>
          <p:cNvSpPr/>
          <p:nvPr/>
        </p:nvSpPr>
        <p:spPr>
          <a:xfrm>
            <a:off x="2516124" y="4526280"/>
            <a:ext cx="1437132" cy="731520"/>
          </a:xfrm>
          <a:prstGeom prst="roundRect">
            <a:avLst>
              <a:gd name="adj" fmla="val 6000"/>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6124" y="4736592"/>
            <a:ext cx="1437132" cy="365760"/>
          </a:xfrm>
          <a:prstGeom prst="rect">
            <a:avLst/>
          </a:prstGeom>
          <a:noFill/>
        </p:spPr>
        <p:txBody>
          <a:bodyPr wrap="square" anchor="t" lIns="0" rIns="0" tIns="0" bIns="0">
            <a:spAutoFit/>
          </a:bodyPr>
          <a:lstStyle/>
          <a:p>
            <a:pPr algn="ctr">
              <a:lnSpc>
                <a:spcPct val="115000"/>
              </a:lnSpc>
              <a:spcBef>
                <a:spcPts val="0"/>
              </a:spcBef>
            </a:pPr>
            <a:r>
              <a:rPr sz="1500" b="1">
                <a:solidFill>
                  <a:srgbClr val="FFFFFF"/>
                </a:solidFill>
                <a:latin typeface="Nunito Sans"/>
              </a:rPr>
              <a:t>Validate</a:t>
            </a:r>
          </a:p>
        </p:txBody>
      </p:sp>
      <p:sp>
        <p:nvSpPr>
          <p:cNvPr id="15" name="Rounded Rectangle 14"/>
          <p:cNvSpPr/>
          <p:nvPr/>
        </p:nvSpPr>
        <p:spPr>
          <a:xfrm>
            <a:off x="4117848" y="4526280"/>
            <a:ext cx="1437132" cy="731520"/>
          </a:xfrm>
          <a:prstGeom prst="roundRect">
            <a:avLst>
              <a:gd name="adj" fmla="val 6000"/>
            </a:avLst>
          </a:prstGeom>
          <a:solidFill>
            <a:srgbClr val="EDE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7848" y="4736592"/>
            <a:ext cx="1437132" cy="365760"/>
          </a:xfrm>
          <a:prstGeom prst="rect">
            <a:avLst/>
          </a:prstGeom>
          <a:noFill/>
        </p:spPr>
        <p:txBody>
          <a:bodyPr wrap="square" anchor="t" lIns="0" rIns="0" tIns="0" bIns="0">
            <a:spAutoFit/>
          </a:bodyPr>
          <a:lstStyle/>
          <a:p>
            <a:pPr algn="ctr">
              <a:lnSpc>
                <a:spcPct val="115000"/>
              </a:lnSpc>
              <a:spcBef>
                <a:spcPts val="0"/>
              </a:spcBef>
            </a:pPr>
            <a:r>
              <a:rPr sz="1500" b="1">
                <a:solidFill>
                  <a:srgbClr val="241C3B"/>
                </a:solidFill>
                <a:latin typeface="Nunito Sans"/>
              </a:rPr>
              <a:t>Launch</a:t>
            </a:r>
          </a:p>
        </p:txBody>
      </p:sp>
      <p:sp>
        <p:nvSpPr>
          <p:cNvPr id="17" name="Rounded Rectangle 16"/>
          <p:cNvSpPr/>
          <p:nvPr/>
        </p:nvSpPr>
        <p:spPr>
          <a:xfrm>
            <a:off x="5719572" y="4526280"/>
            <a:ext cx="1437132" cy="731520"/>
          </a:xfrm>
          <a:prstGeom prst="roundRect">
            <a:avLst>
              <a:gd name="adj" fmla="val 6000"/>
            </a:avLst>
          </a:prstGeom>
          <a:solidFill>
            <a:srgbClr val="EDE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19572" y="4736592"/>
            <a:ext cx="1437132" cy="365760"/>
          </a:xfrm>
          <a:prstGeom prst="rect">
            <a:avLst/>
          </a:prstGeom>
          <a:noFill/>
        </p:spPr>
        <p:txBody>
          <a:bodyPr wrap="square" anchor="t" lIns="0" rIns="0" tIns="0" bIns="0">
            <a:spAutoFit/>
          </a:bodyPr>
          <a:lstStyle/>
          <a:p>
            <a:pPr algn="ctr">
              <a:lnSpc>
                <a:spcPct val="115000"/>
              </a:lnSpc>
              <a:spcBef>
                <a:spcPts val="0"/>
              </a:spcBef>
            </a:pPr>
            <a:r>
              <a:rPr sz="1500" b="1">
                <a:solidFill>
                  <a:srgbClr val="241C3B"/>
                </a:solidFill>
                <a:latin typeface="Nunito Sans"/>
              </a:rPr>
              <a:t>B2C</a:t>
            </a:r>
          </a:p>
        </p:txBody>
      </p:sp>
      <p:sp>
        <p:nvSpPr>
          <p:cNvPr id="19" name="Rounded Rectangle 18"/>
          <p:cNvSpPr/>
          <p:nvPr/>
        </p:nvSpPr>
        <p:spPr>
          <a:xfrm>
            <a:off x="7321296" y="4526280"/>
            <a:ext cx="1437132" cy="731520"/>
          </a:xfrm>
          <a:prstGeom prst="roundRect">
            <a:avLst>
              <a:gd name="adj" fmla="val 6000"/>
            </a:avLst>
          </a:prstGeom>
          <a:solidFill>
            <a:srgbClr val="EDE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21296" y="4736592"/>
            <a:ext cx="1437132" cy="365760"/>
          </a:xfrm>
          <a:prstGeom prst="rect">
            <a:avLst/>
          </a:prstGeom>
          <a:noFill/>
        </p:spPr>
        <p:txBody>
          <a:bodyPr wrap="square" anchor="t" lIns="0" rIns="0" tIns="0" bIns="0">
            <a:spAutoFit/>
          </a:bodyPr>
          <a:lstStyle/>
          <a:p>
            <a:pPr algn="ctr">
              <a:lnSpc>
                <a:spcPct val="115000"/>
              </a:lnSpc>
              <a:spcBef>
                <a:spcPts val="0"/>
              </a:spcBef>
            </a:pPr>
            <a:r>
              <a:rPr sz="1500" b="1">
                <a:solidFill>
                  <a:srgbClr val="241C3B"/>
                </a:solidFill>
                <a:latin typeface="Nunito Sans"/>
              </a:rPr>
              <a:t>B2B / B2G</a:t>
            </a:r>
          </a:p>
        </p:txBody>
      </p:sp>
      <p:sp>
        <p:nvSpPr>
          <p:cNvPr id="21" name="Rounded Rectangle 20"/>
          <p:cNvSpPr/>
          <p:nvPr/>
        </p:nvSpPr>
        <p:spPr>
          <a:xfrm>
            <a:off x="8923020" y="4526280"/>
            <a:ext cx="1437132" cy="731520"/>
          </a:xfrm>
          <a:prstGeom prst="roundRect">
            <a:avLst>
              <a:gd name="adj" fmla="val 6000"/>
            </a:avLst>
          </a:prstGeom>
          <a:solidFill>
            <a:srgbClr val="EDE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23020" y="4736592"/>
            <a:ext cx="1437132" cy="365760"/>
          </a:xfrm>
          <a:prstGeom prst="rect">
            <a:avLst/>
          </a:prstGeom>
          <a:noFill/>
        </p:spPr>
        <p:txBody>
          <a:bodyPr wrap="square" anchor="t" lIns="0" rIns="0" tIns="0" bIns="0">
            <a:spAutoFit/>
          </a:bodyPr>
          <a:lstStyle/>
          <a:p>
            <a:pPr algn="ctr">
              <a:lnSpc>
                <a:spcPct val="115000"/>
              </a:lnSpc>
              <a:spcBef>
                <a:spcPts val="0"/>
              </a:spcBef>
            </a:pPr>
            <a:r>
              <a:rPr sz="1500" b="1">
                <a:solidFill>
                  <a:srgbClr val="241C3B"/>
                </a:solidFill>
                <a:latin typeface="Nunito Sans"/>
              </a:rPr>
              <a:t>Scale</a:t>
            </a:r>
          </a:p>
        </p:txBody>
      </p:sp>
      <p:sp>
        <p:nvSpPr>
          <p:cNvPr id="23" name="TextBox 22"/>
          <p:cNvSpPr txBox="1"/>
          <p:nvPr/>
        </p:nvSpPr>
        <p:spPr>
          <a:xfrm>
            <a:off x="914400" y="5532120"/>
            <a:ext cx="9418320" cy="365760"/>
          </a:xfrm>
          <a:prstGeom prst="rect">
            <a:avLst/>
          </a:prstGeom>
          <a:noFill/>
        </p:spPr>
        <p:txBody>
          <a:bodyPr wrap="square" anchor="t" lIns="0" rIns="0" tIns="0" bIns="0">
            <a:spAutoFit/>
          </a:bodyPr>
          <a:lstStyle/>
          <a:p>
            <a:pPr algn="l">
              <a:lnSpc>
                <a:spcPct val="115000"/>
              </a:lnSpc>
              <a:spcBef>
                <a:spcPts val="0"/>
              </a:spcBef>
            </a:pPr>
            <a:r>
              <a:rPr sz="1500" b="0">
                <a:solidFill>
                  <a:srgbClr val="6F6789"/>
                </a:solidFill>
                <a:latin typeface="Nunito Sans"/>
              </a:rPr>
              <a:t>We are deliberately validating the product and the business model before scaling.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66928"/>
            <a:ext cx="7315200" cy="365760"/>
          </a:xfrm>
          <a:prstGeom prst="rect">
            <a:avLst/>
          </a:prstGeom>
          <a:noFill/>
        </p:spPr>
        <p:txBody>
          <a:bodyPr wrap="square" anchor="t" lIns="0" rIns="0" tIns="0" bIns="0">
            <a:spAutoFit/>
          </a:bodyPr>
          <a:lstStyle/>
          <a:p>
            <a:pPr algn="l">
              <a:lnSpc>
                <a:spcPct val="115000"/>
              </a:lnSpc>
              <a:spcBef>
                <a:spcPts val="0"/>
              </a:spcBef>
            </a:pPr>
            <a:r>
              <a:rPr sz="1400" b="1">
                <a:solidFill>
                  <a:srgbClr val="7C5CE0"/>
                </a:solidFill>
                <a:latin typeface="Nunito Sans"/>
              </a:rPr>
              <a:t>TEAM</a:t>
            </a:r>
          </a:p>
        </p:txBody>
      </p:sp>
      <p:sp>
        <p:nvSpPr>
          <p:cNvPr id="4" name="TextBox 3"/>
          <p:cNvSpPr txBox="1"/>
          <p:nvPr/>
        </p:nvSpPr>
        <p:spPr>
          <a:xfrm>
            <a:off x="914400" y="960120"/>
            <a:ext cx="9418320" cy="1097280"/>
          </a:xfrm>
          <a:prstGeom prst="rect">
            <a:avLst/>
          </a:prstGeom>
          <a:noFill/>
        </p:spPr>
        <p:txBody>
          <a:bodyPr wrap="square" anchor="t" lIns="0" rIns="0" tIns="0" bIns="0">
            <a:spAutoFit/>
          </a:bodyPr>
          <a:lstStyle/>
          <a:p>
            <a:pPr algn="l">
              <a:lnSpc>
                <a:spcPct val="105000"/>
              </a:lnSpc>
              <a:spcBef>
                <a:spcPts val="0"/>
              </a:spcBef>
            </a:pPr>
            <a:r>
              <a:rPr sz="4000" b="1">
                <a:solidFill>
                  <a:srgbClr val="241C3B"/>
                </a:solidFill>
                <a:latin typeface="Nunito Sans"/>
              </a:rPr>
              <a:t>Built from lived experience + professional expertise.</a:t>
            </a:r>
          </a:p>
        </p:txBody>
      </p:sp>
      <p:sp>
        <p:nvSpPr>
          <p:cNvPr id="5" name="Rounded Rectangle 4"/>
          <p:cNvSpPr/>
          <p:nvPr/>
        </p:nvSpPr>
        <p:spPr>
          <a:xfrm>
            <a:off x="914400" y="2377440"/>
            <a:ext cx="4572000" cy="2834640"/>
          </a:xfrm>
          <a:prstGeom prst="roundRect">
            <a:avLst>
              <a:gd name="adj" fmla="val 6000"/>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697480"/>
            <a:ext cx="3931920" cy="2286000"/>
          </a:xfrm>
          <a:prstGeom prst="rect">
            <a:avLst/>
          </a:prstGeom>
          <a:noFill/>
        </p:spPr>
        <p:txBody>
          <a:bodyPr wrap="square" anchor="t" lIns="0" rIns="0" tIns="0" bIns="0">
            <a:spAutoFit/>
          </a:bodyPr>
          <a:lstStyle/>
          <a:p>
            <a:pPr algn="l">
              <a:lnSpc>
                <a:spcPct val="115000"/>
              </a:lnSpc>
              <a:spcBef>
                <a:spcPts val="0"/>
              </a:spcBef>
            </a:pPr>
            <a:r>
              <a:rPr sz="3200" b="1">
                <a:solidFill>
                  <a:srgbClr val="FFFFFF"/>
                </a:solidFill>
                <a:latin typeface="Nunito Sans"/>
              </a:rPr>
              <a:t>Camilla Baksi</a:t>
            </a:r>
          </a:p>
          <a:p>
            <a:pPr algn="l">
              <a:lnSpc>
                <a:spcPct val="115000"/>
              </a:lnSpc>
              <a:spcBef>
                <a:spcPts val="600"/>
              </a:spcBef>
            </a:pPr>
            <a:r>
              <a:rPr sz="1600" b="0">
                <a:solidFill>
                  <a:srgbClr val="E6DCFB"/>
                </a:solidFill>
                <a:latin typeface="Nunito Sans"/>
              </a:rPr>
              <a:t>Founder, MyFlove</a:t>
            </a:r>
          </a:p>
          <a:p>
            <a:pPr algn="l">
              <a:lnSpc>
                <a:spcPct val="115000"/>
              </a:lnSpc>
              <a:spcBef>
                <a:spcPts val="1600"/>
              </a:spcBef>
            </a:pPr>
            <a:r>
              <a:rPr sz="1600" b="1">
                <a:solidFill>
                  <a:srgbClr val="FFFFFF"/>
                </a:solidFill>
                <a:latin typeface="Nunito Sans"/>
              </a:rPr>
              <a:t>Humanistic Social Pedagogue</a:t>
            </a:r>
          </a:p>
          <a:p>
            <a:pPr algn="l">
              <a:lnSpc>
                <a:spcPct val="135000"/>
              </a:lnSpc>
              <a:spcBef>
                <a:spcPts val="800"/>
              </a:spcBef>
            </a:pPr>
            <a:r>
              <a:rPr sz="1400" b="0">
                <a:solidFill>
                  <a:srgbClr val="E6DCFB"/>
                </a:solidFill>
                <a:latin typeface="Nunito Sans"/>
              </a:rPr>
              <a:t>Further education in NPF, pedagogy, problematic school absence, and professional response to trauma and difficult events.</a:t>
            </a:r>
          </a:p>
        </p:txBody>
      </p:sp>
      <p:sp>
        <p:nvSpPr>
          <p:cNvPr id="7" name="Rounded Rectangle 6"/>
          <p:cNvSpPr/>
          <p:nvPr/>
        </p:nvSpPr>
        <p:spPr>
          <a:xfrm>
            <a:off x="5788152" y="2377440"/>
            <a:ext cx="457200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08192" y="2651760"/>
            <a:ext cx="3931920" cy="914400"/>
          </a:xfrm>
          <a:prstGeom prst="rect">
            <a:avLst/>
          </a:prstGeom>
          <a:noFill/>
        </p:spPr>
        <p:txBody>
          <a:bodyPr wrap="square" anchor="t" lIns="0" rIns="0" tIns="0" bIns="0">
            <a:spAutoFit/>
          </a:bodyPr>
          <a:lstStyle/>
          <a:p>
            <a:pPr algn="l">
              <a:lnSpc>
                <a:spcPct val="115000"/>
              </a:lnSpc>
              <a:spcBef>
                <a:spcPts val="0"/>
              </a:spcBef>
            </a:pPr>
            <a:r>
              <a:rPr sz="1700" b="1">
                <a:solidFill>
                  <a:srgbClr val="241C3B"/>
                </a:solidFill>
                <a:latin typeface="Nunito Sans"/>
              </a:rPr>
              <a:t>Professional experience</a:t>
            </a:r>
          </a:p>
          <a:p>
            <a:pPr algn="l">
              <a:lnSpc>
                <a:spcPct val="130000"/>
              </a:lnSpc>
              <a:spcBef>
                <a:spcPts val="800"/>
              </a:spcBef>
            </a:pPr>
            <a:r>
              <a:rPr sz="1400" b="0">
                <a:solidFill>
                  <a:srgbClr val="6F6789"/>
                </a:solidFill>
                <a:latin typeface="Nunito Sans"/>
              </a:rPr>
              <a:t>Youth coach · support worker · childcare worker</a:t>
            </a:r>
          </a:p>
        </p:txBody>
      </p:sp>
      <p:sp>
        <p:nvSpPr>
          <p:cNvPr id="9" name="Rounded Rectangle 8"/>
          <p:cNvSpPr/>
          <p:nvPr/>
        </p:nvSpPr>
        <p:spPr>
          <a:xfrm>
            <a:off x="5788152" y="3886200"/>
            <a:ext cx="4572000" cy="1325880"/>
          </a:xfrm>
          <a:prstGeom prst="roundRect">
            <a:avLst>
              <a:gd name="adj" fmla="val 6000"/>
            </a:avLst>
          </a:prstGeom>
          <a:solidFill>
            <a:srgbClr val="EDE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08192" y="4160520"/>
            <a:ext cx="3931920" cy="914400"/>
          </a:xfrm>
          <a:prstGeom prst="rect">
            <a:avLst/>
          </a:prstGeom>
          <a:noFill/>
        </p:spPr>
        <p:txBody>
          <a:bodyPr wrap="square" anchor="t" lIns="0" rIns="0" tIns="0" bIns="0">
            <a:spAutoFit/>
          </a:bodyPr>
          <a:lstStyle/>
          <a:p>
            <a:pPr algn="l">
              <a:lnSpc>
                <a:spcPct val="115000"/>
              </a:lnSpc>
              <a:spcBef>
                <a:spcPts val="0"/>
              </a:spcBef>
            </a:pPr>
            <a:r>
              <a:rPr sz="1700" b="1">
                <a:solidFill>
                  <a:srgbClr val="241C3B"/>
                </a:solidFill>
                <a:latin typeface="Nunito Sans"/>
              </a:rPr>
              <a:t>Founder insight</a:t>
            </a:r>
          </a:p>
          <a:p>
            <a:pPr algn="l">
              <a:lnSpc>
                <a:spcPct val="130000"/>
              </a:lnSpc>
              <a:spcBef>
                <a:spcPts val="800"/>
              </a:spcBef>
            </a:pPr>
            <a:r>
              <a:rPr sz="1400" b="0">
                <a:solidFill>
                  <a:srgbClr val="6F6789"/>
                </a:solidFill>
                <a:latin typeface="Nunito Sans"/>
              </a:rPr>
              <a:t>The intersection of professional knowledge, lived experience and product development.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66928"/>
            <a:ext cx="7315200" cy="365760"/>
          </a:xfrm>
          <a:prstGeom prst="rect">
            <a:avLst/>
          </a:prstGeom>
          <a:noFill/>
        </p:spPr>
        <p:txBody>
          <a:bodyPr wrap="square" anchor="t" lIns="0" rIns="0" tIns="0" bIns="0">
            <a:spAutoFit/>
          </a:bodyPr>
          <a:lstStyle/>
          <a:p>
            <a:pPr algn="l">
              <a:lnSpc>
                <a:spcPct val="115000"/>
              </a:lnSpc>
              <a:spcBef>
                <a:spcPts val="0"/>
              </a:spcBef>
            </a:pPr>
            <a:r>
              <a:rPr sz="1400" b="1">
                <a:solidFill>
                  <a:srgbClr val="7C5CE0"/>
                </a:solidFill>
                <a:latin typeface="Nunito Sans"/>
              </a:rPr>
              <a:t>FUNDING</a:t>
            </a:r>
          </a:p>
        </p:txBody>
      </p:sp>
      <p:sp>
        <p:nvSpPr>
          <p:cNvPr id="4" name="TextBox 3"/>
          <p:cNvSpPr txBox="1"/>
          <p:nvPr/>
        </p:nvSpPr>
        <p:spPr>
          <a:xfrm>
            <a:off x="914400" y="960120"/>
            <a:ext cx="9418320" cy="914400"/>
          </a:xfrm>
          <a:prstGeom prst="rect">
            <a:avLst/>
          </a:prstGeom>
          <a:noFill/>
        </p:spPr>
        <p:txBody>
          <a:bodyPr wrap="square" anchor="t" lIns="0" rIns="0" tIns="0" bIns="0">
            <a:spAutoFit/>
          </a:bodyPr>
          <a:lstStyle/>
          <a:p>
            <a:pPr algn="l">
              <a:lnSpc>
                <a:spcPct val="115000"/>
              </a:lnSpc>
              <a:spcBef>
                <a:spcPts val="0"/>
              </a:spcBef>
            </a:pPr>
            <a:r>
              <a:rPr sz="4000" b="1">
                <a:solidFill>
                  <a:srgbClr val="241C3B"/>
                </a:solidFill>
                <a:latin typeface="Nunito Sans"/>
              </a:rPr>
              <a:t>Raising €250K · 18-month runway</a:t>
            </a:r>
          </a:p>
        </p:txBody>
      </p:sp>
      <p:sp>
        <p:nvSpPr>
          <p:cNvPr id="5" name="Rounded Rectangle 4"/>
          <p:cNvSpPr/>
          <p:nvPr/>
        </p:nvSpPr>
        <p:spPr>
          <a:xfrm>
            <a:off x="914400" y="2148840"/>
            <a:ext cx="2977896"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2423160"/>
            <a:ext cx="2392680" cy="146304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Product &amp; technology</a:t>
            </a:r>
          </a:p>
          <a:p>
            <a:pPr algn="l">
              <a:lnSpc>
                <a:spcPct val="130000"/>
              </a:lnSpc>
              <a:spcBef>
                <a:spcPts val="800"/>
              </a:spcBef>
            </a:pPr>
            <a:r>
              <a:rPr sz="1300" b="0">
                <a:solidFill>
                  <a:srgbClr val="6F6789"/>
                </a:solidFill>
                <a:latin typeface="Nunito Sans"/>
              </a:rPr>
              <a:t>iOS / Android · technical stabilization · backend &amp; scalability · security / GDPR</a:t>
            </a:r>
          </a:p>
        </p:txBody>
      </p:sp>
      <p:sp>
        <p:nvSpPr>
          <p:cNvPr id="7" name="Rounded Rectangle 6"/>
          <p:cNvSpPr/>
          <p:nvPr/>
        </p:nvSpPr>
        <p:spPr>
          <a:xfrm>
            <a:off x="4148328" y="2148840"/>
            <a:ext cx="2977896"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0936" y="2423160"/>
            <a:ext cx="2392680" cy="146304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Validation</a:t>
            </a:r>
          </a:p>
          <a:p>
            <a:pPr algn="l">
              <a:lnSpc>
                <a:spcPct val="130000"/>
              </a:lnSpc>
              <a:spcBef>
                <a:spcPts val="800"/>
              </a:spcBef>
            </a:pPr>
            <a:r>
              <a:rPr sz="1300" b="0">
                <a:solidFill>
                  <a:srgbClr val="6F6789"/>
                </a:solidFill>
                <a:latin typeface="Nunito Sans"/>
              </a:rPr>
              <a:t>Structured pilots · analytics · retention measurement · proof of value</a:t>
            </a:r>
          </a:p>
        </p:txBody>
      </p:sp>
      <p:sp>
        <p:nvSpPr>
          <p:cNvPr id="9" name="Rounded Rectangle 8"/>
          <p:cNvSpPr/>
          <p:nvPr/>
        </p:nvSpPr>
        <p:spPr>
          <a:xfrm>
            <a:off x="7382256" y="2148840"/>
            <a:ext cx="2977896"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4864" y="2423160"/>
            <a:ext cx="2392680" cy="1463040"/>
          </a:xfrm>
          <a:prstGeom prst="rect">
            <a:avLst/>
          </a:prstGeom>
          <a:noFill/>
        </p:spPr>
        <p:txBody>
          <a:bodyPr wrap="square" anchor="t" lIns="0" rIns="0" tIns="0" bIns="0">
            <a:spAutoFit/>
          </a:bodyPr>
          <a:lstStyle/>
          <a:p>
            <a:pPr algn="l">
              <a:lnSpc>
                <a:spcPct val="115000"/>
              </a:lnSpc>
              <a:spcBef>
                <a:spcPts val="0"/>
              </a:spcBef>
            </a:pPr>
            <a:r>
              <a:rPr sz="1800" b="1">
                <a:solidFill>
                  <a:srgbClr val="241C3B"/>
                </a:solidFill>
                <a:latin typeface="Nunito Sans"/>
              </a:rPr>
              <a:t>Commercialization</a:t>
            </a:r>
          </a:p>
          <a:p>
            <a:pPr algn="l">
              <a:lnSpc>
                <a:spcPct val="130000"/>
              </a:lnSpc>
              <a:spcBef>
                <a:spcPts val="800"/>
              </a:spcBef>
            </a:pPr>
            <a:r>
              <a:rPr sz="1300" b="0">
                <a:solidFill>
                  <a:srgbClr val="6F6789"/>
                </a:solidFill>
                <a:latin typeface="Nunito Sans"/>
              </a:rPr>
              <a:t>Onboarding · launch preparation · initial B2C / B2B / B2G development</a:t>
            </a:r>
          </a:p>
        </p:txBody>
      </p:sp>
      <p:sp>
        <p:nvSpPr>
          <p:cNvPr id="11" name="Rounded Rectangle 10"/>
          <p:cNvSpPr/>
          <p:nvPr/>
        </p:nvSpPr>
        <p:spPr>
          <a:xfrm>
            <a:off x="914400" y="4251960"/>
            <a:ext cx="9445752" cy="1508760"/>
          </a:xfrm>
          <a:prstGeom prst="roundRect">
            <a:avLst>
              <a:gd name="adj" fmla="val 6000"/>
            </a:avLst>
          </a:prstGeom>
          <a:solidFill>
            <a:srgbClr val="EDE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480560"/>
            <a:ext cx="8869680" cy="1188720"/>
          </a:xfrm>
          <a:prstGeom prst="rect">
            <a:avLst/>
          </a:prstGeom>
          <a:noFill/>
        </p:spPr>
        <p:txBody>
          <a:bodyPr wrap="square" anchor="t" lIns="0" rIns="0" tIns="0" bIns="0">
            <a:spAutoFit/>
          </a:bodyPr>
          <a:lstStyle/>
          <a:p>
            <a:pPr algn="l">
              <a:lnSpc>
                <a:spcPct val="115000"/>
              </a:lnSpc>
              <a:spcBef>
                <a:spcPts val="0"/>
              </a:spcBef>
            </a:pPr>
            <a:r>
              <a:rPr sz="1300" b="1">
                <a:solidFill>
                  <a:srgbClr val="7C5CE0"/>
                </a:solidFill>
                <a:latin typeface="Nunito Sans"/>
              </a:rPr>
              <a:t>MILESTONES BY END OF RUNWAY</a:t>
            </a:r>
          </a:p>
          <a:p>
            <a:pPr algn="l">
              <a:lnSpc>
                <a:spcPct val="135000"/>
              </a:lnSpc>
              <a:spcBef>
                <a:spcPts val="800"/>
              </a:spcBef>
            </a:pPr>
            <a:r>
              <a:rPr sz="1400" b="0">
                <a:solidFill>
                  <a:srgbClr val="241C3B"/>
                </a:solidFill>
                <a:latin typeface="Nunito Sans"/>
              </a:rPr>
              <a:t>Validated product-market fit signals · measured user outcomes · validated retention and recurring use · completed pilot evidence · mobile product ready for broader launch · clearer commercial model and a first scalable customer channel.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7C5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138160" y="-1280160"/>
            <a:ext cx="4937760" cy="4937760"/>
          </a:xfrm>
          <a:prstGeom prst="roundRect">
            <a:avLst>
              <a:gd name="adj" fmla="val 50000"/>
            </a:avLst>
          </a:prstGeom>
          <a:solidFill>
            <a:srgbClr val="A98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7863840" cy="2011680"/>
          </a:xfrm>
          <a:prstGeom prst="rect">
            <a:avLst/>
          </a:prstGeom>
          <a:noFill/>
        </p:spPr>
        <p:txBody>
          <a:bodyPr wrap="square" anchor="t" lIns="0" rIns="0" tIns="0" bIns="0">
            <a:spAutoFit/>
          </a:bodyPr>
          <a:lstStyle/>
          <a:p>
            <a:pPr algn="l">
              <a:lnSpc>
                <a:spcPct val="105000"/>
              </a:lnSpc>
              <a:spcBef>
                <a:spcPts val="0"/>
              </a:spcBef>
            </a:pPr>
            <a:r>
              <a:rPr sz="4600" b="1">
                <a:solidFill>
                  <a:srgbClr val="FFFFFF"/>
                </a:solidFill>
                <a:latin typeface="Nunito Sans"/>
              </a:rPr>
              <a:t>Everyday life shouldn't
require you to be
someone else.</a:t>
            </a:r>
          </a:p>
        </p:txBody>
      </p:sp>
      <p:sp>
        <p:nvSpPr>
          <p:cNvPr id="5" name="TextBox 4"/>
          <p:cNvSpPr txBox="1"/>
          <p:nvPr/>
        </p:nvSpPr>
        <p:spPr>
          <a:xfrm>
            <a:off x="914400" y="3977639"/>
            <a:ext cx="7315200" cy="1188720"/>
          </a:xfrm>
          <a:prstGeom prst="rect">
            <a:avLst/>
          </a:prstGeom>
          <a:noFill/>
        </p:spPr>
        <p:txBody>
          <a:bodyPr wrap="square" anchor="t" lIns="0" rIns="0" tIns="0" bIns="0">
            <a:spAutoFit/>
          </a:bodyPr>
          <a:lstStyle/>
          <a:p>
            <a:pPr algn="l">
              <a:lnSpc>
                <a:spcPct val="130000"/>
              </a:lnSpc>
              <a:spcBef>
                <a:spcPts val="0"/>
              </a:spcBef>
            </a:pPr>
            <a:r>
              <a:rPr sz="1800" b="0">
                <a:solidFill>
                  <a:srgbClr val="E9E1FC"/>
                </a:solidFill>
                <a:latin typeface="Nunito Sans"/>
              </a:rPr>
              <a:t>MyFlove adapts the system to the person — not the other way around.</a:t>
            </a:r>
          </a:p>
          <a:p>
            <a:pPr algn="l">
              <a:lnSpc>
                <a:spcPct val="115000"/>
              </a:lnSpc>
              <a:spcBef>
                <a:spcPts val="1200"/>
              </a:spcBef>
            </a:pPr>
            <a:r>
              <a:rPr sz="2000" b="1">
                <a:solidFill>
                  <a:srgbClr val="FFFFFF"/>
                </a:solidFill>
                <a:latin typeface="Nunito Sans"/>
              </a:rPr>
              <a:t>Plan for your capacity. Find your next possible step.</a:t>
            </a:r>
          </a:p>
        </p:txBody>
      </p:sp>
      <p:sp>
        <p:nvSpPr>
          <p:cNvPr id="6" name="TextBox 5"/>
          <p:cNvSpPr txBox="1"/>
          <p:nvPr/>
        </p:nvSpPr>
        <p:spPr>
          <a:xfrm>
            <a:off x="914400" y="5486400"/>
            <a:ext cx="7315200" cy="365760"/>
          </a:xfrm>
          <a:prstGeom prst="rect">
            <a:avLst/>
          </a:prstGeom>
          <a:noFill/>
        </p:spPr>
        <p:txBody>
          <a:bodyPr wrap="square" anchor="t" lIns="0" rIns="0" tIns="0" bIns="0">
            <a:spAutoFit/>
          </a:bodyPr>
          <a:lstStyle/>
          <a:p>
            <a:pPr algn="l">
              <a:lnSpc>
                <a:spcPct val="115000"/>
              </a:lnSpc>
              <a:spcBef>
                <a:spcPts val="0"/>
              </a:spcBef>
            </a:pPr>
            <a:r>
              <a:rPr sz="1400" b="1">
                <a:solidFill>
                  <a:srgbClr val="E9E1FC"/>
                </a:solidFill>
                <a:latin typeface="Nunito Sans"/>
              </a:rPr>
              <a:t>MyFlove · myflove.lovable.app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80060"/>
            <a:ext cx="10728960" cy="1371600"/>
          </a:xfrm>
          <a:prstGeom prst="rect">
            <a:avLst/>
          </a:prstGeom>
          <a:noFill/>
        </p:spPr>
        <p:txBody>
          <a:bodyPr wrap="square">
            <a:spAutoFit/>
          </a:bodyPr>
          <a:lstStyle/>
          <a:p>
            <a:r>
              <a:rPr sz="4000" b="1">
                <a:solidFill>
                  <a:srgbClr val="3A2D50"/>
                </a:solidFill>
                <a:latin typeface="Calibri"/>
              </a:rPr>
              <a:t>Live product demo — 20 seconds</a:t>
            </a:r>
          </a:p>
          <a:p>
            <a:r>
              <a:rPr sz="2000">
                <a:solidFill>
                  <a:srgbClr val="695C82"/>
                </a:solidFill>
                <a:latin typeface="Calibri"/>
              </a:rPr>
              <a:t>QuickFlow  →  Flow  →  My Day. Real screens from the live app.</a:t>
            </a:r>
          </a:p>
        </p:txBody>
      </p:sp>
      <p:pic>
        <p:nvPicPr>
          <p:cNvPr id="4" name="Picture 3" descr="myflove-demo-quickflow.jpg"/>
          <p:cNvPicPr>
            <a:picLocks noChangeAspect="1"/>
          </p:cNvPicPr>
          <p:nvPr/>
        </p:nvPicPr>
        <p:blipFill>
          <a:blip r:embed="rId2"/>
          <a:stretch>
            <a:fillRect/>
          </a:stretch>
        </p:blipFill>
        <p:spPr>
          <a:xfrm>
            <a:off x="731520" y="2331720"/>
            <a:ext cx="3413760" cy="1920240"/>
          </a:xfrm>
          <a:prstGeom prst="rect">
            <a:avLst/>
          </a:prstGeom>
        </p:spPr>
      </p:pic>
      <p:pic>
        <p:nvPicPr>
          <p:cNvPr id="5" name="Picture 4" descr="myflove-demo-flow.jpg"/>
          <p:cNvPicPr>
            <a:picLocks noChangeAspect="1"/>
          </p:cNvPicPr>
          <p:nvPr/>
        </p:nvPicPr>
        <p:blipFill>
          <a:blip r:embed="rId3"/>
          <a:stretch>
            <a:fillRect/>
          </a:stretch>
        </p:blipFill>
        <p:spPr>
          <a:xfrm>
            <a:off x="4389120" y="2331720"/>
            <a:ext cx="3413760" cy="1920240"/>
          </a:xfrm>
          <a:prstGeom prst="rect">
            <a:avLst/>
          </a:prstGeom>
        </p:spPr>
      </p:pic>
      <p:pic>
        <p:nvPicPr>
          <p:cNvPr id="6" name="Picture 5" descr="myflove-demo-minday.jpg"/>
          <p:cNvPicPr>
            <a:picLocks noChangeAspect="1"/>
          </p:cNvPicPr>
          <p:nvPr/>
        </p:nvPicPr>
        <p:blipFill>
          <a:blip r:embed="rId4"/>
          <a:stretch>
            <a:fillRect/>
          </a:stretch>
        </p:blipFill>
        <p:spPr>
          <a:xfrm>
            <a:off x="8046720" y="2331720"/>
            <a:ext cx="3413760" cy="1920240"/>
          </a:xfrm>
          <a:prstGeom prst="rect">
            <a:avLst/>
          </a:prstGeom>
        </p:spPr>
      </p:pic>
      <p:sp>
        <p:nvSpPr>
          <p:cNvPr id="7" name="TextBox 6"/>
          <p:cNvSpPr txBox="1"/>
          <p:nvPr/>
        </p:nvSpPr>
        <p:spPr>
          <a:xfrm>
            <a:off x="731520" y="4457700"/>
            <a:ext cx="10728960" cy="1371600"/>
          </a:xfrm>
          <a:prstGeom prst="rect">
            <a:avLst/>
          </a:prstGeom>
          <a:noFill/>
        </p:spPr>
        <p:txBody>
          <a:bodyPr wrap="square">
            <a:spAutoFit/>
          </a:bodyPr>
          <a:lstStyle/>
          <a:p>
            <a:r>
              <a:rPr sz="2600" b="1">
                <a:solidFill>
                  <a:srgbClr val="6E5AA6"/>
                </a:solidFill>
                <a:latin typeface="Calibri"/>
              </a:rPr>
              <a:t>“The goal isn’t to get more done. It’s to make the day more doable.”</a:t>
            </a:r>
          </a:p>
          <a:p>
            <a:r>
              <a:rPr sz="1600">
                <a:solidFill>
                  <a:srgbClr val="695C82"/>
                </a:solidFill>
                <a:latin typeface="Calibri"/>
              </a:rPr>
              <a:t>Video file: myflove-demo-20s.mp4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