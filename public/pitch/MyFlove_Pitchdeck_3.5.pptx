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16"/>
    <p:sldId id="267" r:id="rId18"/>
    <p:sldId id="260" r:id="rId6"/>
    <p:sldId id="261" r:id="rId7"/>
    <p:sldId id="266" r:id="rId17"/>
    <p:sldId id="262" r:id="rId8"/>
    <p:sldId id="263" r:id="rId9"/>
    <p:sldId id="264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8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MyFlove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lugnare sätt att få vardagen att hålla ihop.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2026 · version 3.5 · myflove.lovable.app</a:t>
            </a:r>
            <a:endParaRPr lang="en-US" sz="1300" dirty="0"/>
          </a:p>
        </p:txBody>
      </p:sp>
      <p:pic>
        <p:nvPicPr>
          <p:cNvPr id="7" name="Picture 6" descr="flow-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000" y="1500000"/>
            <a:ext cx="3700658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Verktygen är byggda för kalendrar – inte för människor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Kalendern säger vad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…men inte om du orkar just nu.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Listan växer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 lägre energi, desto längre lista.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Splittrade appar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ser hela livet på samma ställe.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Planera efter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C5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 bara efter tid.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är byggt utifrån NPF-vardag: låg tröskel, inget skäll och alltid en väg vidare – även dagar då orken saknas.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Ett lugnt system – med Flow som röst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Mitt batteri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 loggas på en sekund och styr dagens förslag.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Fånga allt i en ruta – appen sorterar till rätt plats.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Följeslagaren som visar en sak i taget – i hela appen.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5CE0"/>
                </a:solidFill>
                <a:latin typeface="Calibri"/>
              </a:rPr>
              <a:t>FLOW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20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41C3B"/>
                </a:solidFill>
                <a:latin typeface="Trebuchet MS"/>
              </a:rPr>
              <a:t>Följeslagaren som gör appen mänsklig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0000"/>
            <a:ext cx="4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6789"/>
                </a:solidFill>
                <a:latin typeface="Calibri"/>
              </a:rPr>
              <a:t>Flow är MyFloves röst och ansikte – en levande figur som andas, blinkar och reagerar på energi, väder, medicin och dagens nästa steg.</a:t>
            </a:r>
          </a:p>
        </p:txBody>
      </p:sp>
      <p:pic>
        <p:nvPicPr>
          <p:cNvPr id="5" name="Picture 4" descr="flow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50000"/>
            <a:ext cx="3626645" cy="245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128600"/>
            <a:ext cx="411480" cy="109728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12 lägen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Regn, sömn, paus, studier, jobb, städ, mat, resa, låg/hög energi, klart, återhämtning.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3128600"/>
            <a:ext cx="411480" cy="109728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I hela appen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Stor på Hem och Min dag, liten följeslagare i övriga vyer – och i Flow-previewen.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128600"/>
            <a:ext cx="411480" cy="109728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Kännbar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Haptisk återkoppling vid byte och avklarat – tyst läge och reducerad rörelse respekteras.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FUNKAR DET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daglig loop som lär sig dig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Fånga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fritt i QuickFlow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3464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3464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Sortera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placerar rätt: kalender, inköp, studier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Anpassa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4632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Dagen planeras efter batteriet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Lära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Friktion och energi ger bättre förslag – Flow säger det som gäller nu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NU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Diagnoser ökar. Stödet gör det inte.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gör det för första gången möjligt att ge personligt, tålmodigt vardagsstöd till en kostnad som skalar – dygnet runt, utan väntetid.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Familj &amp; hushåll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546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 &amp; studier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Arbetsliv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65960" y="3931920"/>
            <a:ext cx="2743200" cy="2743200"/>
          </a:xfrm>
          <a:prstGeom prst="ellipse">
            <a:avLst/>
          </a:prstGeom>
          <a:solidFill>
            <a:srgbClr val="F2A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spc="600">
                <a:solidFill>
                  <a:srgbClr val="7C5CE0"/>
                </a:solidFill>
                <a:latin typeface="Calibri"/>
              </a:rPr>
              <a:t>MARKNADEN ·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86384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241C3B"/>
                </a:solidFill>
                <a:latin typeface="Trebuchet MS"/>
              </a:rPr>
              <a:t>En stor, växande målgrupp – och en marknad som skalar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74520"/>
            <a:ext cx="411480" cy="91440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140M+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Calibri"/>
              </a:rPr>
              <a:t>vuxna globalt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Vuxna med kvarstående ADHD (2,58 % av vuxna, ca 139,8 miljoner). Global systematisk översikt.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20"/>
            <a:ext cx="411480" cy="91440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~3 %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A98CF0"/>
                </a:solidFill>
                <a:latin typeface="Calibri"/>
              </a:rPr>
              <a:t>av vuxna i Sverige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Socialstyrelsen anger att cirka 3 % av vuxna i Sverige har ADHD.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74520"/>
            <a:ext cx="411480" cy="91440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$3,06B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6F6789"/>
                </a:solidFill>
                <a:latin typeface="Calibri"/>
              </a:rPr>
              <a:t>digital hälsa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Uppskattad global digital-health-marknad för neurodivergenta användare 2025.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108960"/>
            <a:ext cx="411480" cy="91440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$1,9B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Calibri"/>
              </a:rPr>
              <a:t>ADHD-appar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Uppskattad global marknad för ADHD-appar 2025.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3108960"/>
            <a:ext cx="411480" cy="91440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$6,7B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A98CF0"/>
                </a:solidFill>
                <a:latin typeface="Calibri"/>
              </a:rPr>
              <a:t>ADHD-appar 2033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Prognostiserad global marknad för ADHD-appar 2033.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3640" y="3108960"/>
            <a:ext cx="411480" cy="91440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17,5 %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6F6789"/>
                </a:solidFill>
                <a:latin typeface="Calibri"/>
              </a:rPr>
              <a:t>CAGR 2025–2033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Prognostiserad årlig tillväxt för ADHD-appmarknaden.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97680"/>
            <a:ext cx="786384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F6789"/>
                </a:solidFill>
                <a:latin typeface="Calibri"/>
              </a:rPr>
              <a:t>Uppskattningar och prognoser – externa marknadssiffror, inte MyFloves egna traction-siffror.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480560"/>
            <a:ext cx="786384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F6789"/>
                </a:solidFill>
                <a:latin typeface="Calibri"/>
              </a:rPr>
              <a:t>Källor: Global systematisk översikt (PubMed, 2021) · Socialstyrelsen · Grand View Research, ADHD Apps Market · aktuell marknadsrapport för digital hälsa för neurodivergenta användare.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786384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Trebuchet MS"/>
              </a:rPr>
              <a:t>MyFlove starts with ADHD — but is built for the complexity of everyday life.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VI ÄR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Byggd, publicerad och testad i skarp vardag (v3.5)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 + mobil (PWA) med Flow 2.0 i hela appen, i daglig användning.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Testgrupp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[ANTAL TESTARE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Nyckeltal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[RETENTION / DAU – fyll i]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Platshållare inom [ ] behöver riktiga siffror innan pitchen.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AFFÄRSMODELL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 att börja, betalt när livet växer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Batteri, QuickFlow och Min dag.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AI-planering, rutiner, studier och jobb. [PRIS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Hushåll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Delad kalender och barnscheman. [PRIS – fyll i]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14300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8288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Vardagen ska inte kräva att du är någon annan.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 ·  myflove.lovable.app  ·  [KONTAKT – fyll i]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5CE0"/>
                </a:solidFill>
                <a:latin typeface="Calibri"/>
              </a:rPr>
              <a:t>FLOW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20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41C3B"/>
                </a:solidFill>
                <a:latin typeface="Trebuchet MS"/>
              </a:rPr>
              <a:t>Han andas, blinkar och följer samtalet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0000"/>
            <a:ext cx="4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6789"/>
                </a:solidFill>
                <a:latin typeface="Calibri"/>
              </a:rPr>
              <a:t>Flow känns som en liten levande kompis: mjuk andning, slumpade blinkningar, blick som följer dig och ett hjärta som glöder lugnt.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128600"/>
            <a:ext cx="411480" cy="109728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Levande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Andning, blinkningar, blick och hjärtglöd – allt stängs av vid reducerad rörelse.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3128600"/>
            <a:ext cx="411480" cy="109728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Följer chatten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Lyssnar när du skriver, tänker djupt under svaret och andas ut när det är klart.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128600"/>
            <a:ext cx="411480" cy="109728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Din nivå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Tyst, diskret eller aktiv – hjälpnivå och tysta timmar sparas per användare.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50000"/>
            <a:ext cx="3626645" cy="24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2026-08-22T10:24:41Z</dcterms:created>
  <dcterms:modified xsi:type="dcterms:W3CDTF">2026-08-22T10:24:41Z</dcterms:modified>
</cp:coreProperties>
</file>