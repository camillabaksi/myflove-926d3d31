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74" r:id="rId25"/>
    <p:sldId id="275" r:id="rId26"/>
    <p:sldId id="276" r:id="rId27"/>
    <p:sldId id="277" r:id="rId28"/>
    <p:sldId id="278" r:id="rId29"/>
    <p:sldId id="262" r:id="rId13"/>
    <p:sldId id="263" r:id="rId14"/>
    <p:sldId id="264" r:id="rId15"/>
    <p:sldId id="265" r:id="rId16"/>
    <p:sldId id="266" r:id="rId17"/>
    <p:sldId id="267" r:id="rId18"/>
    <p:sldId id="268" r:id="rId19"/>
    <p:sldId id="269" r:id="rId20"/>
    <p:sldId id="270" r:id="rId21"/>
    <p:sldId id="271" r:id="rId22"/>
    <p:sldId id="272" r:id="rId23"/>
    <p:sldId id="273" r:id="rId24"/>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1C3B"/>
        </a:solidFill>
        <a:effectLst/>
      </p:bgPr>
    </p:bg>
    <p:spTree>
      <p:nvGrpSpPr>
        <p:cNvPr id="1" name=""/>
        <p:cNvGrpSpPr/>
        <p:nvPr/>
      </p:nvGrpSpPr>
      <p:grpSpPr/>
      <p:sp>
        <p:nvSpPr>
          <p:cNvPr id="2" name="Rounded Rectangle 1"/>
          <p:cNvSpPr/>
          <p:nvPr/>
        </p:nvSpPr>
        <p:spPr>
          <a:xfrm>
            <a:off x="11338560" y="6035040"/>
            <a:ext cx="1463040" cy="1463040"/>
          </a:xfrm>
          <a:prstGeom prst="roundRect">
            <a:avLst/>
          </a:prstGeom>
          <a:solidFill>
            <a:srgbClr val="3A2C5C"/>
          </a:solidFill>
          <a:ln>
            <a:solidFill>
              <a:srgbClr val="3A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8823960" y="914400"/>
            <a:ext cx="2194560" cy="1482547"/>
          </a:xfrm>
          <a:prstGeom prst="rect">
            <a:avLst/>
          </a:prstGeom>
        </p:spPr>
      </p:pic>
      <p:sp>
        <p:nvSpPr>
          <p:cNvPr id="4" name="TextBox 3"/>
          <p:cNvSpPr txBox="1"/>
          <p:nvPr/>
        </p:nvSpPr>
        <p:spPr>
          <a:xfrm>
            <a:off x="731520" y="1097280"/>
            <a:ext cx="7680960" cy="381000"/>
          </a:xfrm>
          <a:prstGeom prst="rect">
            <a:avLst/>
          </a:prstGeom>
          <a:noFill/>
        </p:spPr>
        <p:txBody>
          <a:bodyPr wrap="square" lIns="0" rIns="0" tIns="0" bIns="0">
            <a:spAutoFit/>
          </a:bodyPr>
          <a:lstStyle/>
          <a:p>
            <a:pPr algn="l"/>
            <a:r>
              <a:rPr sz="2000" b="1" i="0">
                <a:solidFill>
                  <a:srgbClr val="A98CF0"/>
                </a:solidFill>
                <a:latin typeface="Nunito Sans"/>
              </a:rPr>
              <a:t>MYFLOVE</a:t>
            </a:r>
          </a:p>
        </p:txBody>
      </p:sp>
      <p:sp>
        <p:nvSpPr>
          <p:cNvPr id="5" name="TextBox 4"/>
          <p:cNvSpPr txBox="1"/>
          <p:nvPr/>
        </p:nvSpPr>
        <p:spPr>
          <a:xfrm>
            <a:off x="731520" y="1828800"/>
            <a:ext cx="7680960" cy="723900"/>
          </a:xfrm>
          <a:prstGeom prst="rect">
            <a:avLst/>
          </a:prstGeom>
          <a:noFill/>
        </p:spPr>
        <p:txBody>
          <a:bodyPr wrap="square" lIns="0" rIns="0" tIns="0" bIns="0">
            <a:spAutoFit/>
          </a:bodyPr>
          <a:lstStyle/>
          <a:p>
            <a:pPr algn="l">
              <a:lnSpc>
                <a:spcPct val="110000"/>
              </a:lnSpc>
            </a:pPr>
            <a:r>
              <a:rPr sz="3800" b="1" i="0">
                <a:solidFill>
                  <a:srgbClr val="FFFFFF"/>
                </a:solidFill>
                <a:latin typeface="Nunito Sans"/>
              </a:rPr>
              <a:t>Din dag,</a:t>
            </a:r>
          </a:p>
          <a:p>
            <a:pPr algn="l">
              <a:lnSpc>
                <a:spcPct val="110000"/>
              </a:lnSpc>
            </a:pPr>
            <a:r>
              <a:rPr sz="3800" b="1" i="0">
                <a:solidFill>
                  <a:srgbClr val="FFFFFF"/>
                </a:solidFill>
                <a:latin typeface="Nunito Sans"/>
              </a:rPr>
              <a:t>i din takt.</a:t>
            </a:r>
          </a:p>
        </p:txBody>
      </p:sp>
      <p:sp>
        <p:nvSpPr>
          <p:cNvPr id="6" name="TextBox 5"/>
          <p:cNvSpPr txBox="1"/>
          <p:nvPr/>
        </p:nvSpPr>
        <p:spPr>
          <a:xfrm>
            <a:off x="731520" y="3977639"/>
            <a:ext cx="7132320" cy="323850"/>
          </a:xfrm>
          <a:prstGeom prst="rect">
            <a:avLst/>
          </a:prstGeom>
          <a:noFill/>
        </p:spPr>
        <p:txBody>
          <a:bodyPr wrap="square" lIns="0" rIns="0" tIns="0" bIns="0">
            <a:spAutoFit/>
          </a:bodyPr>
          <a:lstStyle/>
          <a:p>
            <a:pPr algn="l">
              <a:lnSpc>
                <a:spcPct val="135000"/>
              </a:lnSpc>
            </a:pPr>
            <a:r>
              <a:rPr sz="1700" b="0" i="0">
                <a:solidFill>
                  <a:srgbClr val="A98CF0"/>
                </a:solidFill>
                <a:latin typeface="Nunito Sans"/>
              </a:rPr>
              <a:t>En guidad dagsresa i tre steg.</a:t>
            </a:r>
          </a:p>
          <a:p>
            <a:pPr algn="l">
              <a:lnSpc>
                <a:spcPct val="135000"/>
              </a:lnSpc>
            </a:pPr>
            <a:r>
              <a:rPr sz="1700" b="0" i="0">
                <a:solidFill>
                  <a:srgbClr val="A98CF0"/>
                </a:solidFill>
                <a:latin typeface="Nunito Sans"/>
              </a:rPr>
              <a:t>Ett lugnt gränssnitt som andas.</a:t>
            </a:r>
          </a:p>
          <a:p>
            <a:pPr algn="l">
              <a:lnSpc>
                <a:spcPct val="135000"/>
              </a:lnSpc>
            </a:pPr>
            <a:r>
              <a:rPr sz="1700" b="0" i="0">
                <a:solidFill>
                  <a:srgbClr val="A98CF0"/>
                </a:solidFill>
                <a:latin typeface="Nunito Sans"/>
              </a:rPr>
              <a:t>Energi mätt mot verklig tid.</a:t>
            </a:r>
          </a:p>
        </p:txBody>
      </p:sp>
      <p:sp>
        <p:nvSpPr>
          <p:cNvPr id="7" name="TextBox 6"/>
          <p:cNvSpPr txBox="1"/>
          <p:nvPr/>
        </p:nvSpPr>
        <p:spPr>
          <a:xfrm>
            <a:off x="731520" y="5349240"/>
            <a:ext cx="7315200" cy="247650"/>
          </a:xfrm>
          <a:prstGeom prst="rect">
            <a:avLst/>
          </a:prstGeom>
          <a:noFill/>
        </p:spPr>
        <p:txBody>
          <a:bodyPr wrap="square" lIns="0" rIns="0" tIns="0" bIns="0">
            <a:spAutoFit/>
          </a:bodyPr>
          <a:lstStyle/>
          <a:p>
            <a:pPr algn="l"/>
            <a:r>
              <a:rPr sz="1300" b="0" i="0">
                <a:solidFill>
                  <a:srgbClr val="DBD3ED"/>
                </a:solidFill>
                <a:latin typeface="Nunito Sans"/>
              </a:rPr>
              <a:t>Pitch 2026 · version 4.2 · 2026-09-11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FÖRORD</a:t>
            </a:r>
          </a:p>
        </p:txBody>
      </p:sp>
      <p:sp>
        <p:nvSpPr>
          <p:cNvPr id="5" name="TextBox 4"/>
          <p:cNvSpPr txBox="1"/>
          <p:nvPr/>
        </p:nvSpPr>
        <p:spPr>
          <a:xfrm>
            <a:off x="731520" y="860000"/>
            <a:ext cx="10698480" cy="476250"/>
          </a:xfrm>
          <a:prstGeom prst="rect">
            <a:avLst/>
          </a:prstGeom>
          <a:noFill/>
        </p:spPr>
        <p:txBody>
          <a:bodyPr wrap="square" lIns="0" rIns="0" tIns="0" bIns="0">
            <a:spAutoFit/>
          </a:bodyPr>
          <a:lstStyle/>
          <a:p>
            <a:pPr algn="l"/>
            <a:r>
              <a:rPr sz="2500" b="1" i="0">
                <a:solidFill>
                  <a:srgbClr val="241C3B"/>
                </a:solidFill>
                <a:latin typeface="Nunito Sans"/>
              </a:rPr>
              <a:t>Varför jag bygger MyFlove</a:t>
            </a:r>
          </a:p>
        </p:txBody>
      </p:sp>
      <p:sp>
        <p:nvSpPr>
          <p:cNvPr id="6" name="Rounded Rectangle 5"/>
          <p:cNvSpPr/>
          <p:nvPr/>
        </p:nvSpPr>
        <p:spPr>
          <a:xfrm>
            <a:off x="731520" y="1440000"/>
            <a:ext cx="10698480" cy="425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20" y="1700000"/>
            <a:ext cx="10058480" cy="228600"/>
          </a:xfrm>
          <a:prstGeom prst="rect">
            <a:avLst/>
          </a:prstGeom>
          <a:noFill/>
        </p:spPr>
        <p:txBody>
          <a:bodyPr wrap="square" lIns="0" rIns="0" tIns="0" bIns="0">
            <a:spAutoFit/>
          </a:bodyPr>
          <a:lstStyle/>
          <a:p>
            <a:pPr algn="l">
              <a:lnSpc>
                <a:spcPct val="132000"/>
              </a:lnSpc>
              <a:spcAft>
                <a:spcPts val="900"/>
              </a:spcAft>
            </a:pPr>
            <a:r>
              <a:rPr sz="1200" b="0" i="1">
                <a:solidFill>
                  <a:srgbClr val="6F6789"/>
                </a:solidFill>
                <a:latin typeface="Nunito Sans"/>
              </a:rPr>
              <a:t>”MyFlove började inte med en idé om att bygga ännu en app. Det började med en frustration och en fråga: varför är det så svårt att få vardagen att fungera, även när man vet vad man behöver göra?”</a:t>
            </a:r>
          </a:p>
          <a:p>
            <a:pPr algn="l">
              <a:lnSpc>
                <a:spcPct val="132000"/>
              </a:lnSpc>
              <a:spcAft>
                <a:spcPts val="900"/>
              </a:spcAft>
            </a:pPr>
            <a:r>
              <a:rPr sz="1200" b="0" i="1">
                <a:solidFill>
                  <a:srgbClr val="6F6789"/>
                </a:solidFill>
                <a:latin typeface="Nunito Sans"/>
              </a:rPr>
              <a:t>”Jag är utbildad humanistisk socialpedagog och har vidareutbildat mig inom NPF, pedagogik, problematisk skolfrånvaro samt professionellt bemötande vid trauma och svåra händelser. Genom mina yrkesroller som ungdomscoach, boendestödjare och barnskötare har jag mött människor ur flera olika perspektiv och sett hur behovet av rätt stöd kan se väldigt olika ut.”</a:t>
            </a:r>
          </a:p>
          <a:p>
            <a:pPr algn="l">
              <a:lnSpc>
                <a:spcPct val="132000"/>
              </a:lnSpc>
              <a:spcAft>
                <a:spcPts val="900"/>
              </a:spcAft>
            </a:pPr>
            <a:r>
              <a:rPr sz="1200" b="0" i="1">
                <a:solidFill>
                  <a:srgbClr val="6F6789"/>
                </a:solidFill>
                <a:latin typeface="Nunito Sans"/>
              </a:rPr>
              <a:t>”Samtidigt har jag själv ADHD och är förälder till en dotter med autism och ADHD. Det har gett mig en personlig förståelse för den mentala belastning som kan uppstå när vardagens krav, ansvar, planering och energi inte går ihop.”</a:t>
            </a:r>
          </a:p>
          <a:p>
            <a:pPr algn="l">
              <a:lnSpc>
                <a:spcPct val="132000"/>
              </a:lnSpc>
              <a:spcAft>
                <a:spcPts val="900"/>
              </a:spcAft>
            </a:pPr>
            <a:r>
              <a:rPr sz="1200" b="0" i="1">
                <a:solidFill>
                  <a:srgbClr val="6F6789"/>
                </a:solidFill>
                <a:latin typeface="Nunito Sans"/>
              </a:rPr>
              <a:t>”I mötet mellan min professionella kunskap och mina egna erfarenheter växte en tydlig bild fram: vi har många digitala verktyg som hjälper oss att hålla reda på vad vi ska göra, men betydligt färre som hjälper oss att förstå vad vi faktiskt har kapacitet att göra.”</a:t>
            </a:r>
          </a:p>
          <a:p>
            <a:pPr algn="l">
              <a:lnSpc>
                <a:spcPct val="132000"/>
              </a:lnSpc>
              <a:spcAft>
                <a:spcPts val="900"/>
              </a:spcAft>
            </a:pPr>
            <a:r>
              <a:rPr sz="1200" b="0" i="1">
                <a:solidFill>
                  <a:srgbClr val="6F6789"/>
                </a:solidFill>
                <a:latin typeface="Nunito Sans"/>
              </a:rPr>
              <a:t>”Det är där MyFlove börjar. Jag vill bygga ett stöd som inte kräver att människan anpassar sig efter systemet, utan ett system som anpassar sig efter människans förutsättningar – och hjälper till att hitta nästa steg.”</a:t>
            </a:r>
          </a:p>
        </p:txBody>
      </p:sp>
      <p:sp>
        <p:nvSpPr>
          <p:cNvPr id="8" name="TextBox 7"/>
          <p:cNvSpPr txBox="1"/>
          <p:nvPr/>
        </p:nvSpPr>
        <p:spPr>
          <a:xfrm>
            <a:off x="1051520" y="5150000"/>
            <a:ext cx="5000000" cy="266700"/>
          </a:xfrm>
          <a:prstGeom prst="rect">
            <a:avLst/>
          </a:prstGeom>
          <a:noFill/>
        </p:spPr>
        <p:txBody>
          <a:bodyPr wrap="square" lIns="0" rIns="0" tIns="0" bIns="0">
            <a:spAutoFit/>
          </a:bodyPr>
          <a:lstStyle/>
          <a:p>
            <a:pPr algn="l"/>
            <a:r>
              <a:rPr sz="1400" b="1" i="0">
                <a:solidFill>
                  <a:srgbClr val="241C3B"/>
                </a:solidFill>
                <a:latin typeface="Nunito Sans"/>
              </a:rPr>
              <a:t>Camilla Baksi</a:t>
            </a:r>
          </a:p>
        </p:txBody>
      </p:sp>
      <p:sp>
        <p:nvSpPr>
          <p:cNvPr id="9" name="TextBox 8"/>
          <p:cNvSpPr txBox="1"/>
          <p:nvPr/>
        </p:nvSpPr>
        <p:spPr>
          <a:xfrm>
            <a:off x="1051520" y="5420000"/>
            <a:ext cx="5000000" cy="228600"/>
          </a:xfrm>
          <a:prstGeom prst="rect">
            <a:avLst/>
          </a:prstGeom>
          <a:noFill/>
        </p:spPr>
        <p:txBody>
          <a:bodyPr wrap="square" lIns="0" rIns="0" tIns="0" bIns="0">
            <a:spAutoFit/>
          </a:bodyPr>
          <a:lstStyle/>
          <a:p>
            <a:pPr algn="l"/>
            <a:r>
              <a:rPr sz="1200" b="0" i="0">
                <a:solidFill>
                  <a:srgbClr val="7C5CE0"/>
                </a:solidFill>
                <a:latin typeface="Nunito Sans"/>
              </a:rPr>
              <a:t>Founder, MyFlove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PROBLEMET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Vardagen kräver mer än en lista</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När energi, tid och ansvar inte hänger ihop blir användaren själv systemet.</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Kalendern</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Visar när – inte om du orkar.</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Listan</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Växer när kapaciteten sjunker.</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Splittringen</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Tider, hälsa och vardag ligger isär.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INSIKTEN</a:t>
            </a:r>
          </a:p>
        </p:txBody>
      </p:sp>
      <p:sp>
        <p:nvSpPr>
          <p:cNvPr id="5" name="Rounded Rectangle 4"/>
          <p:cNvSpPr/>
          <p:nvPr/>
        </p:nvSpPr>
        <p:spPr>
          <a:xfrm>
            <a:off x="731520" y="1600000"/>
            <a:ext cx="10698480" cy="3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1520" y="1980000"/>
            <a:ext cx="9898480" cy="476250"/>
          </a:xfrm>
          <a:prstGeom prst="rect">
            <a:avLst/>
          </a:prstGeom>
          <a:noFill/>
        </p:spPr>
        <p:txBody>
          <a:bodyPr wrap="square" lIns="0" rIns="0" tIns="0" bIns="0">
            <a:spAutoFit/>
          </a:bodyPr>
          <a:lstStyle/>
          <a:p>
            <a:pPr algn="l">
              <a:lnSpc>
                <a:spcPct val="120000"/>
              </a:lnSpc>
            </a:pPr>
            <a:r>
              <a:rPr sz="2500" b="1" i="0">
                <a:solidFill>
                  <a:srgbClr val="241C3B"/>
                </a:solidFill>
                <a:latin typeface="Nunito Sans"/>
              </a:rPr>
              <a:t>Planera efter energi, inte bara efter tid.</a:t>
            </a:r>
          </a:p>
        </p:txBody>
      </p:sp>
      <p:sp>
        <p:nvSpPr>
          <p:cNvPr id="7" name="TextBox 6"/>
          <p:cNvSpPr txBox="1"/>
          <p:nvPr/>
        </p:nvSpPr>
        <p:spPr>
          <a:xfrm>
            <a:off x="1131520" y="2900000"/>
            <a:ext cx="9898480" cy="266700"/>
          </a:xfrm>
          <a:prstGeom prst="rect">
            <a:avLst/>
          </a:prstGeom>
          <a:noFill/>
        </p:spPr>
        <p:txBody>
          <a:bodyPr wrap="square" lIns="0" rIns="0" tIns="0" bIns="0">
            <a:spAutoFit/>
          </a:bodyPr>
          <a:lstStyle/>
          <a:p>
            <a:pPr algn="l">
              <a:lnSpc>
                <a:spcPct val="140000"/>
              </a:lnSpc>
              <a:spcAft>
                <a:spcPts val="1000"/>
              </a:spcAft>
            </a:pPr>
            <a:r>
              <a:rPr sz="1400" b="0" i="0">
                <a:solidFill>
                  <a:srgbClr val="6F6789"/>
                </a:solidFill>
                <a:latin typeface="Nunito Sans"/>
              </a:rPr>
              <a:t>Ett bra vardagsstöd hjälper dig att välja vad som är rimligt nu – utan att döma.</a:t>
            </a:r>
          </a:p>
          <a:p>
            <a:pPr algn="l">
              <a:lnSpc>
                <a:spcPct val="140000"/>
              </a:lnSpc>
              <a:spcAft>
                <a:spcPts val="1000"/>
              </a:spcAft>
            </a:pPr>
            <a:r>
              <a:rPr sz="1400" b="0" i="0">
                <a:solidFill>
                  <a:srgbClr val="6F6789"/>
                </a:solidFill>
                <a:latin typeface="Nunito Sans"/>
              </a:rPr>
              <a:t>MyFlove gör kapacitet synlig, samlar trådarna och ger en väg vidare.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LÖSNINGEN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Inte ännu en kalender eller att-göra-lista</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hjälper människor att förstå, prioritera och genomföra det de faktiskt har kapacitet att göra.</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behöver göras?</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Allt samlas på ett ställe.</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Hur mycket kapacitet finns?</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Energi och mående blir synligt.</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är rimligt just nu?</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Förslag anpassade efter dagen.</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är nästa steg?</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 sak i taget, utan press.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PRODUKTEN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Din dag, i din takt – tre steg på startsidan</a:t>
            </a:r>
          </a:p>
        </p:txBody>
      </p:sp>
      <p:sp>
        <p:nvSpPr>
          <p:cNvPr id="6" name="Rounded Rectangle 5"/>
          <p:cNvSpPr/>
          <p:nvPr/>
        </p:nvSpPr>
        <p:spPr>
          <a:xfrm>
            <a:off x="7315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1. Hur mår du?</a:t>
            </a:r>
          </a:p>
        </p:txBody>
      </p:sp>
      <p:sp>
        <p:nvSpPr>
          <p:cNvPr id="9" name="TextBox 8"/>
          <p:cNvSpPr txBox="1"/>
          <p:nvPr/>
        </p:nvSpPr>
        <p:spPr>
          <a:xfrm>
            <a:off x="8961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En check-in på ork och mående – två klick, inget formulär.</a:t>
            </a:r>
          </a:p>
        </p:txBody>
      </p:sp>
      <p:sp>
        <p:nvSpPr>
          <p:cNvPr id="10" name="Rounded Rectangle 9"/>
          <p:cNvSpPr/>
          <p:nvPr/>
        </p:nvSpPr>
        <p:spPr>
          <a:xfrm>
            <a:off x="43891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537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2. Vad händer?</a:t>
            </a:r>
          </a:p>
        </p:txBody>
      </p:sp>
      <p:sp>
        <p:nvSpPr>
          <p:cNvPr id="13" name="TextBox 12"/>
          <p:cNvSpPr txBox="1"/>
          <p:nvPr/>
        </p:nvSpPr>
        <p:spPr>
          <a:xfrm>
            <a:off x="45537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Dagens aktiviteter med start- och sluttid. Lägg till direkt i steget.</a:t>
            </a:r>
          </a:p>
        </p:txBody>
      </p:sp>
      <p:sp>
        <p:nvSpPr>
          <p:cNvPr id="14" name="Rounded Rectangle 13"/>
          <p:cNvSpPr/>
          <p:nvPr/>
        </p:nvSpPr>
        <p:spPr>
          <a:xfrm>
            <a:off x="80467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113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3. Behöver du planera om?</a:t>
            </a:r>
          </a:p>
        </p:txBody>
      </p:sp>
      <p:sp>
        <p:nvSpPr>
          <p:cNvPr id="17" name="TextBox 16"/>
          <p:cNvSpPr txBox="1"/>
          <p:nvPr/>
        </p:nvSpPr>
        <p:spPr>
          <a:xfrm>
            <a:off x="82113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Flytta, förenkla eller dela upp – med ett godkännande.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LUGNT GRÄNSSNITT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Designen sänker belastningen – inte bara innehållet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Vita kort med mjuka hörn på en pastellila bakgrund. Bakom korten pulserar ett andningsljus i takt med lugn andning: 4 sekunder in, 5 ut, 1 sekunds vila.</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Andningsljus</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Ett 10-sekunderslugn som guidar andningen utan att kräva något.</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Anpassar sig efter dagen</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Ljus dag: öppen lavendel. Full dag: dovare ton och långsammare takt.</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Enkelt läge</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Ett klick döljer allt utom kärnresan – för dagar med hög belastning.</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Fäll ihop allt</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Varje block kan minimeras och kommer ihåg sitt läge.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BATTERIET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enkel check-in – som mäts mot verkligheten</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Användaren fyller aldrig i komplexa mått. MyFlove jämför batteriet med faktiskt genomförda aktiviteter och faktisk tid.</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Orken</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mycket ork har du idag?” Fyra svar: Mycket · Okej · Lite · Nästan slut.</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Måendet – separat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känns det just nu?” Fem enkla känslolägen.</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Mot faktisk belastning</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Batteriet ställs mot genomförda aktiviteter och antal timmar – inte mot planer.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KALENDERN &amp; DATUMLOGIK</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Rätt aktivitet på rätt dag</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En aktivitet finns bara på de dagar den är planerad eller faktiskt genomförs. Återkommande aktiviteter är separata datuminstanser.</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Fem statusar</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Planerad, pågående, genomförd, inställd och flyttad.</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Flytt utan spökposter</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Flyttas en aktivitet räknas den gamla dagen aldrig som genomförd.</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Egen instans</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Varje förekomst har egen status och egen energipåverkan.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BELASTNINGSKARTA</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Ser du sambandet mellan energi och tidsbruk?</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Insikter visar en trend över dagar, veckor och månader: batteriet jämfört med faktiskt genomförda aktiviteter och den tid de tog. Bara sammanställd data – aldrig aktivitetsnamn eller anteckningar.</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Dagar</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Batteri och faktisk tid sida vid sida.</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Veckor</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Mönster som inte syns dag för dag.</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Månader</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Långsiktig riktning på orken.</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Energipåverkan</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Frivilligt svar efter en genomförd aktivitet.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KVÄLLSCHECK</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Förväntad energi möter faktisk energi</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På kvällen svarar du kort på hur dagen blev. Svaret kopplas till dagens aktiviteter och den ork du uppskattade på morgonen.</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Förväntat</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Dagens planerade belastning, uträknad i bakgrunden.</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Faktiskt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mycket ork som fanns kvar när dagen var slut.</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Veckoöversikt</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Varje söndag: en lugn sammanfattning byggd på faktisk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DEN DAGLIGA LOOPEN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Hur mår du. Vad händer. Planera om. Reflektera.</a:t>
            </a:r>
          </a:p>
        </p:txBody>
      </p:sp>
      <p:sp>
        <p:nvSpPr>
          <p:cNvPr id="6" name="Rounded Rectangle 5"/>
          <p:cNvSpPr/>
          <p:nvPr/>
        </p:nvSpPr>
        <p:spPr>
          <a:xfrm>
            <a:off x="7315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15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1</a:t>
            </a:r>
          </a:p>
        </p:txBody>
      </p:sp>
      <p:sp>
        <p:nvSpPr>
          <p:cNvPr id="8" name="TextBox 7"/>
          <p:cNvSpPr txBox="1"/>
          <p:nvPr/>
        </p:nvSpPr>
        <p:spPr>
          <a:xfrm>
            <a:off x="9315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Hur mår du?</a:t>
            </a:r>
          </a:p>
        </p:txBody>
      </p:sp>
      <p:sp>
        <p:nvSpPr>
          <p:cNvPr id="9" name="TextBox 8"/>
          <p:cNvSpPr txBox="1"/>
          <p:nvPr/>
        </p:nvSpPr>
        <p:spPr>
          <a:xfrm>
            <a:off x="9315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Ork och mående på några sekunder.</a:t>
            </a:r>
          </a:p>
        </p:txBody>
      </p:sp>
      <p:sp>
        <p:nvSpPr>
          <p:cNvPr id="10" name="Rounded Rectangle 9"/>
          <p:cNvSpPr/>
          <p:nvPr/>
        </p:nvSpPr>
        <p:spPr>
          <a:xfrm>
            <a:off x="34747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47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2</a:t>
            </a:r>
          </a:p>
        </p:txBody>
      </p:sp>
      <p:sp>
        <p:nvSpPr>
          <p:cNvPr id="12" name="TextBox 11"/>
          <p:cNvSpPr txBox="1"/>
          <p:nvPr/>
        </p:nvSpPr>
        <p:spPr>
          <a:xfrm>
            <a:off x="36747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Vad händer?</a:t>
            </a:r>
          </a:p>
        </p:txBody>
      </p:sp>
      <p:sp>
        <p:nvSpPr>
          <p:cNvPr id="13" name="TextBox 12"/>
          <p:cNvSpPr txBox="1"/>
          <p:nvPr/>
        </p:nvSpPr>
        <p:spPr>
          <a:xfrm>
            <a:off x="36747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Dagens aktiviteter med tid – lägg till direkt.</a:t>
            </a:r>
          </a:p>
        </p:txBody>
      </p:sp>
      <p:sp>
        <p:nvSpPr>
          <p:cNvPr id="14" name="Rounded Rectangle 13"/>
          <p:cNvSpPr/>
          <p:nvPr/>
        </p:nvSpPr>
        <p:spPr>
          <a:xfrm>
            <a:off x="62179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79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3</a:t>
            </a:r>
          </a:p>
        </p:txBody>
      </p:sp>
      <p:sp>
        <p:nvSpPr>
          <p:cNvPr id="16" name="TextBox 15"/>
          <p:cNvSpPr txBox="1"/>
          <p:nvPr/>
        </p:nvSpPr>
        <p:spPr>
          <a:xfrm>
            <a:off x="64179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Planera om?</a:t>
            </a:r>
          </a:p>
        </p:txBody>
      </p:sp>
      <p:sp>
        <p:nvSpPr>
          <p:cNvPr id="17" name="TextBox 16"/>
          <p:cNvSpPr txBox="1"/>
          <p:nvPr/>
        </p:nvSpPr>
        <p:spPr>
          <a:xfrm>
            <a:off x="64179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Flytta, förenkla eller dela – du godkänner.</a:t>
            </a:r>
          </a:p>
        </p:txBody>
      </p:sp>
      <p:sp>
        <p:nvSpPr>
          <p:cNvPr id="18" name="Rounded Rectangle 17"/>
          <p:cNvSpPr/>
          <p:nvPr/>
        </p:nvSpPr>
        <p:spPr>
          <a:xfrm>
            <a:off x="89611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11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4</a:t>
            </a:r>
          </a:p>
        </p:txBody>
      </p:sp>
      <p:sp>
        <p:nvSpPr>
          <p:cNvPr id="20" name="TextBox 19"/>
          <p:cNvSpPr txBox="1"/>
          <p:nvPr/>
        </p:nvSpPr>
        <p:spPr>
          <a:xfrm>
            <a:off x="91611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Kvällscheck</a:t>
            </a:r>
          </a:p>
        </p:txBody>
      </p:sp>
      <p:sp>
        <p:nvSpPr>
          <p:cNvPr id="21" name="TextBox 20"/>
          <p:cNvSpPr txBox="1"/>
          <p:nvPr/>
        </p:nvSpPr>
        <p:spPr>
          <a:xfrm>
            <a:off x="91611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Så lär sig appen din verkliga kapacitet.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FLOW</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följeslagare som säger en sak i taget.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Flow finns genom appen – i Hem, Idag, planeringen och hjälpen – med lugn ton och användaren i kontroll.</a:t>
            </a:r>
          </a:p>
        </p:txBody>
      </p:sp>
      <p:sp>
        <p:nvSpPr>
          <p:cNvPr id="7" name="Rounded Rectangle 6"/>
          <p:cNvSpPr/>
          <p:nvPr/>
        </p:nvSpPr>
        <p:spPr>
          <a:xfrm>
            <a:off x="731520" y="3154680"/>
            <a:ext cx="38120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5304"/>
            <a:ext cx="3482896" cy="304800"/>
          </a:xfrm>
          <a:prstGeom prst="rect">
            <a:avLst/>
          </a:prstGeom>
          <a:noFill/>
        </p:spPr>
        <p:txBody>
          <a:bodyPr wrap="square" lIns="0" rIns="0" tIns="0" bIns="0">
            <a:spAutoFit/>
          </a:bodyPr>
          <a:lstStyle/>
          <a:p>
            <a:pPr algn="l"/>
            <a:r>
              <a:rPr sz="1600" b="1" i="0">
                <a:solidFill>
                  <a:srgbClr val="241C3B"/>
                </a:solidFill>
                <a:latin typeface="Nunito Sans"/>
              </a:rPr>
              <a:t>Kontext</a:t>
            </a:r>
          </a:p>
        </p:txBody>
      </p:sp>
      <p:sp>
        <p:nvSpPr>
          <p:cNvPr id="10" name="TextBox 9"/>
          <p:cNvSpPr txBox="1"/>
          <p:nvPr/>
        </p:nvSpPr>
        <p:spPr>
          <a:xfrm>
            <a:off x="896112" y="3960000"/>
            <a:ext cx="34828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Förslag utifrån energi och situation.</a:t>
            </a:r>
          </a:p>
        </p:txBody>
      </p:sp>
      <p:sp>
        <p:nvSpPr>
          <p:cNvPr id="11" name="Rounded Rectangle 10"/>
          <p:cNvSpPr/>
          <p:nvPr/>
        </p:nvSpPr>
        <p:spPr>
          <a:xfrm>
            <a:off x="4817920" y="3154680"/>
            <a:ext cx="38120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2512" y="3575304"/>
            <a:ext cx="3482896" cy="304800"/>
          </a:xfrm>
          <a:prstGeom prst="rect">
            <a:avLst/>
          </a:prstGeom>
          <a:noFill/>
        </p:spPr>
        <p:txBody>
          <a:bodyPr wrap="square" lIns="0" rIns="0" tIns="0" bIns="0">
            <a:spAutoFit/>
          </a:bodyPr>
          <a:lstStyle/>
          <a:p>
            <a:pPr algn="l"/>
            <a:r>
              <a:rPr sz="1600" b="1" i="0">
                <a:solidFill>
                  <a:srgbClr val="241C3B"/>
                </a:solidFill>
                <a:latin typeface="Nunito Sans"/>
              </a:rPr>
              <a:t>Närvaro</a:t>
            </a:r>
          </a:p>
        </p:txBody>
      </p:sp>
      <p:sp>
        <p:nvSpPr>
          <p:cNvPr id="14" name="TextBox 13"/>
          <p:cNvSpPr txBox="1"/>
          <p:nvPr/>
        </p:nvSpPr>
        <p:spPr>
          <a:xfrm>
            <a:off x="4982512" y="3960000"/>
            <a:ext cx="34828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 levande karaktär, inte bara en ikon.</a:t>
            </a:r>
          </a:p>
        </p:txBody>
      </p:sp>
      <p:pic>
        <p:nvPicPr>
          <p:cNvPr id="15" name="Picture 14" descr="image1.png"/>
          <p:cNvPicPr>
            <a:picLocks noChangeAspect="1"/>
          </p:cNvPicPr>
          <p:nvPr/>
        </p:nvPicPr>
        <p:blipFill>
          <a:blip r:embed="rId2"/>
          <a:stretch>
            <a:fillRect/>
          </a:stretch>
        </p:blipFill>
        <p:spPr>
          <a:xfrm>
            <a:off x="8900000" y="3300000"/>
            <a:ext cx="2194560" cy="148254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DET SOM BYGGTS</a:t>
            </a:r>
          </a:p>
        </p:txBody>
      </p:sp>
      <p:sp>
        <p:nvSpPr>
          <p:cNvPr id="5" name="TextBox 4"/>
          <p:cNvSpPr txBox="1"/>
          <p:nvPr/>
        </p:nvSpPr>
        <p:spPr>
          <a:xfrm>
            <a:off x="731520" y="880000"/>
            <a:ext cx="10698480" cy="438150"/>
          </a:xfrm>
          <a:prstGeom prst="rect">
            <a:avLst/>
          </a:prstGeom>
          <a:noFill/>
        </p:spPr>
        <p:txBody>
          <a:bodyPr wrap="square" lIns="0" rIns="0" tIns="0" bIns="0">
            <a:spAutoFit/>
          </a:bodyPr>
          <a:lstStyle/>
          <a:p>
            <a:pPr algn="l"/>
            <a:r>
              <a:rPr sz="2300" b="1" i="0">
                <a:solidFill>
                  <a:srgbClr val="241C3B"/>
                </a:solidFill>
                <a:latin typeface="Nunito Sans"/>
              </a:rPr>
              <a:t>MyFlove är inte bara en idé – en fungerande produkt är byggd.</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En app som håller ihop även när livet inte gör det.</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Blocksystem</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Responsiva tvåkolumns-grid, fullbreddsformulär och expanderbara kort.</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Tillgänglighet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Reduced motion, tydliga states och tillbaka till rätt plats.</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Tillit</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Historik på faktiska händelser, central statistik och en källa per sak.</a:t>
            </a:r>
          </a:p>
        </p:txBody>
      </p:sp>
      <p:sp>
        <p:nvSpPr>
          <p:cNvPr id="19" name="TextBox 18"/>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Status: Built – i drift som webbapp med veckoöversikt, energihistorik och datumkorrekt kalender. Nästa steg: validering och mobila appar.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FOUNDER &amp; KOMPETENS</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Varför jag kan bygga MyFlove</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Kombinationen av professionell kunskap, yrkeserfarenhet, egen erfarenhet och produktutveckling.</a:t>
            </a:r>
          </a:p>
        </p:txBody>
      </p:sp>
      <p:sp>
        <p:nvSpPr>
          <p:cNvPr id="7" name="Rounded Rectangle 6"/>
          <p:cNvSpPr/>
          <p:nvPr/>
        </p:nvSpPr>
        <p:spPr>
          <a:xfrm>
            <a:off x="7315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Camilla Baksi – Founder</a:t>
            </a:r>
          </a:p>
        </p:txBody>
      </p:sp>
      <p:sp>
        <p:nvSpPr>
          <p:cNvPr id="10" name="TextBox 9"/>
          <p:cNvSpPr txBox="1"/>
          <p:nvPr/>
        </p:nvSpPr>
        <p:spPr>
          <a:xfrm>
            <a:off x="8961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Humanistisk socialpedagog</a:t>
            </a:r>
          </a:p>
          <a:p>
            <a:pPr algn="l">
              <a:lnSpc>
                <a:spcPct val="135000"/>
              </a:lnSpc>
              <a:spcAft>
                <a:spcPts val="500"/>
              </a:spcAft>
            </a:pPr>
            <a:r>
              <a:rPr sz="1200" b="0" i="0">
                <a:solidFill>
                  <a:srgbClr val="6F6789"/>
                </a:solidFill>
                <a:latin typeface="Nunito Sans"/>
              </a:rPr>
              <a:t>Utbildning inom NPF och pedagogik</a:t>
            </a:r>
          </a:p>
          <a:p>
            <a:pPr algn="l">
              <a:lnSpc>
                <a:spcPct val="135000"/>
              </a:lnSpc>
              <a:spcAft>
                <a:spcPts val="500"/>
              </a:spcAft>
            </a:pPr>
            <a:r>
              <a:rPr sz="1200" b="0" i="0">
                <a:solidFill>
                  <a:srgbClr val="6F6789"/>
                </a:solidFill>
                <a:latin typeface="Nunito Sans"/>
              </a:rPr>
              <a:t>Utbildning inom problematisk skolfrånvaro</a:t>
            </a:r>
          </a:p>
          <a:p>
            <a:pPr algn="l">
              <a:lnSpc>
                <a:spcPct val="135000"/>
              </a:lnSpc>
              <a:spcAft>
                <a:spcPts val="500"/>
              </a:spcAft>
            </a:pPr>
            <a:r>
              <a:rPr sz="1200" b="0" i="0">
                <a:solidFill>
                  <a:srgbClr val="6F6789"/>
                </a:solidFill>
                <a:latin typeface="Nunito Sans"/>
              </a:rPr>
              <a:t>Professionellt bemötande vid trauma</a:t>
            </a:r>
          </a:p>
        </p:txBody>
      </p:sp>
      <p:sp>
        <p:nvSpPr>
          <p:cNvPr id="11" name="Rounded Rectangle 10"/>
          <p:cNvSpPr/>
          <p:nvPr/>
        </p:nvSpPr>
        <p:spPr>
          <a:xfrm>
            <a:off x="43891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Yrkeserfarenhet</a:t>
            </a:r>
          </a:p>
        </p:txBody>
      </p:sp>
      <p:sp>
        <p:nvSpPr>
          <p:cNvPr id="14" name="TextBox 13"/>
          <p:cNvSpPr txBox="1"/>
          <p:nvPr/>
        </p:nvSpPr>
        <p:spPr>
          <a:xfrm>
            <a:off x="45537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Ungdomscoach</a:t>
            </a:r>
          </a:p>
          <a:p>
            <a:pPr algn="l">
              <a:lnSpc>
                <a:spcPct val="135000"/>
              </a:lnSpc>
              <a:spcAft>
                <a:spcPts val="500"/>
              </a:spcAft>
            </a:pPr>
            <a:r>
              <a:rPr sz="1200" b="0" i="0">
                <a:solidFill>
                  <a:srgbClr val="6F6789"/>
                </a:solidFill>
                <a:latin typeface="Nunito Sans"/>
              </a:rPr>
              <a:t>Boendestödjare</a:t>
            </a:r>
          </a:p>
          <a:p>
            <a:pPr algn="l">
              <a:lnSpc>
                <a:spcPct val="135000"/>
              </a:lnSpc>
              <a:spcAft>
                <a:spcPts val="500"/>
              </a:spcAft>
            </a:pPr>
            <a:r>
              <a:rPr sz="1200" b="0" i="0">
                <a:solidFill>
                  <a:srgbClr val="6F6789"/>
                </a:solidFill>
                <a:latin typeface="Nunito Sans"/>
              </a:rPr>
              <a:t>Barnskötare</a:t>
            </a:r>
          </a:p>
          <a:p>
            <a:pPr algn="l">
              <a:lnSpc>
                <a:spcPct val="135000"/>
              </a:lnSpc>
              <a:spcAft>
                <a:spcPts val="500"/>
              </a:spcAft>
            </a:pPr>
            <a:r>
              <a:rPr sz="1200" b="0" i="0">
                <a:solidFill>
                  <a:srgbClr val="6F6789"/>
                </a:solidFill>
                <a:latin typeface="Nunito Sans"/>
              </a:rPr>
              <a:t>Möter behov ur flera perspektiv</a:t>
            </a:r>
          </a:p>
        </p:txBody>
      </p:sp>
      <p:sp>
        <p:nvSpPr>
          <p:cNvPr id="15" name="Rounded Rectangle 14"/>
          <p:cNvSpPr/>
          <p:nvPr/>
        </p:nvSpPr>
        <p:spPr>
          <a:xfrm>
            <a:off x="80467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Levd erfarenhet</a:t>
            </a:r>
          </a:p>
        </p:txBody>
      </p:sp>
      <p:sp>
        <p:nvSpPr>
          <p:cNvPr id="18" name="TextBox 17"/>
          <p:cNvSpPr txBox="1"/>
          <p:nvPr/>
        </p:nvSpPr>
        <p:spPr>
          <a:xfrm>
            <a:off x="82113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Egen ADHD</a:t>
            </a:r>
          </a:p>
          <a:p>
            <a:pPr algn="l">
              <a:lnSpc>
                <a:spcPct val="135000"/>
              </a:lnSpc>
              <a:spcAft>
                <a:spcPts val="500"/>
              </a:spcAft>
            </a:pPr>
            <a:r>
              <a:rPr sz="1200" b="0" i="0">
                <a:solidFill>
                  <a:srgbClr val="6F6789"/>
                </a:solidFill>
                <a:latin typeface="Nunito Sans"/>
              </a:rPr>
              <a:t>Förälder till barn med autism och ADHD</a:t>
            </a:r>
          </a:p>
          <a:p>
            <a:pPr algn="l">
              <a:lnSpc>
                <a:spcPct val="135000"/>
              </a:lnSpc>
              <a:spcAft>
                <a:spcPts val="500"/>
              </a:spcAft>
            </a:pPr>
            <a:r>
              <a:rPr sz="1200" b="0" i="0">
                <a:solidFill>
                  <a:srgbClr val="6F6789"/>
                </a:solidFill>
                <a:latin typeface="Nunito Sans"/>
              </a:rPr>
              <a:t>Bygger och driver MyFlove som produkt</a:t>
            </a:r>
          </a:p>
          <a:p>
            <a:pPr algn="l">
              <a:lnSpc>
                <a:spcPct val="135000"/>
              </a:lnSpc>
              <a:spcAft>
                <a:spcPts val="500"/>
              </a:spcAft>
            </a:pPr>
            <a:r>
              <a:rPr sz="1200" b="0" i="0">
                <a:solidFill>
                  <a:srgbClr val="6F6789"/>
                </a:solidFill>
                <a:latin typeface="Nunito Sans"/>
              </a:rPr>
              <a:t>Entreprenörskap och produktutveckling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VALIDATION / TRACTION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From product to proof</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går nu in i strukturerad validering. Inga användar-, intäkts- eller effektsiffror redovisas innan de är mätta.</a:t>
            </a:r>
          </a:p>
        </p:txBody>
      </p:sp>
      <p:sp>
        <p:nvSpPr>
          <p:cNvPr id="7" name="Rounded Rectangle 6"/>
          <p:cNvSpPr/>
          <p:nvPr/>
        </p:nvSpPr>
        <p:spPr>
          <a:xfrm>
            <a:off x="7315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Built</a:t>
            </a:r>
          </a:p>
        </p:txBody>
      </p:sp>
      <p:sp>
        <p:nvSpPr>
          <p:cNvPr id="10" name="TextBox 9"/>
          <p:cNvSpPr txBox="1"/>
          <p:nvPr/>
        </p:nvSpPr>
        <p:spPr>
          <a:xfrm>
            <a:off x="8961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Fungerande webbapp i drift</a:t>
            </a:r>
          </a:p>
          <a:p>
            <a:pPr algn="l">
              <a:lnSpc>
                <a:spcPct val="135000"/>
              </a:lnSpc>
              <a:spcAft>
                <a:spcPts val="500"/>
              </a:spcAft>
            </a:pPr>
            <a:r>
              <a:rPr sz="1200" b="0" i="0">
                <a:solidFill>
                  <a:srgbClr val="6F6789"/>
                </a:solidFill>
                <a:latin typeface="Nunito Sans"/>
              </a:rPr>
              <a:t>Quickflow, Batteriet, Kalendern</a:t>
            </a:r>
          </a:p>
          <a:p>
            <a:pPr algn="l">
              <a:lnSpc>
                <a:spcPct val="135000"/>
              </a:lnSpc>
              <a:spcAft>
                <a:spcPts val="500"/>
              </a:spcAft>
            </a:pPr>
            <a:r>
              <a:rPr sz="1200" b="0" i="0">
                <a:solidFill>
                  <a:srgbClr val="6F6789"/>
                </a:solidFill>
                <a:latin typeface="Nunito Sans"/>
              </a:rPr>
              <a:t>Veckoöversikt och energihistorik</a:t>
            </a:r>
          </a:p>
          <a:p>
            <a:pPr algn="l">
              <a:lnSpc>
                <a:spcPct val="135000"/>
              </a:lnSpc>
              <a:spcAft>
                <a:spcPts val="500"/>
              </a:spcAft>
            </a:pPr>
            <a:r>
              <a:rPr sz="1200" b="0" i="0">
                <a:solidFill>
                  <a:srgbClr val="6F6789"/>
                </a:solidFill>
                <a:latin typeface="Nunito Sans"/>
              </a:rPr>
              <a:t>Demo-/investerarkonto</a:t>
            </a:r>
          </a:p>
        </p:txBody>
      </p:sp>
      <p:sp>
        <p:nvSpPr>
          <p:cNvPr id="11" name="Rounded Rectangle 10"/>
          <p:cNvSpPr/>
          <p:nvPr/>
        </p:nvSpPr>
        <p:spPr>
          <a:xfrm>
            <a:off x="43891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Being validated – pilot</a:t>
            </a:r>
          </a:p>
        </p:txBody>
      </p:sp>
      <p:sp>
        <p:nvSpPr>
          <p:cNvPr id="14" name="TextBox 13"/>
          <p:cNvSpPr txBox="1"/>
          <p:nvPr/>
        </p:nvSpPr>
        <p:spPr>
          <a:xfrm>
            <a:off x="45537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Användning och återkommande användning</a:t>
            </a:r>
          </a:p>
          <a:p>
            <a:pPr algn="l">
              <a:lnSpc>
                <a:spcPct val="135000"/>
              </a:lnSpc>
              <a:spcAft>
                <a:spcPts val="500"/>
              </a:spcAft>
            </a:pPr>
            <a:r>
              <a:rPr sz="1200" b="0" i="0">
                <a:solidFill>
                  <a:srgbClr val="6F6789"/>
                </a:solidFill>
                <a:latin typeface="Nunito Sans"/>
              </a:rPr>
              <a:t>Quickflow och Batteriet</a:t>
            </a:r>
          </a:p>
          <a:p>
            <a:pPr algn="l">
              <a:lnSpc>
                <a:spcPct val="135000"/>
              </a:lnSpc>
              <a:spcAft>
                <a:spcPts val="500"/>
              </a:spcAft>
            </a:pPr>
            <a:r>
              <a:rPr sz="1200" b="0" i="0">
                <a:solidFill>
                  <a:srgbClr val="6F6789"/>
                </a:solidFill>
                <a:latin typeface="Nunito Sans"/>
              </a:rPr>
              <a:t>Flow/AI-upplevelse</a:t>
            </a:r>
          </a:p>
          <a:p>
            <a:pPr algn="l">
              <a:lnSpc>
                <a:spcPct val="135000"/>
              </a:lnSpc>
              <a:spcAft>
                <a:spcPts val="500"/>
              </a:spcAft>
            </a:pPr>
            <a:r>
              <a:rPr sz="1200" b="0" i="0">
                <a:solidFill>
                  <a:srgbClr val="6F6789"/>
                </a:solidFill>
                <a:latin typeface="Nunito Sans"/>
              </a:rPr>
              <a:t>Upplevd mental belastning och kontroll</a:t>
            </a:r>
          </a:p>
          <a:p>
            <a:pPr algn="l">
              <a:lnSpc>
                <a:spcPct val="135000"/>
              </a:lnSpc>
              <a:spcAft>
                <a:spcPts val="500"/>
              </a:spcAft>
            </a:pPr>
            <a:r>
              <a:rPr sz="1200" b="0" i="0">
                <a:solidFill>
                  <a:srgbClr val="6F6789"/>
                </a:solidFill>
                <a:latin typeface="Nunito Sans"/>
              </a:rPr>
              <a:t>Förmåga att prioritera</a:t>
            </a:r>
          </a:p>
        </p:txBody>
      </p:sp>
      <p:sp>
        <p:nvSpPr>
          <p:cNvPr id="15" name="Rounded Rectangle 14"/>
          <p:cNvSpPr/>
          <p:nvPr/>
        </p:nvSpPr>
        <p:spPr>
          <a:xfrm>
            <a:off x="80467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To be validated</a:t>
            </a:r>
          </a:p>
        </p:txBody>
      </p:sp>
      <p:sp>
        <p:nvSpPr>
          <p:cNvPr id="18" name="TextBox 17"/>
          <p:cNvSpPr txBox="1"/>
          <p:nvPr/>
        </p:nvSpPr>
        <p:spPr>
          <a:xfrm>
            <a:off x="82113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Vilja att fortsätta använda</a:t>
            </a:r>
          </a:p>
          <a:p>
            <a:pPr algn="l">
              <a:lnSpc>
                <a:spcPct val="135000"/>
              </a:lnSpc>
              <a:spcAft>
                <a:spcPts val="500"/>
              </a:spcAft>
            </a:pPr>
            <a:r>
              <a:rPr sz="1200" b="0" i="0">
                <a:solidFill>
                  <a:srgbClr val="6F6789"/>
                </a:solidFill>
                <a:latin typeface="Nunito Sans"/>
              </a:rPr>
              <a:t>Betalningsvilja</a:t>
            </a:r>
          </a:p>
          <a:p>
            <a:pPr algn="l">
              <a:lnSpc>
                <a:spcPct val="135000"/>
              </a:lnSpc>
              <a:spcAft>
                <a:spcPts val="500"/>
              </a:spcAft>
            </a:pPr>
            <a:r>
              <a:rPr sz="1200" b="0" i="0">
                <a:solidFill>
                  <a:srgbClr val="6F6789"/>
                </a:solidFill>
                <a:latin typeface="Nunito Sans"/>
              </a:rPr>
              <a:t>Effekt över tid</a:t>
            </a:r>
          </a:p>
          <a:p>
            <a:pPr algn="l">
              <a:lnSpc>
                <a:spcPct val="135000"/>
              </a:lnSpc>
              <a:spcAft>
                <a:spcPts val="500"/>
              </a:spcAft>
            </a:pPr>
            <a:r>
              <a:rPr sz="1200" b="0" i="0">
                <a:solidFill>
                  <a:srgbClr val="6F6789"/>
                </a:solidFill>
                <a:latin typeface="Nunito Sans"/>
              </a:rPr>
              <a:t>B2B/B2G-intresse</a:t>
            </a:r>
          </a:p>
        </p:txBody>
      </p:sp>
      <p:sp>
        <p:nvSpPr>
          <p:cNvPr id="19" name="TextBox 18"/>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Placeholder: pilotens omfattning, deltagarantal och mätperiod fylls i inför investerarmöte.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AFFÄRSMODELL</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Flera möjliga intäktsvägar – en valideras först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Prissättning är ännu inte satt. Inga priser eller intäktsantaganden presenteras innan de är validerade.</a:t>
            </a:r>
          </a:p>
        </p:txBody>
      </p:sp>
      <p:sp>
        <p:nvSpPr>
          <p:cNvPr id="7" name="Rounded Rectangle 6"/>
          <p:cNvSpPr/>
          <p:nvPr/>
        </p:nvSpPr>
        <p:spPr>
          <a:xfrm>
            <a:off x="7315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B2C – Free / Premium</a:t>
            </a:r>
          </a:p>
        </p:txBody>
      </p:sp>
      <p:sp>
        <p:nvSpPr>
          <p:cNvPr id="10" name="TextBox 9"/>
          <p:cNvSpPr txBox="1"/>
          <p:nvPr/>
        </p:nvSpPr>
        <p:spPr>
          <a:xfrm>
            <a:off x="8961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Grundfunktioner fria</a:t>
            </a:r>
          </a:p>
          <a:p>
            <a:pPr algn="l">
              <a:lnSpc>
                <a:spcPct val="135000"/>
              </a:lnSpc>
              <a:spcAft>
                <a:spcPts val="500"/>
              </a:spcAft>
            </a:pPr>
            <a:r>
              <a:rPr sz="1200" b="0" i="0">
                <a:solidFill>
                  <a:srgbClr val="6F6789"/>
                </a:solidFill>
                <a:latin typeface="Nunito Sans"/>
              </a:rPr>
              <a:t>Premium för fördjupning</a:t>
            </a:r>
          </a:p>
          <a:p>
            <a:pPr algn="l">
              <a:lnSpc>
                <a:spcPct val="135000"/>
              </a:lnSpc>
              <a:spcAft>
                <a:spcPts val="500"/>
              </a:spcAft>
            </a:pPr>
            <a:r>
              <a:rPr sz="1200" b="0" i="0">
                <a:solidFill>
                  <a:srgbClr val="6F6789"/>
                </a:solidFill>
                <a:latin typeface="Nunito Sans"/>
              </a:rPr>
              <a:t>Pris: to be validated</a:t>
            </a:r>
          </a:p>
        </p:txBody>
      </p:sp>
      <p:sp>
        <p:nvSpPr>
          <p:cNvPr id="11" name="Rounded Rectangle 10"/>
          <p:cNvSpPr/>
          <p:nvPr/>
        </p:nvSpPr>
        <p:spPr>
          <a:xfrm>
            <a:off x="43891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B2B – Arbetsgivare</a:t>
            </a:r>
          </a:p>
        </p:txBody>
      </p:sp>
      <p:sp>
        <p:nvSpPr>
          <p:cNvPr id="14" name="TextBox 13"/>
          <p:cNvSpPr txBox="1"/>
          <p:nvPr/>
        </p:nvSpPr>
        <p:spPr>
          <a:xfrm>
            <a:off x="45537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Stöd för medarbetare</a:t>
            </a:r>
          </a:p>
          <a:p>
            <a:pPr algn="l">
              <a:lnSpc>
                <a:spcPct val="135000"/>
              </a:lnSpc>
              <a:spcAft>
                <a:spcPts val="500"/>
              </a:spcAft>
            </a:pPr>
            <a:r>
              <a:rPr sz="1200" b="0" i="0">
                <a:solidFill>
                  <a:srgbClr val="6F6789"/>
                </a:solidFill>
                <a:latin typeface="Nunito Sans"/>
              </a:rPr>
              <a:t>Hållbar arbetsvardag</a:t>
            </a:r>
          </a:p>
          <a:p>
            <a:pPr algn="l">
              <a:lnSpc>
                <a:spcPct val="135000"/>
              </a:lnSpc>
              <a:spcAft>
                <a:spcPts val="500"/>
              </a:spcAft>
            </a:pPr>
            <a:r>
              <a:rPr sz="1200" b="0" i="0">
                <a:solidFill>
                  <a:srgbClr val="6F6789"/>
                </a:solidFill>
                <a:latin typeface="Nunito Sans"/>
              </a:rPr>
              <a:t>To be validated</a:t>
            </a:r>
          </a:p>
        </p:txBody>
      </p:sp>
      <p:sp>
        <p:nvSpPr>
          <p:cNvPr id="15" name="Rounded Rectangle 14"/>
          <p:cNvSpPr/>
          <p:nvPr/>
        </p:nvSpPr>
        <p:spPr>
          <a:xfrm>
            <a:off x="80467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B2G – Offentlig sektor</a:t>
            </a:r>
          </a:p>
        </p:txBody>
      </p:sp>
      <p:sp>
        <p:nvSpPr>
          <p:cNvPr id="18" name="TextBox 17"/>
          <p:cNvSpPr txBox="1"/>
          <p:nvPr/>
        </p:nvSpPr>
        <p:spPr>
          <a:xfrm>
            <a:off x="82113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Stöd inom vård, skola och omsorg</a:t>
            </a:r>
          </a:p>
          <a:p>
            <a:pPr algn="l">
              <a:lnSpc>
                <a:spcPct val="135000"/>
              </a:lnSpc>
              <a:spcAft>
                <a:spcPts val="500"/>
              </a:spcAft>
            </a:pPr>
            <a:r>
              <a:rPr sz="1200" b="0" i="0">
                <a:solidFill>
                  <a:srgbClr val="6F6789"/>
                </a:solidFill>
                <a:latin typeface="Nunito Sans"/>
              </a:rPr>
              <a:t>Upphandling som väg</a:t>
            </a:r>
          </a:p>
          <a:p>
            <a:pPr algn="l">
              <a:lnSpc>
                <a:spcPct val="135000"/>
              </a:lnSpc>
              <a:spcAft>
                <a:spcPts val="500"/>
              </a:spcAft>
            </a:pPr>
            <a:r>
              <a:rPr sz="1200" b="0" i="0">
                <a:solidFill>
                  <a:srgbClr val="6F6789"/>
                </a:solidFill>
                <a:latin typeface="Nunito Sans"/>
              </a:rPr>
              <a:t>To be validated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DIFFERENTIERING</a:t>
            </a:r>
          </a:p>
        </p:txBody>
      </p:sp>
      <p:sp>
        <p:nvSpPr>
          <p:cNvPr id="5" name="TextBox 4"/>
          <p:cNvSpPr txBox="1"/>
          <p:nvPr/>
        </p:nvSpPr>
        <p:spPr>
          <a:xfrm>
            <a:off x="731520" y="880000"/>
            <a:ext cx="10698480" cy="438150"/>
          </a:xfrm>
          <a:prstGeom prst="rect">
            <a:avLst/>
          </a:prstGeom>
          <a:noFill/>
        </p:spPr>
        <p:txBody>
          <a:bodyPr wrap="square" lIns="0" rIns="0" tIns="0" bIns="0">
            <a:spAutoFit/>
          </a:bodyPr>
          <a:lstStyle/>
          <a:p>
            <a:pPr algn="l"/>
            <a:r>
              <a:rPr sz="2300" b="1" i="0">
                <a:solidFill>
                  <a:srgbClr val="241C3B"/>
                </a:solidFill>
                <a:latin typeface="Nunito Sans"/>
              </a:rPr>
              <a:t>Traditional tools organize tasks. MyFlove connects tasks with human capacity.</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Jämförelsen beskriver fokus och utgångspunkt – inte påståenden om andra produkters funktioner.</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Kalendrar &amp; task managers</a:t>
            </a:r>
          </a:p>
        </p:txBody>
      </p:sp>
      <p:sp>
        <p:nvSpPr>
          <p:cNvPr id="10" name="TextBox 9"/>
          <p:cNvSpPr txBox="1"/>
          <p:nvPr/>
        </p:nvSpPr>
        <p:spPr>
          <a:xfrm>
            <a:off x="8961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från tid och uppgifter.</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Habit trackers</a:t>
            </a:r>
          </a:p>
        </p:txBody>
      </p:sp>
      <p:sp>
        <p:nvSpPr>
          <p:cNvPr id="14" name="TextBox 13"/>
          <p:cNvSpPr txBox="1"/>
          <p:nvPr/>
        </p:nvSpPr>
        <p:spPr>
          <a:xfrm>
            <a:off x="36393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från upprepning och streaks.</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NPF-appar</a:t>
            </a:r>
          </a:p>
        </p:txBody>
      </p:sp>
      <p:sp>
        <p:nvSpPr>
          <p:cNvPr id="18" name="TextBox 17"/>
          <p:cNvSpPr txBox="1"/>
          <p:nvPr/>
        </p:nvSpPr>
        <p:spPr>
          <a:xfrm>
            <a:off x="63825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ofta från struktur och påminnelser.</a:t>
            </a:r>
          </a:p>
        </p:txBody>
      </p:sp>
      <p:sp>
        <p:nvSpPr>
          <p:cNvPr id="19" name="Rounded Rectangle 18"/>
          <p:cNvSpPr/>
          <p:nvPr/>
        </p:nvSpPr>
        <p:spPr>
          <a:xfrm>
            <a:off x="8961120" y="3154680"/>
            <a:ext cx="2468880" cy="201168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7C5CE0"/>
          </a:solidFill>
          <a:ln>
            <a:solidFill>
              <a:srgbClr val="7C5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MyFlove</a:t>
            </a:r>
          </a:p>
        </p:txBody>
      </p:sp>
      <p:sp>
        <p:nvSpPr>
          <p:cNvPr id="22" name="TextBox 21"/>
          <p:cNvSpPr txBox="1"/>
          <p:nvPr/>
        </p:nvSpPr>
        <p:spPr>
          <a:xfrm>
            <a:off x="9125712" y="4150000"/>
            <a:ext cx="2139696" cy="228600"/>
          </a:xfrm>
          <a:prstGeom prst="rect">
            <a:avLst/>
          </a:prstGeom>
          <a:noFill/>
        </p:spPr>
        <p:txBody>
          <a:bodyPr wrap="square" lIns="0" rIns="0" tIns="0" bIns="0">
            <a:spAutoFit/>
          </a:bodyPr>
          <a:lstStyle/>
          <a:p>
            <a:pPr algn="l">
              <a:lnSpc>
                <a:spcPct val="135000"/>
              </a:lnSpc>
            </a:pPr>
            <a:r>
              <a:rPr sz="1200" b="0" i="0">
                <a:solidFill>
                  <a:srgbClr val="241C3B"/>
                </a:solidFill>
                <a:latin typeface="Nunito Sans"/>
              </a:rPr>
              <a:t>Utgår från kapaciteten just nu.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GO-TO-MARKET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Bevisa värdet först – skala sedan</a:t>
            </a:r>
          </a:p>
        </p:txBody>
      </p:sp>
      <p:sp>
        <p:nvSpPr>
          <p:cNvPr id="6" name="Rounded Rectangle 5"/>
          <p:cNvSpPr/>
          <p:nvPr/>
        </p:nvSpPr>
        <p:spPr>
          <a:xfrm>
            <a:off x="731520" y="3000000"/>
            <a:ext cx="1554480" cy="11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1520" y="3380000"/>
            <a:ext cx="1314480" cy="247650"/>
          </a:xfrm>
          <a:prstGeom prst="rect">
            <a:avLst/>
          </a:prstGeom>
          <a:noFill/>
        </p:spPr>
        <p:txBody>
          <a:bodyPr wrap="square" lIns="0" rIns="0" tIns="0" bIns="0">
            <a:spAutoFit/>
          </a:bodyPr>
          <a:lstStyle/>
          <a:p>
            <a:pPr algn="ctr"/>
            <a:r>
              <a:rPr sz="1300" b="1" i="0">
                <a:solidFill>
                  <a:srgbClr val="241C3B"/>
                </a:solidFill>
                <a:latin typeface="Nunito Sans"/>
              </a:rPr>
              <a:t>Pilot</a:t>
            </a:r>
          </a:p>
        </p:txBody>
      </p:sp>
      <p:sp>
        <p:nvSpPr>
          <p:cNvPr id="8" name="Rounded Rectangle 7"/>
          <p:cNvSpPr/>
          <p:nvPr/>
        </p:nvSpPr>
        <p:spPr>
          <a:xfrm>
            <a:off x="2560320" y="3000000"/>
            <a:ext cx="1554480" cy="11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80320" y="3380000"/>
            <a:ext cx="1314480" cy="247650"/>
          </a:xfrm>
          <a:prstGeom prst="rect">
            <a:avLst/>
          </a:prstGeom>
          <a:noFill/>
        </p:spPr>
        <p:txBody>
          <a:bodyPr wrap="square" lIns="0" rIns="0" tIns="0" bIns="0">
            <a:spAutoFit/>
          </a:bodyPr>
          <a:lstStyle/>
          <a:p>
            <a:pPr algn="ctr"/>
            <a:r>
              <a:rPr sz="1300" b="1" i="0">
                <a:solidFill>
                  <a:srgbClr val="241C3B"/>
                </a:solidFill>
                <a:latin typeface="Nunito Sans"/>
              </a:rPr>
              <a:t>Validation</a:t>
            </a:r>
          </a:p>
        </p:txBody>
      </p:sp>
      <p:sp>
        <p:nvSpPr>
          <p:cNvPr id="10" name="Rounded Rectangle 9"/>
          <p:cNvSpPr/>
          <p:nvPr/>
        </p:nvSpPr>
        <p:spPr>
          <a:xfrm>
            <a:off x="43891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91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Launch</a:t>
            </a:r>
          </a:p>
        </p:txBody>
      </p:sp>
      <p:sp>
        <p:nvSpPr>
          <p:cNvPr id="12" name="Rounded Rectangle 11"/>
          <p:cNvSpPr/>
          <p:nvPr/>
        </p:nvSpPr>
        <p:spPr>
          <a:xfrm>
            <a:off x="62179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79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B2C</a:t>
            </a:r>
          </a:p>
        </p:txBody>
      </p:sp>
      <p:sp>
        <p:nvSpPr>
          <p:cNvPr id="14" name="Rounded Rectangle 13"/>
          <p:cNvSpPr/>
          <p:nvPr/>
        </p:nvSpPr>
        <p:spPr>
          <a:xfrm>
            <a:off x="80467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67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B2B / B2G</a:t>
            </a:r>
          </a:p>
        </p:txBody>
      </p:sp>
      <p:sp>
        <p:nvSpPr>
          <p:cNvPr id="16" name="Rounded Rectangle 15"/>
          <p:cNvSpPr/>
          <p:nvPr/>
        </p:nvSpPr>
        <p:spPr>
          <a:xfrm>
            <a:off x="98755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955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Scale</a:t>
            </a:r>
          </a:p>
        </p:txBody>
      </p:sp>
      <p:sp>
        <p:nvSpPr>
          <p:cNvPr id="18" name="TextBox 17"/>
          <p:cNvSpPr txBox="1"/>
          <p:nvPr/>
        </p:nvSpPr>
        <p:spPr>
          <a:xfrm>
            <a:off x="731520" y="4400000"/>
            <a:ext cx="10698480" cy="247650"/>
          </a:xfrm>
          <a:prstGeom prst="rect">
            <a:avLst/>
          </a:prstGeom>
          <a:noFill/>
        </p:spPr>
        <p:txBody>
          <a:bodyPr wrap="square" lIns="0" rIns="0" tIns="0" bIns="0">
            <a:spAutoFit/>
          </a:bodyPr>
          <a:lstStyle/>
          <a:p>
            <a:pPr algn="l">
              <a:lnSpc>
                <a:spcPct val="140000"/>
              </a:lnSpc>
              <a:spcAft>
                <a:spcPts val="700"/>
              </a:spcAft>
            </a:pPr>
            <a:r>
              <a:rPr sz="1300" b="0" i="0">
                <a:solidFill>
                  <a:srgbClr val="6F6789"/>
                </a:solidFill>
                <a:latin typeface="Nunito Sans"/>
              </a:rPr>
              <a:t>Fas 1 – Pilot och validering: mäta effekt, användning och nytta i verkliga vardagar.</a:t>
            </a:r>
          </a:p>
          <a:p>
            <a:pPr algn="l">
              <a:lnSpc>
                <a:spcPct val="140000"/>
              </a:lnSpc>
              <a:spcAft>
                <a:spcPts val="700"/>
              </a:spcAft>
            </a:pPr>
            <a:r>
              <a:rPr sz="1300" b="0" i="0">
                <a:solidFill>
                  <a:srgbClr val="6F6789"/>
                </a:solidFill>
                <a:latin typeface="Nunito Sans"/>
              </a:rPr>
              <a:t>Fas 2 – Lansering och B2C-tillväxt när värdet är belagt.</a:t>
            </a:r>
          </a:p>
          <a:p>
            <a:pPr algn="l">
              <a:lnSpc>
                <a:spcPct val="140000"/>
              </a:lnSpc>
              <a:spcAft>
                <a:spcPts val="700"/>
              </a:spcAft>
            </a:pPr>
            <a:r>
              <a:rPr sz="1300" b="0" i="0">
                <a:solidFill>
                  <a:srgbClr val="6F6789"/>
                </a:solidFill>
                <a:latin typeface="Nunito Sans"/>
              </a:rPr>
              <a:t>Fas 3 – B2B/B2G och internationell skalning.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KAPITAL</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What we are raising</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Belopp och fördelning fylls i inför investerarmöte – inga budgetantaganden presenteras här.</a:t>
            </a:r>
          </a:p>
        </p:txBody>
      </p:sp>
      <p:sp>
        <p:nvSpPr>
          <p:cNvPr id="7" name="Rounded Rectangle 6"/>
          <p:cNvSpPr/>
          <p:nvPr/>
        </p:nvSpPr>
        <p:spPr>
          <a:xfrm>
            <a:off x="731520" y="2700000"/>
            <a:ext cx="3474720" cy="9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1520" y="2900000"/>
            <a:ext cx="2974720" cy="266700"/>
          </a:xfrm>
          <a:prstGeom prst="rect">
            <a:avLst/>
          </a:prstGeom>
          <a:noFill/>
        </p:spPr>
        <p:txBody>
          <a:bodyPr wrap="square" lIns="0" rIns="0" tIns="0" bIns="0">
            <a:spAutoFit/>
          </a:bodyPr>
          <a:lstStyle/>
          <a:p>
            <a:pPr algn="l"/>
            <a:r>
              <a:rPr sz="1400" b="1" i="0">
                <a:solidFill>
                  <a:srgbClr val="241C3B"/>
                </a:solidFill>
                <a:latin typeface="Nunito Sans"/>
              </a:rPr>
              <a:t>Belopp: [placeholder – fylls i]</a:t>
            </a:r>
          </a:p>
        </p:txBody>
      </p:sp>
      <p:sp>
        <p:nvSpPr>
          <p:cNvPr id="9" name="Rounded Rectangle 8"/>
          <p:cNvSpPr/>
          <p:nvPr/>
        </p:nvSpPr>
        <p:spPr>
          <a:xfrm>
            <a:off x="7315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61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Produkt &amp; teknik</a:t>
            </a:r>
          </a:p>
        </p:txBody>
      </p:sp>
      <p:sp>
        <p:nvSpPr>
          <p:cNvPr id="12" name="TextBox 11"/>
          <p:cNvSpPr txBox="1"/>
          <p:nvPr/>
        </p:nvSpPr>
        <p:spPr>
          <a:xfrm>
            <a:off x="8961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iOS och Android</a:t>
            </a:r>
          </a:p>
          <a:p>
            <a:pPr algn="l">
              <a:lnSpc>
                <a:spcPct val="135000"/>
              </a:lnSpc>
              <a:spcAft>
                <a:spcPts val="500"/>
              </a:spcAft>
            </a:pPr>
            <a:r>
              <a:rPr sz="1200" b="0" i="0">
                <a:solidFill>
                  <a:srgbClr val="6F6789"/>
                </a:solidFill>
                <a:latin typeface="Nunito Sans"/>
              </a:rPr>
              <a:t>Teknisk stabilisering</a:t>
            </a:r>
          </a:p>
          <a:p>
            <a:pPr algn="l">
              <a:lnSpc>
                <a:spcPct val="135000"/>
              </a:lnSpc>
              <a:spcAft>
                <a:spcPts val="500"/>
              </a:spcAft>
            </a:pPr>
            <a:r>
              <a:rPr sz="1200" b="0" i="0">
                <a:solidFill>
                  <a:srgbClr val="6F6789"/>
                </a:solidFill>
                <a:latin typeface="Nunito Sans"/>
              </a:rPr>
              <a:t>Backend och skalbarhet</a:t>
            </a:r>
          </a:p>
        </p:txBody>
      </p:sp>
      <p:sp>
        <p:nvSpPr>
          <p:cNvPr id="13" name="Rounded Rectangle 12"/>
          <p:cNvSpPr/>
          <p:nvPr/>
        </p:nvSpPr>
        <p:spPr>
          <a:xfrm>
            <a:off x="43891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537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Tillit &amp; data</a:t>
            </a:r>
          </a:p>
        </p:txBody>
      </p:sp>
      <p:sp>
        <p:nvSpPr>
          <p:cNvPr id="16" name="TextBox 15"/>
          <p:cNvSpPr txBox="1"/>
          <p:nvPr/>
        </p:nvSpPr>
        <p:spPr>
          <a:xfrm>
            <a:off x="45537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Säkerhet och GDPR</a:t>
            </a:r>
          </a:p>
          <a:p>
            <a:pPr algn="l">
              <a:lnSpc>
                <a:spcPct val="135000"/>
              </a:lnSpc>
              <a:spcAft>
                <a:spcPts val="500"/>
              </a:spcAft>
            </a:pPr>
            <a:r>
              <a:rPr sz="1200" b="0" i="0">
                <a:solidFill>
                  <a:srgbClr val="6F6789"/>
                </a:solidFill>
                <a:latin typeface="Nunito Sans"/>
              </a:rPr>
              <a:t>Analytics</a:t>
            </a:r>
          </a:p>
          <a:p>
            <a:pPr algn="l">
              <a:lnSpc>
                <a:spcPct val="135000"/>
              </a:lnSpc>
              <a:spcAft>
                <a:spcPts val="500"/>
              </a:spcAft>
            </a:pPr>
            <a:r>
              <a:rPr sz="1200" b="0" i="0">
                <a:solidFill>
                  <a:srgbClr val="6F6789"/>
                </a:solidFill>
                <a:latin typeface="Nunito Sans"/>
              </a:rPr>
              <a:t>AI/Flow-utveckling</a:t>
            </a:r>
          </a:p>
        </p:txBody>
      </p:sp>
      <p:sp>
        <p:nvSpPr>
          <p:cNvPr id="17" name="Rounded Rectangle 16"/>
          <p:cNvSpPr/>
          <p:nvPr/>
        </p:nvSpPr>
        <p:spPr>
          <a:xfrm>
            <a:off x="80467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113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Marknad &amp; bevis</a:t>
            </a:r>
          </a:p>
        </p:txBody>
      </p:sp>
      <p:sp>
        <p:nvSpPr>
          <p:cNvPr id="20" name="TextBox 19"/>
          <p:cNvSpPr txBox="1"/>
          <p:nvPr/>
        </p:nvSpPr>
        <p:spPr>
          <a:xfrm>
            <a:off x="82113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Onboarding</a:t>
            </a:r>
          </a:p>
          <a:p>
            <a:pPr algn="l">
              <a:lnSpc>
                <a:spcPct val="135000"/>
              </a:lnSpc>
              <a:spcAft>
                <a:spcPts val="500"/>
              </a:spcAft>
            </a:pPr>
            <a:r>
              <a:rPr sz="1200" b="0" i="0">
                <a:solidFill>
                  <a:srgbClr val="6F6789"/>
                </a:solidFill>
                <a:latin typeface="Nunito Sans"/>
              </a:rPr>
              <a:t>Pilot och validering</a:t>
            </a:r>
          </a:p>
          <a:p>
            <a:pPr algn="l">
              <a:lnSpc>
                <a:spcPct val="135000"/>
              </a:lnSpc>
              <a:spcAft>
                <a:spcPts val="500"/>
              </a:spcAft>
            </a:pPr>
            <a:r>
              <a:rPr sz="1200" b="0" i="0">
                <a:solidFill>
                  <a:srgbClr val="6F6789"/>
                </a:solidFill>
                <a:latin typeface="Nunito Sans"/>
              </a:rPr>
              <a:t>Kommersiell lansering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ROADMAP</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Från fungerande produkt till bevisad effekt och skala</a:t>
            </a:r>
          </a:p>
        </p:txBody>
      </p:sp>
      <p:sp>
        <p:nvSpPr>
          <p:cNvPr id="6" name="Rounded Rectangle 5"/>
          <p:cNvSpPr/>
          <p:nvPr/>
        </p:nvSpPr>
        <p:spPr>
          <a:xfrm>
            <a:off x="731520" y="2350000"/>
            <a:ext cx="10698480" cy="62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1520" y="2560000"/>
            <a:ext cx="2200000" cy="228600"/>
          </a:xfrm>
          <a:prstGeom prst="rect">
            <a:avLst/>
          </a:prstGeom>
          <a:noFill/>
        </p:spPr>
        <p:txBody>
          <a:bodyPr wrap="square" lIns="0" rIns="0" tIns="0" bIns="0">
            <a:spAutoFit/>
          </a:bodyPr>
          <a:lstStyle/>
          <a:p>
            <a:pPr algn="l"/>
            <a:r>
              <a:rPr sz="1200" b="1" i="0">
                <a:solidFill>
                  <a:srgbClr val="7C5CE0"/>
                </a:solidFill>
                <a:latin typeface="Nunito Sans"/>
              </a:rPr>
              <a:t>NOW</a:t>
            </a:r>
          </a:p>
        </p:txBody>
      </p:sp>
      <p:sp>
        <p:nvSpPr>
          <p:cNvPr id="8" name="TextBox 7"/>
          <p:cNvSpPr txBox="1"/>
          <p:nvPr/>
        </p:nvSpPr>
        <p:spPr>
          <a:xfrm>
            <a:off x="3331520" y="2545000"/>
            <a:ext cx="7798480" cy="266700"/>
          </a:xfrm>
          <a:prstGeom prst="rect">
            <a:avLst/>
          </a:prstGeom>
          <a:noFill/>
        </p:spPr>
        <p:txBody>
          <a:bodyPr wrap="square" lIns="0" rIns="0" tIns="0" bIns="0">
            <a:spAutoFit/>
          </a:bodyPr>
          <a:lstStyle/>
          <a:p>
            <a:pPr algn="l"/>
            <a:r>
              <a:rPr sz="1400" b="1" i="0">
                <a:solidFill>
                  <a:srgbClr val="241C3B"/>
                </a:solidFill>
                <a:latin typeface="Nunito Sans"/>
              </a:rPr>
              <a:t>Validation + pilot</a:t>
            </a:r>
          </a:p>
        </p:txBody>
      </p:sp>
      <p:sp>
        <p:nvSpPr>
          <p:cNvPr id="9" name="Rounded Rectangle 8"/>
          <p:cNvSpPr/>
          <p:nvPr/>
        </p:nvSpPr>
        <p:spPr>
          <a:xfrm>
            <a:off x="731520" y="311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520" y="3320000"/>
            <a:ext cx="2200000" cy="228600"/>
          </a:xfrm>
          <a:prstGeom prst="rect">
            <a:avLst/>
          </a:prstGeom>
          <a:noFill/>
        </p:spPr>
        <p:txBody>
          <a:bodyPr wrap="square" lIns="0" rIns="0" tIns="0" bIns="0">
            <a:spAutoFit/>
          </a:bodyPr>
          <a:lstStyle/>
          <a:p>
            <a:pPr algn="l"/>
            <a:r>
              <a:rPr sz="1200" b="1" i="0">
                <a:solidFill>
                  <a:srgbClr val="7C5CE0"/>
                </a:solidFill>
                <a:latin typeface="Nunito Sans"/>
              </a:rPr>
              <a:t>NEXT</a:t>
            </a:r>
          </a:p>
        </p:txBody>
      </p:sp>
      <p:sp>
        <p:nvSpPr>
          <p:cNvPr id="11" name="TextBox 10"/>
          <p:cNvSpPr txBox="1"/>
          <p:nvPr/>
        </p:nvSpPr>
        <p:spPr>
          <a:xfrm>
            <a:off x="3331520" y="3305000"/>
            <a:ext cx="7798480" cy="266700"/>
          </a:xfrm>
          <a:prstGeom prst="rect">
            <a:avLst/>
          </a:prstGeom>
          <a:noFill/>
        </p:spPr>
        <p:txBody>
          <a:bodyPr wrap="square" lIns="0" rIns="0" tIns="0" bIns="0">
            <a:spAutoFit/>
          </a:bodyPr>
          <a:lstStyle/>
          <a:p>
            <a:pPr algn="l"/>
            <a:r>
              <a:rPr sz="1400" b="0" i="0">
                <a:solidFill>
                  <a:srgbClr val="241C3B"/>
                </a:solidFill>
                <a:latin typeface="Nunito Sans"/>
              </a:rPr>
              <a:t>iOS / Android + technical scale</a:t>
            </a:r>
          </a:p>
        </p:txBody>
      </p:sp>
      <p:sp>
        <p:nvSpPr>
          <p:cNvPr id="12" name="Rounded Rectangle 11"/>
          <p:cNvSpPr/>
          <p:nvPr/>
        </p:nvSpPr>
        <p:spPr>
          <a:xfrm>
            <a:off x="731520" y="387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1520" y="4080000"/>
            <a:ext cx="2200000" cy="228600"/>
          </a:xfrm>
          <a:prstGeom prst="rect">
            <a:avLst/>
          </a:prstGeom>
          <a:noFill/>
        </p:spPr>
        <p:txBody>
          <a:bodyPr wrap="square" lIns="0" rIns="0" tIns="0" bIns="0">
            <a:spAutoFit/>
          </a:bodyPr>
          <a:lstStyle/>
          <a:p>
            <a:pPr algn="l"/>
            <a:r>
              <a:rPr sz="1200" b="1" i="0">
                <a:solidFill>
                  <a:srgbClr val="7C5CE0"/>
                </a:solidFill>
                <a:latin typeface="Nunito Sans"/>
              </a:rPr>
              <a:t>THEN</a:t>
            </a:r>
          </a:p>
        </p:txBody>
      </p:sp>
      <p:sp>
        <p:nvSpPr>
          <p:cNvPr id="14" name="TextBox 13"/>
          <p:cNvSpPr txBox="1"/>
          <p:nvPr/>
        </p:nvSpPr>
        <p:spPr>
          <a:xfrm>
            <a:off x="3331520" y="4065000"/>
            <a:ext cx="7798480" cy="266700"/>
          </a:xfrm>
          <a:prstGeom prst="rect">
            <a:avLst/>
          </a:prstGeom>
          <a:noFill/>
        </p:spPr>
        <p:txBody>
          <a:bodyPr wrap="square" lIns="0" rIns="0" tIns="0" bIns="0">
            <a:spAutoFit/>
          </a:bodyPr>
          <a:lstStyle/>
          <a:p>
            <a:pPr algn="l"/>
            <a:r>
              <a:rPr sz="1400" b="0" i="0">
                <a:solidFill>
                  <a:srgbClr val="241C3B"/>
                </a:solidFill>
                <a:latin typeface="Nunito Sans"/>
              </a:rPr>
              <a:t>B2C growth</a:t>
            </a:r>
          </a:p>
        </p:txBody>
      </p:sp>
      <p:sp>
        <p:nvSpPr>
          <p:cNvPr id="15" name="Rounded Rectangle 14"/>
          <p:cNvSpPr/>
          <p:nvPr/>
        </p:nvSpPr>
        <p:spPr>
          <a:xfrm>
            <a:off x="731520" y="463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520" y="4840000"/>
            <a:ext cx="2200000" cy="228600"/>
          </a:xfrm>
          <a:prstGeom prst="rect">
            <a:avLst/>
          </a:prstGeom>
          <a:noFill/>
        </p:spPr>
        <p:txBody>
          <a:bodyPr wrap="square" lIns="0" rIns="0" tIns="0" bIns="0">
            <a:spAutoFit/>
          </a:bodyPr>
          <a:lstStyle/>
          <a:p>
            <a:pPr algn="l"/>
            <a:r>
              <a:rPr sz="1200" b="1" i="0">
                <a:solidFill>
                  <a:srgbClr val="7C5CE0"/>
                </a:solidFill>
                <a:latin typeface="Nunito Sans"/>
              </a:rPr>
              <a:t>NEXT</a:t>
            </a:r>
          </a:p>
        </p:txBody>
      </p:sp>
      <p:sp>
        <p:nvSpPr>
          <p:cNvPr id="17" name="TextBox 16"/>
          <p:cNvSpPr txBox="1"/>
          <p:nvPr/>
        </p:nvSpPr>
        <p:spPr>
          <a:xfrm>
            <a:off x="3331520" y="4825000"/>
            <a:ext cx="7798480" cy="266700"/>
          </a:xfrm>
          <a:prstGeom prst="rect">
            <a:avLst/>
          </a:prstGeom>
          <a:noFill/>
        </p:spPr>
        <p:txBody>
          <a:bodyPr wrap="square" lIns="0" rIns="0" tIns="0" bIns="0">
            <a:spAutoFit/>
          </a:bodyPr>
          <a:lstStyle/>
          <a:p>
            <a:pPr algn="l"/>
            <a:r>
              <a:rPr sz="1400" b="0" i="0">
                <a:solidFill>
                  <a:srgbClr val="241C3B"/>
                </a:solidFill>
                <a:latin typeface="Nunito Sans"/>
              </a:rPr>
              <a:t>B2B / B2G</a:t>
            </a:r>
          </a:p>
        </p:txBody>
      </p:sp>
      <p:sp>
        <p:nvSpPr>
          <p:cNvPr id="18" name="Rounded Rectangle 17"/>
          <p:cNvSpPr/>
          <p:nvPr/>
        </p:nvSpPr>
        <p:spPr>
          <a:xfrm>
            <a:off x="731520" y="539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520" y="5600000"/>
            <a:ext cx="2200000" cy="228600"/>
          </a:xfrm>
          <a:prstGeom prst="rect">
            <a:avLst/>
          </a:prstGeom>
          <a:noFill/>
        </p:spPr>
        <p:txBody>
          <a:bodyPr wrap="square" lIns="0" rIns="0" tIns="0" bIns="0">
            <a:spAutoFit/>
          </a:bodyPr>
          <a:lstStyle/>
          <a:p>
            <a:pPr algn="l"/>
            <a:r>
              <a:rPr sz="1200" b="1" i="0">
                <a:solidFill>
                  <a:srgbClr val="7C5CE0"/>
                </a:solidFill>
                <a:latin typeface="Nunito Sans"/>
              </a:rPr>
              <a:t>LONG TERM</a:t>
            </a:r>
          </a:p>
        </p:txBody>
      </p:sp>
      <p:sp>
        <p:nvSpPr>
          <p:cNvPr id="20" name="TextBox 19"/>
          <p:cNvSpPr txBox="1"/>
          <p:nvPr/>
        </p:nvSpPr>
        <p:spPr>
          <a:xfrm>
            <a:off x="3331520" y="5585000"/>
            <a:ext cx="7798480" cy="266700"/>
          </a:xfrm>
          <a:prstGeom prst="rect">
            <a:avLst/>
          </a:prstGeom>
          <a:noFill/>
        </p:spPr>
        <p:txBody>
          <a:bodyPr wrap="square" lIns="0" rIns="0" tIns="0" bIns="0">
            <a:spAutoFit/>
          </a:bodyPr>
          <a:lstStyle/>
          <a:p>
            <a:pPr algn="l"/>
            <a:r>
              <a:rPr sz="1400" b="0" i="0">
                <a:solidFill>
                  <a:srgbClr val="241C3B"/>
                </a:solidFill>
                <a:latin typeface="Nunito Sans"/>
              </a:rPr>
              <a:t>International expansion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MÖJLIGHETEN</a:t>
            </a:r>
          </a:p>
        </p:txBody>
      </p:sp>
      <p:sp>
        <p:nvSpPr>
          <p:cNvPr id="5" name="TextBox 4"/>
          <p:cNvSpPr txBox="1"/>
          <p:nvPr/>
        </p:nvSpPr>
        <p:spPr>
          <a:xfrm>
            <a:off x="731520" y="880000"/>
            <a:ext cx="10698480" cy="476250"/>
          </a:xfrm>
          <a:prstGeom prst="rect">
            <a:avLst/>
          </a:prstGeom>
          <a:noFill/>
        </p:spPr>
        <p:txBody>
          <a:bodyPr wrap="square" lIns="0" rIns="0" tIns="0" bIns="0">
            <a:spAutoFit/>
          </a:bodyPr>
          <a:lstStyle/>
          <a:p>
            <a:pPr algn="l"/>
            <a:r>
              <a:rPr sz="2500" b="1" i="0">
                <a:solidFill>
                  <a:srgbClr val="241C3B"/>
                </a:solidFill>
                <a:latin typeface="Nunito Sans"/>
              </a:rPr>
              <a:t>En stor målgrupp med vardagsproblem som fortfarande är splittrade.</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Externa uppskattningar – inte MyFloves egna användar- eller intäktssiffror.</a:t>
            </a:r>
          </a:p>
        </p:txBody>
      </p:sp>
      <p:sp>
        <p:nvSpPr>
          <p:cNvPr id="7" name="Rounded Rectangle 6"/>
          <p:cNvSpPr/>
          <p:nvPr/>
        </p:nvSpPr>
        <p:spPr>
          <a:xfrm>
            <a:off x="7315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vuxna globalt: 140M+</a:t>
            </a:r>
          </a:p>
        </p:txBody>
      </p:sp>
      <p:sp>
        <p:nvSpPr>
          <p:cNvPr id="10" name="TextBox 9"/>
          <p:cNvSpPr txBox="1"/>
          <p:nvPr/>
        </p:nvSpPr>
        <p:spPr>
          <a:xfrm>
            <a:off x="8961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uppskattning vid 2,58 % ADHD-prevalens</a:t>
            </a:r>
          </a:p>
        </p:txBody>
      </p:sp>
      <p:sp>
        <p:nvSpPr>
          <p:cNvPr id="11" name="Rounded Rectangle 10"/>
          <p:cNvSpPr/>
          <p:nvPr/>
        </p:nvSpPr>
        <p:spPr>
          <a:xfrm>
            <a:off x="34747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vuxna i Sverige: ~3 %</a:t>
            </a:r>
          </a:p>
        </p:txBody>
      </p:sp>
      <p:sp>
        <p:nvSpPr>
          <p:cNvPr id="14" name="TextBox 13"/>
          <p:cNvSpPr txBox="1"/>
          <p:nvPr/>
        </p:nvSpPr>
        <p:spPr>
          <a:xfrm>
            <a:off x="36393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Socialstyrelsens angivna nivå</a:t>
            </a:r>
          </a:p>
        </p:txBody>
      </p:sp>
      <p:sp>
        <p:nvSpPr>
          <p:cNvPr id="15" name="Rounded Rectangle 14"/>
          <p:cNvSpPr/>
          <p:nvPr/>
        </p:nvSpPr>
        <p:spPr>
          <a:xfrm>
            <a:off x="62179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 ADHD-appar 2025: $1,9B</a:t>
            </a:r>
          </a:p>
        </p:txBody>
      </p:sp>
      <p:sp>
        <p:nvSpPr>
          <p:cNvPr id="18" name="TextBox 17"/>
          <p:cNvSpPr txBox="1"/>
          <p:nvPr/>
        </p:nvSpPr>
        <p:spPr>
          <a:xfrm>
            <a:off x="63825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extern marknadsuppskattning</a:t>
            </a:r>
          </a:p>
        </p:txBody>
      </p:sp>
      <p:sp>
        <p:nvSpPr>
          <p:cNvPr id="19" name="Rounded Rectangle 18"/>
          <p:cNvSpPr/>
          <p:nvPr/>
        </p:nvSpPr>
        <p:spPr>
          <a:xfrm>
            <a:off x="89611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 ADHD-appar 2033: $6,7B</a:t>
            </a:r>
          </a:p>
        </p:txBody>
      </p:sp>
      <p:sp>
        <p:nvSpPr>
          <p:cNvPr id="22" name="TextBox 21"/>
          <p:cNvSpPr txBox="1"/>
          <p:nvPr/>
        </p:nvSpPr>
        <p:spPr>
          <a:xfrm>
            <a:off x="91257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prognos</a:t>
            </a:r>
          </a:p>
        </p:txBody>
      </p:sp>
      <p:sp>
        <p:nvSpPr>
          <p:cNvPr id="23" name="TextBox 22"/>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Källor: PubMed (2021) · Socialstyrelsen · Grand View Research. Marknadssiffror är uppskattningar och prognoser.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41C3B"/>
        </a:solidFill>
        <a:effectLst/>
      </p:bgPr>
    </p:bg>
    <p:spTree>
      <p:nvGrpSpPr>
        <p:cNvPr id="1" name=""/>
        <p:cNvGrpSpPr/>
        <p:nvPr/>
      </p:nvGrpSpPr>
      <p:grpSpPr/>
      <p:sp>
        <p:nvSpPr>
          <p:cNvPr id="2" name="Rounded Rectangle 1"/>
          <p:cNvSpPr/>
          <p:nvPr/>
        </p:nvSpPr>
        <p:spPr>
          <a:xfrm>
            <a:off x="11338560" y="6035040"/>
            <a:ext cx="1463040" cy="1463040"/>
          </a:xfrm>
          <a:prstGeom prst="roundRect">
            <a:avLst/>
          </a:prstGeom>
          <a:solidFill>
            <a:srgbClr val="3A2C5C"/>
          </a:solidFill>
          <a:ln>
            <a:solidFill>
              <a:srgbClr val="3A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00000"/>
            <a:ext cx="9000000" cy="381000"/>
          </a:xfrm>
          <a:prstGeom prst="rect">
            <a:avLst/>
          </a:prstGeom>
          <a:noFill/>
        </p:spPr>
        <p:txBody>
          <a:bodyPr wrap="square" lIns="0" rIns="0" tIns="0" bIns="0">
            <a:spAutoFit/>
          </a:bodyPr>
          <a:lstStyle/>
          <a:p>
            <a:pPr algn="l"/>
            <a:r>
              <a:rPr sz="2000" b="1" i="0">
                <a:solidFill>
                  <a:srgbClr val="A98CF0"/>
                </a:solidFill>
                <a:latin typeface="Nunito Sans"/>
              </a:rPr>
              <a:t>MYFLOVE</a:t>
            </a:r>
          </a:p>
        </p:txBody>
      </p:sp>
      <p:sp>
        <p:nvSpPr>
          <p:cNvPr id="4" name="TextBox 3"/>
          <p:cNvSpPr txBox="1"/>
          <p:nvPr/>
        </p:nvSpPr>
        <p:spPr>
          <a:xfrm>
            <a:off x="731520" y="2300000"/>
            <a:ext cx="9200000" cy="647700"/>
          </a:xfrm>
          <a:prstGeom prst="rect">
            <a:avLst/>
          </a:prstGeom>
          <a:noFill/>
        </p:spPr>
        <p:txBody>
          <a:bodyPr wrap="square" lIns="0" rIns="0" tIns="0" bIns="0">
            <a:spAutoFit/>
          </a:bodyPr>
          <a:lstStyle/>
          <a:p>
            <a:pPr algn="l">
              <a:lnSpc>
                <a:spcPct val="115000"/>
              </a:lnSpc>
            </a:pPr>
            <a:r>
              <a:rPr sz="3400" b="1" i="0">
                <a:solidFill>
                  <a:srgbClr val="FFFFFF"/>
                </a:solidFill>
                <a:latin typeface="Nunito Sans"/>
              </a:rPr>
              <a:t>Vardagen ska inte kräva</a:t>
            </a:r>
          </a:p>
          <a:p>
            <a:pPr algn="l">
              <a:lnSpc>
                <a:spcPct val="115000"/>
              </a:lnSpc>
            </a:pPr>
            <a:r>
              <a:rPr sz="3400" b="1" i="0">
                <a:solidFill>
                  <a:srgbClr val="FFFFFF"/>
                </a:solidFill>
                <a:latin typeface="Nunito Sans"/>
              </a:rPr>
              <a:t>att du är någon annan.</a:t>
            </a:r>
          </a:p>
        </p:txBody>
      </p:sp>
      <p:sp>
        <p:nvSpPr>
          <p:cNvPr id="5" name="TextBox 4"/>
          <p:cNvSpPr txBox="1"/>
          <p:nvPr/>
        </p:nvSpPr>
        <p:spPr>
          <a:xfrm>
            <a:off x="731520" y="4100000"/>
            <a:ext cx="9200000" cy="323850"/>
          </a:xfrm>
          <a:prstGeom prst="rect">
            <a:avLst/>
          </a:prstGeom>
          <a:noFill/>
        </p:spPr>
        <p:txBody>
          <a:bodyPr wrap="square" lIns="0" rIns="0" tIns="0" bIns="0">
            <a:spAutoFit/>
          </a:bodyPr>
          <a:lstStyle/>
          <a:p>
            <a:pPr algn="l">
              <a:lnSpc>
                <a:spcPct val="135000"/>
              </a:lnSpc>
            </a:pPr>
            <a:r>
              <a:rPr sz="1700" b="0" i="0">
                <a:solidFill>
                  <a:srgbClr val="A98CF0"/>
                </a:solidFill>
                <a:latin typeface="Nunito Sans"/>
              </a:rPr>
              <a:t>Flow hjälper dig att hitta nästa steg – med mer lugn och mindre mental belastning.</a:t>
            </a:r>
          </a:p>
        </p:txBody>
      </p:sp>
      <p:sp>
        <p:nvSpPr>
          <p:cNvPr id="6" name="TextBox 5"/>
          <p:cNvSpPr txBox="1"/>
          <p:nvPr/>
        </p:nvSpPr>
        <p:spPr>
          <a:xfrm>
            <a:off x="731520" y="5349240"/>
            <a:ext cx="9200000" cy="247650"/>
          </a:xfrm>
          <a:prstGeom prst="rect">
            <a:avLst/>
          </a:prstGeom>
          <a:noFill/>
        </p:spPr>
        <p:txBody>
          <a:bodyPr wrap="square" lIns="0" rIns="0" tIns="0" bIns="0">
            <a:spAutoFit/>
          </a:bodyPr>
          <a:lstStyle/>
          <a:p>
            <a:pPr algn="l"/>
            <a:r>
              <a:rPr sz="1300" b="0" i="0">
                <a:solidFill>
                  <a:srgbClr val="DED8EC"/>
                </a:solidFill>
                <a:latin typeface="Nunito Sans"/>
              </a:rPr>
              <a:t>myflove.lovable.app  ·  version 4.1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01" y="480060"/>
            <a:ext cx="10728693" cy="1371600"/>
          </a:xfrm>
          <a:prstGeom prst="rect">
            <a:avLst/>
          </a:prstGeom>
          <a:noFill/>
        </p:spPr>
        <p:txBody>
          <a:bodyPr wrap="square">
            <a:spAutoFit/>
          </a:bodyPr>
          <a:lstStyle/>
          <a:p>
            <a:r>
              <a:rPr sz="4000" b="1">
                <a:solidFill>
                  <a:srgbClr val="3A2D50"/>
                </a:solidFill>
                <a:latin typeface="Calibri"/>
              </a:rPr>
              <a:t>Live product demo — 27 seconds</a:t>
            </a:r>
          </a:p>
          <a:p>
            <a:r>
              <a:rPr sz="2000">
                <a:solidFill>
                  <a:srgbClr val="695C82"/>
                </a:solidFill>
                <a:latin typeface="Calibri"/>
              </a:rPr>
              <a:t>QuickFlow → Flow → the plan adapts to capacity → My Day. Real screens from the live app.</a:t>
            </a:r>
          </a:p>
        </p:txBody>
      </p:sp>
      <p:sp>
        <p:nvSpPr>
          <p:cNvPr id="7" name="TextBox 6"/>
          <p:cNvSpPr txBox="1"/>
          <p:nvPr/>
        </p:nvSpPr>
        <p:spPr>
          <a:xfrm>
            <a:off x="731501" y="4457652"/>
            <a:ext cx="10728693" cy="1371600"/>
          </a:xfrm>
          <a:prstGeom prst="rect">
            <a:avLst/>
          </a:prstGeom>
          <a:noFill/>
        </p:spPr>
        <p:txBody>
          <a:bodyPr wrap="square">
            <a:spAutoFit/>
          </a:bodyPr>
          <a:lstStyle/>
          <a:p>
            <a:r>
              <a:rPr sz="2600" b="1">
                <a:solidFill>
                  <a:srgbClr val="6E5AA6"/>
                </a:solidFill>
                <a:latin typeface="Calibri"/>
              </a:rPr>
              <a:t>“The goal isn’t to get more done. It’s to make the day more doable.”</a:t>
            </a:r>
          </a:p>
          <a:p>
            <a:r>
              <a:rPr sz="1600">
                <a:solidFill>
                  <a:srgbClr val="695C82"/>
                </a:solidFill>
                <a:latin typeface="Calibri"/>
              </a:rPr>
              <a:t>Video file: myflove-demo-20s.mp4  ·  27 s  ·  same tasks planned at high energy (4 h) vs low energy (30 min)</a:t>
            </a:r>
          </a:p>
        </p:txBody>
      </p:sp>
      <p:pic>
        <p:nvPicPr>
          <p:cNvPr id="8" name="Picture 7" descr="image.jpg"/>
          <p:cNvPicPr>
            <a:picLocks noChangeAspect="1"/>
          </p:cNvPicPr>
          <p:nvPr/>
        </p:nvPicPr>
        <p:blipFill>
          <a:blip r:embed="rId2"/>
          <a:stretch>
            <a:fillRect/>
          </a:stretch>
        </p:blipFill>
        <p:spPr>
          <a:xfrm>
            <a:off x="731501" y="2500000"/>
            <a:ext cx="2017738" cy="1134977"/>
          </a:xfrm>
          <a:prstGeom prst="rect">
            <a:avLst/>
          </a:prstGeom>
        </p:spPr>
      </p:pic>
      <p:pic>
        <p:nvPicPr>
          <p:cNvPr id="9" name="Picture 8" descr="image.jpg"/>
          <p:cNvPicPr>
            <a:picLocks noChangeAspect="1"/>
          </p:cNvPicPr>
          <p:nvPr/>
        </p:nvPicPr>
        <p:blipFill>
          <a:blip r:embed="rId3"/>
          <a:stretch>
            <a:fillRect/>
          </a:stretch>
        </p:blipFill>
        <p:spPr>
          <a:xfrm>
            <a:off x="2909239" y="2500000"/>
            <a:ext cx="2017738" cy="1134977"/>
          </a:xfrm>
          <a:prstGeom prst="rect">
            <a:avLst/>
          </a:prstGeom>
        </p:spPr>
      </p:pic>
      <p:pic>
        <p:nvPicPr>
          <p:cNvPr id="10" name="Picture 9" descr="myflove-demo-adapt-a.jpg"/>
          <p:cNvPicPr>
            <a:picLocks noChangeAspect="1"/>
          </p:cNvPicPr>
          <p:nvPr/>
        </p:nvPicPr>
        <p:blipFill>
          <a:blip r:embed="rId5"/>
          <a:stretch>
            <a:fillRect/>
          </a:stretch>
        </p:blipFill>
        <p:spPr>
          <a:xfrm>
            <a:off x="5086977" y="2500000"/>
            <a:ext cx="2017738" cy="1134977"/>
          </a:xfrm>
          <a:prstGeom prst="rect">
            <a:avLst/>
          </a:prstGeom>
        </p:spPr>
      </p:pic>
      <p:pic>
        <p:nvPicPr>
          <p:cNvPr id="11" name="Picture 10" descr="myflove-demo-adapt-b.jpg"/>
          <p:cNvPicPr>
            <a:picLocks noChangeAspect="1"/>
          </p:cNvPicPr>
          <p:nvPr/>
        </p:nvPicPr>
        <p:blipFill>
          <a:blip r:embed="rId6"/>
          <a:stretch>
            <a:fillRect/>
          </a:stretch>
        </p:blipFill>
        <p:spPr>
          <a:xfrm>
            <a:off x="7264715" y="2500000"/>
            <a:ext cx="2017738" cy="1134977"/>
          </a:xfrm>
          <a:prstGeom prst="rect">
            <a:avLst/>
          </a:prstGeom>
        </p:spPr>
      </p:pic>
      <p:pic>
        <p:nvPicPr>
          <p:cNvPr id="12" name="Picture 11" descr="image.jpg"/>
          <p:cNvPicPr>
            <a:picLocks noChangeAspect="1"/>
          </p:cNvPicPr>
          <p:nvPr/>
        </p:nvPicPr>
        <p:blipFill>
          <a:blip r:embed="rId4"/>
          <a:stretch>
            <a:fillRect/>
          </a:stretch>
        </p:blipFill>
        <p:spPr>
          <a:xfrm>
            <a:off x="9442453" y="2500000"/>
            <a:ext cx="2017738" cy="113497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