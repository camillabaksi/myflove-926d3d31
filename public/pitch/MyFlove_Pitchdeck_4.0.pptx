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41C3B"/>
        </a:solidFill>
        <a:effectLst/>
      </p:bgPr>
    </p:bg>
    <p:spTree>
      <p:nvGrpSpPr>
        <p:cNvPr id="1" name=""/>
        <p:cNvGrpSpPr/>
        <p:nvPr/>
      </p:nvGrpSpPr>
      <p:grpSpPr/>
      <p:sp>
        <p:nvSpPr>
          <p:cNvPr id="2" name="Rounded Rectangle 1"/>
          <p:cNvSpPr/>
          <p:nvPr/>
        </p:nvSpPr>
        <p:spPr>
          <a:xfrm>
            <a:off x="11338560" y="6035040"/>
            <a:ext cx="1463040" cy="1463040"/>
          </a:xfrm>
          <a:prstGeom prst="roundRect">
            <a:avLst/>
          </a:prstGeom>
          <a:solidFill>
            <a:srgbClr val="3A2C5C"/>
          </a:solidFill>
          <a:ln>
            <a:solidFill>
              <a:srgbClr val="3A2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png"/>
          <p:cNvPicPr>
            <a:picLocks noChangeAspect="1"/>
          </p:cNvPicPr>
          <p:nvPr/>
        </p:nvPicPr>
        <p:blipFill>
          <a:blip r:embed="rId2"/>
          <a:stretch>
            <a:fillRect/>
          </a:stretch>
        </p:blipFill>
        <p:spPr>
          <a:xfrm>
            <a:off x="8823960" y="914400"/>
            <a:ext cx="2194560" cy="1482547"/>
          </a:xfrm>
          <a:prstGeom prst="rect">
            <a:avLst/>
          </a:prstGeom>
        </p:spPr>
      </p:pic>
      <p:sp>
        <p:nvSpPr>
          <p:cNvPr id="4" name="TextBox 3"/>
          <p:cNvSpPr txBox="1"/>
          <p:nvPr/>
        </p:nvSpPr>
        <p:spPr>
          <a:xfrm>
            <a:off x="731520" y="1097280"/>
            <a:ext cx="7680960" cy="381000"/>
          </a:xfrm>
          <a:prstGeom prst="rect">
            <a:avLst/>
          </a:prstGeom>
          <a:noFill/>
        </p:spPr>
        <p:txBody>
          <a:bodyPr wrap="square" lIns="0" rIns="0" tIns="0" bIns="0">
            <a:spAutoFit/>
          </a:bodyPr>
          <a:lstStyle/>
          <a:p>
            <a:pPr algn="l"/>
            <a:r>
              <a:rPr sz="2000" b="1" i="0">
                <a:solidFill>
                  <a:srgbClr val="A98CF0"/>
                </a:solidFill>
                <a:latin typeface="Nunito Sans"/>
              </a:rPr>
              <a:t>MYFLOVE</a:t>
            </a:r>
          </a:p>
        </p:txBody>
      </p:sp>
      <p:sp>
        <p:nvSpPr>
          <p:cNvPr id="5" name="TextBox 4"/>
          <p:cNvSpPr txBox="1"/>
          <p:nvPr/>
        </p:nvSpPr>
        <p:spPr>
          <a:xfrm>
            <a:off x="731520" y="1828800"/>
            <a:ext cx="7680960" cy="723900"/>
          </a:xfrm>
          <a:prstGeom prst="rect">
            <a:avLst/>
          </a:prstGeom>
          <a:noFill/>
        </p:spPr>
        <p:txBody>
          <a:bodyPr wrap="square" lIns="0" rIns="0" tIns="0" bIns="0">
            <a:spAutoFit/>
          </a:bodyPr>
          <a:lstStyle/>
          <a:p>
            <a:pPr algn="l">
              <a:lnSpc>
                <a:spcPct val="110000"/>
              </a:lnSpc>
            </a:pPr>
            <a:r>
              <a:rPr sz="3800" b="1" i="0">
                <a:solidFill>
                  <a:srgbClr val="FFFFFF"/>
                </a:solidFill>
                <a:latin typeface="Nunito Sans"/>
              </a:rPr>
              <a:t>En enda lugn väg</a:t>
            </a:r>
          </a:p>
          <a:p>
            <a:pPr algn="l">
              <a:lnSpc>
                <a:spcPct val="110000"/>
              </a:lnSpc>
            </a:pPr>
            <a:r>
              <a:rPr sz="3800" b="1" i="0">
                <a:solidFill>
                  <a:srgbClr val="FFFFFF"/>
                </a:solidFill>
                <a:latin typeface="Nunito Sans"/>
              </a:rPr>
              <a:t>genom vardagen.</a:t>
            </a:r>
          </a:p>
        </p:txBody>
      </p:sp>
      <p:sp>
        <p:nvSpPr>
          <p:cNvPr id="6" name="TextBox 5"/>
          <p:cNvSpPr txBox="1"/>
          <p:nvPr/>
        </p:nvSpPr>
        <p:spPr>
          <a:xfrm>
            <a:off x="731520" y="3977639"/>
            <a:ext cx="7132320" cy="323850"/>
          </a:xfrm>
          <a:prstGeom prst="rect">
            <a:avLst/>
          </a:prstGeom>
          <a:noFill/>
        </p:spPr>
        <p:txBody>
          <a:bodyPr wrap="square" lIns="0" rIns="0" tIns="0" bIns="0">
            <a:spAutoFit/>
          </a:bodyPr>
          <a:lstStyle/>
          <a:p>
            <a:pPr algn="l">
              <a:lnSpc>
                <a:spcPct val="135000"/>
              </a:lnSpc>
            </a:pPr>
            <a:r>
              <a:rPr sz="1700" b="0" i="0">
                <a:solidFill>
                  <a:srgbClr val="A98CF0"/>
                </a:solidFill>
                <a:latin typeface="Nunito Sans"/>
              </a:rPr>
              <a:t>Flow som följeslagare.</a:t>
            </a:r>
          </a:p>
          <a:p>
            <a:pPr algn="l">
              <a:lnSpc>
                <a:spcPct val="135000"/>
              </a:lnSpc>
            </a:pPr>
            <a:r>
              <a:rPr sz="1700" b="0" i="0">
                <a:solidFill>
                  <a:srgbClr val="A98CF0"/>
                </a:solidFill>
                <a:latin typeface="Nunito Sans"/>
              </a:rPr>
              <a:t>Energi som kompass.</a:t>
            </a:r>
          </a:p>
          <a:p>
            <a:pPr algn="l">
              <a:lnSpc>
                <a:spcPct val="135000"/>
              </a:lnSpc>
            </a:pPr>
            <a:r>
              <a:rPr sz="1700" b="0" i="0">
                <a:solidFill>
                  <a:srgbClr val="A98CF0"/>
                </a:solidFill>
                <a:latin typeface="Nunito Sans"/>
              </a:rPr>
              <a:t>Nästa steg som känns möjligt.</a:t>
            </a:r>
          </a:p>
        </p:txBody>
      </p:sp>
      <p:sp>
        <p:nvSpPr>
          <p:cNvPr id="7" name="TextBox 6"/>
          <p:cNvSpPr txBox="1"/>
          <p:nvPr/>
        </p:nvSpPr>
        <p:spPr>
          <a:xfrm>
            <a:off x="731520" y="5349240"/>
            <a:ext cx="7315200" cy="247650"/>
          </a:xfrm>
          <a:prstGeom prst="rect">
            <a:avLst/>
          </a:prstGeom>
          <a:noFill/>
        </p:spPr>
        <p:txBody>
          <a:bodyPr wrap="square" lIns="0" rIns="0" tIns="0" bIns="0">
            <a:spAutoFit/>
          </a:bodyPr>
          <a:lstStyle/>
          <a:p>
            <a:pPr algn="l"/>
            <a:r>
              <a:rPr sz="1300" b="0" i="0">
                <a:solidFill>
                  <a:srgbClr val="DBD3ED"/>
                </a:solidFill>
                <a:latin typeface="Nunito Sans"/>
              </a:rPr>
              <a:t>Pitch 2026 · version 4.0 · 2026-09-03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FÖRORD</a:t>
            </a:r>
          </a:p>
        </p:txBody>
      </p:sp>
      <p:sp>
        <p:nvSpPr>
          <p:cNvPr id="5" name="TextBox 4"/>
          <p:cNvSpPr txBox="1"/>
          <p:nvPr/>
        </p:nvSpPr>
        <p:spPr>
          <a:xfrm>
            <a:off x="731520" y="860000"/>
            <a:ext cx="10698480" cy="476250"/>
          </a:xfrm>
          <a:prstGeom prst="rect">
            <a:avLst/>
          </a:prstGeom>
          <a:noFill/>
        </p:spPr>
        <p:txBody>
          <a:bodyPr wrap="square" lIns="0" rIns="0" tIns="0" bIns="0">
            <a:spAutoFit/>
          </a:bodyPr>
          <a:lstStyle/>
          <a:p>
            <a:pPr algn="l"/>
            <a:r>
              <a:rPr sz="2500" b="1" i="0">
                <a:solidFill>
                  <a:srgbClr val="241C3B"/>
                </a:solidFill>
                <a:latin typeface="Nunito Sans"/>
              </a:rPr>
              <a:t>Varför jag bygger MyFlove</a:t>
            </a:r>
          </a:p>
        </p:txBody>
      </p:sp>
      <p:sp>
        <p:nvSpPr>
          <p:cNvPr id="6" name="Rounded Rectangle 5"/>
          <p:cNvSpPr/>
          <p:nvPr/>
        </p:nvSpPr>
        <p:spPr>
          <a:xfrm>
            <a:off x="731520" y="1440000"/>
            <a:ext cx="10698480" cy="425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20" y="1700000"/>
            <a:ext cx="10058480" cy="228600"/>
          </a:xfrm>
          <a:prstGeom prst="rect">
            <a:avLst/>
          </a:prstGeom>
          <a:noFill/>
        </p:spPr>
        <p:txBody>
          <a:bodyPr wrap="square" lIns="0" rIns="0" tIns="0" bIns="0">
            <a:spAutoFit/>
          </a:bodyPr>
          <a:lstStyle/>
          <a:p>
            <a:pPr algn="l">
              <a:lnSpc>
                <a:spcPct val="132000"/>
              </a:lnSpc>
              <a:spcAft>
                <a:spcPts val="900"/>
              </a:spcAft>
            </a:pPr>
            <a:r>
              <a:rPr sz="1200" b="0" i="1">
                <a:solidFill>
                  <a:srgbClr val="6F6789"/>
                </a:solidFill>
                <a:latin typeface="Nunito Sans"/>
              </a:rPr>
              <a:t>”MyFlove började inte med en idé om att bygga ännu en app. Det började med en frustration och en fråga: varför är det så svårt att få vardagen att fungera, även när man vet vad man behöver göra?”</a:t>
            </a:r>
          </a:p>
          <a:p>
            <a:pPr algn="l">
              <a:lnSpc>
                <a:spcPct val="132000"/>
              </a:lnSpc>
              <a:spcAft>
                <a:spcPts val="900"/>
              </a:spcAft>
            </a:pPr>
            <a:r>
              <a:rPr sz="1200" b="0" i="1">
                <a:solidFill>
                  <a:srgbClr val="6F6789"/>
                </a:solidFill>
                <a:latin typeface="Nunito Sans"/>
              </a:rPr>
              <a:t>”Jag är utbildad humanistisk socialpedagog och har vidareutbildat mig inom NPF, pedagogik, problematisk skolfrånvaro samt professionellt bemötande vid trauma och svåra händelser. Genom mina yrkesroller som ungdomscoach, boendestödjare och barnskötare har jag mött människor ur flera olika perspektiv och sett hur behovet av rätt stöd kan se väldigt olika ut.”</a:t>
            </a:r>
          </a:p>
          <a:p>
            <a:pPr algn="l">
              <a:lnSpc>
                <a:spcPct val="132000"/>
              </a:lnSpc>
              <a:spcAft>
                <a:spcPts val="900"/>
              </a:spcAft>
            </a:pPr>
            <a:r>
              <a:rPr sz="1200" b="0" i="1">
                <a:solidFill>
                  <a:srgbClr val="6F6789"/>
                </a:solidFill>
                <a:latin typeface="Nunito Sans"/>
              </a:rPr>
              <a:t>”Samtidigt har jag själv ADHD och är förälder till en dotter med autism och ADHD. Det har gett mig en personlig förståelse för den mentala belastning som kan uppstå när vardagens krav, ansvar, planering och energi inte går ihop.”</a:t>
            </a:r>
          </a:p>
          <a:p>
            <a:pPr algn="l">
              <a:lnSpc>
                <a:spcPct val="132000"/>
              </a:lnSpc>
              <a:spcAft>
                <a:spcPts val="900"/>
              </a:spcAft>
            </a:pPr>
            <a:r>
              <a:rPr sz="1200" b="0" i="1">
                <a:solidFill>
                  <a:srgbClr val="6F6789"/>
                </a:solidFill>
                <a:latin typeface="Nunito Sans"/>
              </a:rPr>
              <a:t>”I mötet mellan min professionella kunskap och mina egna erfarenheter växte en tydlig bild fram: vi har många digitala verktyg som hjälper oss att hålla reda på vad vi ska göra, men betydligt färre som hjälper oss att förstå vad vi faktiskt har kapacitet att göra.”</a:t>
            </a:r>
          </a:p>
          <a:p>
            <a:pPr algn="l">
              <a:lnSpc>
                <a:spcPct val="132000"/>
              </a:lnSpc>
              <a:spcAft>
                <a:spcPts val="900"/>
              </a:spcAft>
            </a:pPr>
            <a:r>
              <a:rPr sz="1200" b="0" i="1">
                <a:solidFill>
                  <a:srgbClr val="6F6789"/>
                </a:solidFill>
                <a:latin typeface="Nunito Sans"/>
              </a:rPr>
              <a:t>”Det är där MyFlove börjar. Jag vill bygga ett stöd som inte kräver att människan anpassar sig efter systemet, utan ett system som anpassar sig efter människans förutsättningar – och hjälper till att hitta nästa steg.”</a:t>
            </a:r>
          </a:p>
        </p:txBody>
      </p:sp>
      <p:sp>
        <p:nvSpPr>
          <p:cNvPr id="8" name="TextBox 7"/>
          <p:cNvSpPr txBox="1"/>
          <p:nvPr/>
        </p:nvSpPr>
        <p:spPr>
          <a:xfrm>
            <a:off x="1051520" y="5150000"/>
            <a:ext cx="5000000" cy="266700"/>
          </a:xfrm>
          <a:prstGeom prst="rect">
            <a:avLst/>
          </a:prstGeom>
          <a:noFill/>
        </p:spPr>
        <p:txBody>
          <a:bodyPr wrap="square" lIns="0" rIns="0" tIns="0" bIns="0">
            <a:spAutoFit/>
          </a:bodyPr>
          <a:lstStyle/>
          <a:p>
            <a:pPr algn="l"/>
            <a:r>
              <a:rPr sz="1400" b="1" i="0">
                <a:solidFill>
                  <a:srgbClr val="241C3B"/>
                </a:solidFill>
                <a:latin typeface="Nunito Sans"/>
              </a:rPr>
              <a:t>Camilla Baksi</a:t>
            </a:r>
          </a:p>
        </p:txBody>
      </p:sp>
      <p:sp>
        <p:nvSpPr>
          <p:cNvPr id="9" name="TextBox 8"/>
          <p:cNvSpPr txBox="1"/>
          <p:nvPr/>
        </p:nvSpPr>
        <p:spPr>
          <a:xfrm>
            <a:off x="1051520" y="5420000"/>
            <a:ext cx="5000000" cy="228600"/>
          </a:xfrm>
          <a:prstGeom prst="rect">
            <a:avLst/>
          </a:prstGeom>
          <a:noFill/>
        </p:spPr>
        <p:txBody>
          <a:bodyPr wrap="square" lIns="0" rIns="0" tIns="0" bIns="0">
            <a:spAutoFit/>
          </a:bodyPr>
          <a:lstStyle/>
          <a:p>
            <a:pPr algn="l"/>
            <a:r>
              <a:rPr sz="1200" b="0" i="0">
                <a:solidFill>
                  <a:srgbClr val="7C5CE0"/>
                </a:solidFill>
                <a:latin typeface="Nunito Sans"/>
              </a:rPr>
              <a:t>Founder, MyFlove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PROBLEMET</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Vardagen kräver mer än en lista</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När energi, tid och ansvar inte hänger ihop blir användaren själv systemet.</a:t>
            </a:r>
          </a:p>
        </p:txBody>
      </p:sp>
      <p:sp>
        <p:nvSpPr>
          <p:cNvPr id="7" name="Rounded Rectangle 6"/>
          <p:cNvSpPr/>
          <p:nvPr/>
        </p:nvSpPr>
        <p:spPr>
          <a:xfrm>
            <a:off x="7315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Kalendern</a:t>
            </a:r>
          </a:p>
        </p:txBody>
      </p:sp>
      <p:sp>
        <p:nvSpPr>
          <p:cNvPr id="10" name="TextBox 9"/>
          <p:cNvSpPr txBox="1"/>
          <p:nvPr/>
        </p:nvSpPr>
        <p:spPr>
          <a:xfrm>
            <a:off x="8961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Visar när – inte om du orkar.</a:t>
            </a:r>
          </a:p>
        </p:txBody>
      </p:sp>
      <p:sp>
        <p:nvSpPr>
          <p:cNvPr id="11" name="Rounded Rectangle 10"/>
          <p:cNvSpPr/>
          <p:nvPr/>
        </p:nvSpPr>
        <p:spPr>
          <a:xfrm>
            <a:off x="43891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Listan</a:t>
            </a:r>
          </a:p>
        </p:txBody>
      </p:sp>
      <p:sp>
        <p:nvSpPr>
          <p:cNvPr id="14" name="TextBox 13"/>
          <p:cNvSpPr txBox="1"/>
          <p:nvPr/>
        </p:nvSpPr>
        <p:spPr>
          <a:xfrm>
            <a:off x="45537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Växer när kapaciteten sjunker.</a:t>
            </a:r>
          </a:p>
        </p:txBody>
      </p:sp>
      <p:sp>
        <p:nvSpPr>
          <p:cNvPr id="15" name="Rounded Rectangle 14"/>
          <p:cNvSpPr/>
          <p:nvPr/>
        </p:nvSpPr>
        <p:spPr>
          <a:xfrm>
            <a:off x="80467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Splittringen</a:t>
            </a:r>
          </a:p>
        </p:txBody>
      </p:sp>
      <p:sp>
        <p:nvSpPr>
          <p:cNvPr id="18" name="TextBox 17"/>
          <p:cNvSpPr txBox="1"/>
          <p:nvPr/>
        </p:nvSpPr>
        <p:spPr>
          <a:xfrm>
            <a:off x="82113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Tider, hälsa och vardag ligger isär.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INSIKTEN</a:t>
            </a:r>
          </a:p>
        </p:txBody>
      </p:sp>
      <p:sp>
        <p:nvSpPr>
          <p:cNvPr id="5" name="Rounded Rectangle 4"/>
          <p:cNvSpPr/>
          <p:nvPr/>
        </p:nvSpPr>
        <p:spPr>
          <a:xfrm>
            <a:off x="731520" y="1600000"/>
            <a:ext cx="10698480" cy="33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1520" y="1980000"/>
            <a:ext cx="9898480" cy="476250"/>
          </a:xfrm>
          <a:prstGeom prst="rect">
            <a:avLst/>
          </a:prstGeom>
          <a:noFill/>
        </p:spPr>
        <p:txBody>
          <a:bodyPr wrap="square" lIns="0" rIns="0" tIns="0" bIns="0">
            <a:spAutoFit/>
          </a:bodyPr>
          <a:lstStyle/>
          <a:p>
            <a:pPr algn="l">
              <a:lnSpc>
                <a:spcPct val="120000"/>
              </a:lnSpc>
            </a:pPr>
            <a:r>
              <a:rPr sz="2500" b="1" i="0">
                <a:solidFill>
                  <a:srgbClr val="241C3B"/>
                </a:solidFill>
                <a:latin typeface="Nunito Sans"/>
              </a:rPr>
              <a:t>Planera efter energi, inte bara efter tid.</a:t>
            </a:r>
          </a:p>
        </p:txBody>
      </p:sp>
      <p:sp>
        <p:nvSpPr>
          <p:cNvPr id="7" name="TextBox 6"/>
          <p:cNvSpPr txBox="1"/>
          <p:nvPr/>
        </p:nvSpPr>
        <p:spPr>
          <a:xfrm>
            <a:off x="1131520" y="2900000"/>
            <a:ext cx="9898480" cy="266700"/>
          </a:xfrm>
          <a:prstGeom prst="rect">
            <a:avLst/>
          </a:prstGeom>
          <a:noFill/>
        </p:spPr>
        <p:txBody>
          <a:bodyPr wrap="square" lIns="0" rIns="0" tIns="0" bIns="0">
            <a:spAutoFit/>
          </a:bodyPr>
          <a:lstStyle/>
          <a:p>
            <a:pPr algn="l">
              <a:lnSpc>
                <a:spcPct val="140000"/>
              </a:lnSpc>
              <a:spcAft>
                <a:spcPts val="1000"/>
              </a:spcAft>
            </a:pPr>
            <a:r>
              <a:rPr sz="1400" b="0" i="0">
                <a:solidFill>
                  <a:srgbClr val="6F6789"/>
                </a:solidFill>
                <a:latin typeface="Nunito Sans"/>
              </a:rPr>
              <a:t>Ett bra vardagsstöd hjälper dig att välja vad som är rimligt nu – utan att döma.</a:t>
            </a:r>
          </a:p>
          <a:p>
            <a:pPr algn="l">
              <a:lnSpc>
                <a:spcPct val="140000"/>
              </a:lnSpc>
              <a:spcAft>
                <a:spcPts val="1000"/>
              </a:spcAft>
            </a:pPr>
            <a:r>
              <a:rPr sz="1400" b="0" i="0">
                <a:solidFill>
                  <a:srgbClr val="6F6789"/>
                </a:solidFill>
                <a:latin typeface="Nunito Sans"/>
              </a:rPr>
              <a:t>MyFlove gör kapacitet synlig, samlar trådarna och ger en väg vidare.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LÖSNINGEN</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Inte ännu en kalender eller att-göra-lista</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MyFlove hjälper människor att förstå, prioritera och genomföra det de faktiskt har kapacitet att göra.</a:t>
            </a:r>
          </a:p>
        </p:txBody>
      </p:sp>
      <p:sp>
        <p:nvSpPr>
          <p:cNvPr id="7" name="Rounded Rectangle 6"/>
          <p:cNvSpPr/>
          <p:nvPr/>
        </p:nvSpPr>
        <p:spPr>
          <a:xfrm>
            <a:off x="7315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Vad behöver göras?</a:t>
            </a:r>
          </a:p>
        </p:txBody>
      </p:sp>
      <p:sp>
        <p:nvSpPr>
          <p:cNvPr id="10" name="TextBox 9"/>
          <p:cNvSpPr txBox="1"/>
          <p:nvPr/>
        </p:nvSpPr>
        <p:spPr>
          <a:xfrm>
            <a:off x="8961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Allt samlas på ett ställe.</a:t>
            </a:r>
          </a:p>
        </p:txBody>
      </p:sp>
      <p:sp>
        <p:nvSpPr>
          <p:cNvPr id="11" name="Rounded Rectangle 10"/>
          <p:cNvSpPr/>
          <p:nvPr/>
        </p:nvSpPr>
        <p:spPr>
          <a:xfrm>
            <a:off x="34747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39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Hur mycket kapacitet finns?</a:t>
            </a:r>
          </a:p>
        </p:txBody>
      </p:sp>
      <p:sp>
        <p:nvSpPr>
          <p:cNvPr id="14" name="TextBox 13"/>
          <p:cNvSpPr txBox="1"/>
          <p:nvPr/>
        </p:nvSpPr>
        <p:spPr>
          <a:xfrm>
            <a:off x="36393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Energi och mående blir synligt.</a:t>
            </a:r>
          </a:p>
        </p:txBody>
      </p:sp>
      <p:sp>
        <p:nvSpPr>
          <p:cNvPr id="15" name="Rounded Rectangle 14"/>
          <p:cNvSpPr/>
          <p:nvPr/>
        </p:nvSpPr>
        <p:spPr>
          <a:xfrm>
            <a:off x="62179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Vad är rimligt just nu?</a:t>
            </a:r>
          </a:p>
        </p:txBody>
      </p:sp>
      <p:sp>
        <p:nvSpPr>
          <p:cNvPr id="18" name="TextBox 17"/>
          <p:cNvSpPr txBox="1"/>
          <p:nvPr/>
        </p:nvSpPr>
        <p:spPr>
          <a:xfrm>
            <a:off x="63825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Förslag anpassade efter dagen.</a:t>
            </a:r>
          </a:p>
        </p:txBody>
      </p:sp>
      <p:sp>
        <p:nvSpPr>
          <p:cNvPr id="19" name="Rounded Rectangle 18"/>
          <p:cNvSpPr/>
          <p:nvPr/>
        </p:nvSpPr>
        <p:spPr>
          <a:xfrm>
            <a:off x="89611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Vad är nästa steg?</a:t>
            </a:r>
          </a:p>
        </p:txBody>
      </p:sp>
      <p:sp>
        <p:nvSpPr>
          <p:cNvPr id="22" name="TextBox 21"/>
          <p:cNvSpPr txBox="1"/>
          <p:nvPr/>
        </p:nvSpPr>
        <p:spPr>
          <a:xfrm>
            <a:off x="91257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En sak i taget, utan press.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PRODUKTEN</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Ett lugnt system för hela vardagen</a:t>
            </a:r>
          </a:p>
        </p:txBody>
      </p:sp>
      <p:sp>
        <p:nvSpPr>
          <p:cNvPr id="6" name="Rounded Rectangle 5"/>
          <p:cNvSpPr/>
          <p:nvPr/>
        </p:nvSpPr>
        <p:spPr>
          <a:xfrm>
            <a:off x="731520" y="2700000"/>
            <a:ext cx="3383280" cy="23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112" y="28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3120000"/>
            <a:ext cx="3054096" cy="304800"/>
          </a:xfrm>
          <a:prstGeom prst="rect">
            <a:avLst/>
          </a:prstGeom>
          <a:noFill/>
        </p:spPr>
        <p:txBody>
          <a:bodyPr wrap="square" lIns="0" rIns="0" tIns="0" bIns="0">
            <a:spAutoFit/>
          </a:bodyPr>
          <a:lstStyle/>
          <a:p>
            <a:pPr algn="l"/>
            <a:r>
              <a:rPr sz="1600" b="1" i="0">
                <a:solidFill>
                  <a:srgbClr val="241C3B"/>
                </a:solidFill>
                <a:latin typeface="Nunito Sans"/>
              </a:rPr>
              <a:t>Mitt batteri</a:t>
            </a:r>
          </a:p>
        </p:txBody>
      </p:sp>
      <p:sp>
        <p:nvSpPr>
          <p:cNvPr id="9" name="TextBox 8"/>
          <p:cNvSpPr txBox="1"/>
          <p:nvPr/>
        </p:nvSpPr>
        <p:spPr>
          <a:xfrm>
            <a:off x="896112" y="34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Energi och mående på ett enda ställe.</a:t>
            </a:r>
          </a:p>
        </p:txBody>
      </p:sp>
      <p:sp>
        <p:nvSpPr>
          <p:cNvPr id="10" name="Rounded Rectangle 9"/>
          <p:cNvSpPr/>
          <p:nvPr/>
        </p:nvSpPr>
        <p:spPr>
          <a:xfrm>
            <a:off x="4389120" y="2700000"/>
            <a:ext cx="3383280" cy="23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53712" y="28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3120000"/>
            <a:ext cx="3054096" cy="304800"/>
          </a:xfrm>
          <a:prstGeom prst="rect">
            <a:avLst/>
          </a:prstGeom>
          <a:noFill/>
        </p:spPr>
        <p:txBody>
          <a:bodyPr wrap="square" lIns="0" rIns="0" tIns="0" bIns="0">
            <a:spAutoFit/>
          </a:bodyPr>
          <a:lstStyle/>
          <a:p>
            <a:pPr algn="l"/>
            <a:r>
              <a:rPr sz="1600" b="1" i="0">
                <a:solidFill>
                  <a:srgbClr val="241C3B"/>
                </a:solidFill>
                <a:latin typeface="Nunito Sans"/>
              </a:rPr>
              <a:t>Idag</a:t>
            </a:r>
          </a:p>
        </p:txBody>
      </p:sp>
      <p:sp>
        <p:nvSpPr>
          <p:cNvPr id="13" name="TextBox 12"/>
          <p:cNvSpPr txBox="1"/>
          <p:nvPr/>
        </p:nvSpPr>
        <p:spPr>
          <a:xfrm>
            <a:off x="4553712" y="34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Det som ska hända nu, samlat.</a:t>
            </a:r>
          </a:p>
        </p:txBody>
      </p:sp>
      <p:sp>
        <p:nvSpPr>
          <p:cNvPr id="14" name="Rounded Rectangle 13"/>
          <p:cNvSpPr/>
          <p:nvPr/>
        </p:nvSpPr>
        <p:spPr>
          <a:xfrm>
            <a:off x="8046720" y="2700000"/>
            <a:ext cx="3383280" cy="23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11312" y="28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3120000"/>
            <a:ext cx="3054096" cy="304800"/>
          </a:xfrm>
          <a:prstGeom prst="rect">
            <a:avLst/>
          </a:prstGeom>
          <a:noFill/>
        </p:spPr>
        <p:txBody>
          <a:bodyPr wrap="square" lIns="0" rIns="0" tIns="0" bIns="0">
            <a:spAutoFit/>
          </a:bodyPr>
          <a:lstStyle/>
          <a:p>
            <a:pPr algn="l"/>
            <a:r>
              <a:rPr sz="1600" b="1" i="0">
                <a:solidFill>
                  <a:srgbClr val="241C3B"/>
                </a:solidFill>
                <a:latin typeface="Nunito Sans"/>
              </a:rPr>
              <a:t>QuickFlow</a:t>
            </a:r>
          </a:p>
        </p:txBody>
      </p:sp>
      <p:sp>
        <p:nvSpPr>
          <p:cNvPr id="17" name="TextBox 16"/>
          <p:cNvSpPr txBox="1"/>
          <p:nvPr/>
        </p:nvSpPr>
        <p:spPr>
          <a:xfrm>
            <a:off x="8211312" y="34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Få tanken ur huvudet direkt.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DEN DAGLIGA LOOPEN</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Fånga. Förstå. Anpassa. Fortsätt.</a:t>
            </a:r>
          </a:p>
        </p:txBody>
      </p:sp>
      <p:sp>
        <p:nvSpPr>
          <p:cNvPr id="6" name="Rounded Rectangle 5"/>
          <p:cNvSpPr/>
          <p:nvPr/>
        </p:nvSpPr>
        <p:spPr>
          <a:xfrm>
            <a:off x="731520" y="2900000"/>
            <a:ext cx="2468880" cy="2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1520" y="3150000"/>
            <a:ext cx="2068880" cy="457200"/>
          </a:xfrm>
          <a:prstGeom prst="rect">
            <a:avLst/>
          </a:prstGeom>
          <a:noFill/>
        </p:spPr>
        <p:txBody>
          <a:bodyPr wrap="square" lIns="0" rIns="0" tIns="0" bIns="0">
            <a:spAutoFit/>
          </a:bodyPr>
          <a:lstStyle/>
          <a:p>
            <a:pPr algn="l"/>
            <a:r>
              <a:rPr sz="2400" b="1" i="0">
                <a:solidFill>
                  <a:srgbClr val="A98CF0"/>
                </a:solidFill>
                <a:latin typeface="Nunito Sans"/>
              </a:rPr>
              <a:t>1</a:t>
            </a:r>
          </a:p>
        </p:txBody>
      </p:sp>
      <p:sp>
        <p:nvSpPr>
          <p:cNvPr id="8" name="TextBox 7"/>
          <p:cNvSpPr txBox="1"/>
          <p:nvPr/>
        </p:nvSpPr>
        <p:spPr>
          <a:xfrm>
            <a:off x="931520" y="3650000"/>
            <a:ext cx="2068880" cy="323850"/>
          </a:xfrm>
          <a:prstGeom prst="rect">
            <a:avLst/>
          </a:prstGeom>
          <a:noFill/>
        </p:spPr>
        <p:txBody>
          <a:bodyPr wrap="square" lIns="0" rIns="0" tIns="0" bIns="0">
            <a:spAutoFit/>
          </a:bodyPr>
          <a:lstStyle/>
          <a:p>
            <a:pPr algn="l"/>
            <a:r>
              <a:rPr sz="1700" b="1" i="0">
                <a:solidFill>
                  <a:srgbClr val="241C3B"/>
                </a:solidFill>
                <a:latin typeface="Nunito Sans"/>
              </a:rPr>
              <a:t>Fånga</a:t>
            </a:r>
          </a:p>
        </p:txBody>
      </p:sp>
      <p:sp>
        <p:nvSpPr>
          <p:cNvPr id="9" name="TextBox 8"/>
          <p:cNvSpPr txBox="1"/>
          <p:nvPr/>
        </p:nvSpPr>
        <p:spPr>
          <a:xfrm>
            <a:off x="931520" y="4080000"/>
            <a:ext cx="2068880"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QuickFlow samlar tanken.</a:t>
            </a:r>
          </a:p>
        </p:txBody>
      </p:sp>
      <p:sp>
        <p:nvSpPr>
          <p:cNvPr id="10" name="Rounded Rectangle 9"/>
          <p:cNvSpPr/>
          <p:nvPr/>
        </p:nvSpPr>
        <p:spPr>
          <a:xfrm>
            <a:off x="3474720" y="2900000"/>
            <a:ext cx="2468880" cy="2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4720" y="3150000"/>
            <a:ext cx="2068880" cy="457200"/>
          </a:xfrm>
          <a:prstGeom prst="rect">
            <a:avLst/>
          </a:prstGeom>
          <a:noFill/>
        </p:spPr>
        <p:txBody>
          <a:bodyPr wrap="square" lIns="0" rIns="0" tIns="0" bIns="0">
            <a:spAutoFit/>
          </a:bodyPr>
          <a:lstStyle/>
          <a:p>
            <a:pPr algn="l"/>
            <a:r>
              <a:rPr sz="2400" b="1" i="0">
                <a:solidFill>
                  <a:srgbClr val="A98CF0"/>
                </a:solidFill>
                <a:latin typeface="Nunito Sans"/>
              </a:rPr>
              <a:t>2</a:t>
            </a:r>
          </a:p>
        </p:txBody>
      </p:sp>
      <p:sp>
        <p:nvSpPr>
          <p:cNvPr id="12" name="TextBox 11"/>
          <p:cNvSpPr txBox="1"/>
          <p:nvPr/>
        </p:nvSpPr>
        <p:spPr>
          <a:xfrm>
            <a:off x="3674720" y="3650000"/>
            <a:ext cx="2068880" cy="323850"/>
          </a:xfrm>
          <a:prstGeom prst="rect">
            <a:avLst/>
          </a:prstGeom>
          <a:noFill/>
        </p:spPr>
        <p:txBody>
          <a:bodyPr wrap="square" lIns="0" rIns="0" tIns="0" bIns="0">
            <a:spAutoFit/>
          </a:bodyPr>
          <a:lstStyle/>
          <a:p>
            <a:pPr algn="l"/>
            <a:r>
              <a:rPr sz="1700" b="1" i="0">
                <a:solidFill>
                  <a:srgbClr val="241C3B"/>
                </a:solidFill>
                <a:latin typeface="Nunito Sans"/>
              </a:rPr>
              <a:t>Förstå</a:t>
            </a:r>
          </a:p>
        </p:txBody>
      </p:sp>
      <p:sp>
        <p:nvSpPr>
          <p:cNvPr id="13" name="TextBox 12"/>
          <p:cNvSpPr txBox="1"/>
          <p:nvPr/>
        </p:nvSpPr>
        <p:spPr>
          <a:xfrm>
            <a:off x="3674720" y="4080000"/>
            <a:ext cx="2068880"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Mitt batteri visar kapaciteten.</a:t>
            </a:r>
          </a:p>
        </p:txBody>
      </p:sp>
      <p:sp>
        <p:nvSpPr>
          <p:cNvPr id="14" name="Rounded Rectangle 13"/>
          <p:cNvSpPr/>
          <p:nvPr/>
        </p:nvSpPr>
        <p:spPr>
          <a:xfrm>
            <a:off x="6217920" y="2900000"/>
            <a:ext cx="2468880" cy="2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7920" y="3150000"/>
            <a:ext cx="2068880" cy="457200"/>
          </a:xfrm>
          <a:prstGeom prst="rect">
            <a:avLst/>
          </a:prstGeom>
          <a:noFill/>
        </p:spPr>
        <p:txBody>
          <a:bodyPr wrap="square" lIns="0" rIns="0" tIns="0" bIns="0">
            <a:spAutoFit/>
          </a:bodyPr>
          <a:lstStyle/>
          <a:p>
            <a:pPr algn="l"/>
            <a:r>
              <a:rPr sz="2400" b="1" i="0">
                <a:solidFill>
                  <a:srgbClr val="A98CF0"/>
                </a:solidFill>
                <a:latin typeface="Nunito Sans"/>
              </a:rPr>
              <a:t>3</a:t>
            </a:r>
          </a:p>
        </p:txBody>
      </p:sp>
      <p:sp>
        <p:nvSpPr>
          <p:cNvPr id="16" name="TextBox 15"/>
          <p:cNvSpPr txBox="1"/>
          <p:nvPr/>
        </p:nvSpPr>
        <p:spPr>
          <a:xfrm>
            <a:off x="6417920" y="3650000"/>
            <a:ext cx="2068880" cy="323850"/>
          </a:xfrm>
          <a:prstGeom prst="rect">
            <a:avLst/>
          </a:prstGeom>
          <a:noFill/>
        </p:spPr>
        <p:txBody>
          <a:bodyPr wrap="square" lIns="0" rIns="0" tIns="0" bIns="0">
            <a:spAutoFit/>
          </a:bodyPr>
          <a:lstStyle/>
          <a:p>
            <a:pPr algn="l"/>
            <a:r>
              <a:rPr sz="1700" b="1" i="0">
                <a:solidFill>
                  <a:srgbClr val="241C3B"/>
                </a:solidFill>
                <a:latin typeface="Nunito Sans"/>
              </a:rPr>
              <a:t>Anpassa</a:t>
            </a:r>
          </a:p>
        </p:txBody>
      </p:sp>
      <p:sp>
        <p:nvSpPr>
          <p:cNvPr id="17" name="TextBox 16"/>
          <p:cNvSpPr txBox="1"/>
          <p:nvPr/>
        </p:nvSpPr>
        <p:spPr>
          <a:xfrm>
            <a:off x="6417920" y="4080000"/>
            <a:ext cx="2068880"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FlowPlan föreslår en ordning.</a:t>
            </a:r>
          </a:p>
        </p:txBody>
      </p:sp>
      <p:sp>
        <p:nvSpPr>
          <p:cNvPr id="18" name="Rounded Rectangle 17"/>
          <p:cNvSpPr/>
          <p:nvPr/>
        </p:nvSpPr>
        <p:spPr>
          <a:xfrm>
            <a:off x="8961120" y="2900000"/>
            <a:ext cx="2468880" cy="2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61120" y="3150000"/>
            <a:ext cx="2068880" cy="457200"/>
          </a:xfrm>
          <a:prstGeom prst="rect">
            <a:avLst/>
          </a:prstGeom>
          <a:noFill/>
        </p:spPr>
        <p:txBody>
          <a:bodyPr wrap="square" lIns="0" rIns="0" tIns="0" bIns="0">
            <a:spAutoFit/>
          </a:bodyPr>
          <a:lstStyle/>
          <a:p>
            <a:pPr algn="l"/>
            <a:r>
              <a:rPr sz="2400" b="1" i="0">
                <a:solidFill>
                  <a:srgbClr val="A98CF0"/>
                </a:solidFill>
                <a:latin typeface="Nunito Sans"/>
              </a:rPr>
              <a:t>4</a:t>
            </a:r>
          </a:p>
        </p:txBody>
      </p:sp>
      <p:sp>
        <p:nvSpPr>
          <p:cNvPr id="20" name="TextBox 19"/>
          <p:cNvSpPr txBox="1"/>
          <p:nvPr/>
        </p:nvSpPr>
        <p:spPr>
          <a:xfrm>
            <a:off x="9161120" y="3650000"/>
            <a:ext cx="2068880" cy="323850"/>
          </a:xfrm>
          <a:prstGeom prst="rect">
            <a:avLst/>
          </a:prstGeom>
          <a:noFill/>
        </p:spPr>
        <p:txBody>
          <a:bodyPr wrap="square" lIns="0" rIns="0" tIns="0" bIns="0">
            <a:spAutoFit/>
          </a:bodyPr>
          <a:lstStyle/>
          <a:p>
            <a:pPr algn="l"/>
            <a:r>
              <a:rPr sz="1700" b="1" i="0">
                <a:solidFill>
                  <a:srgbClr val="241C3B"/>
                </a:solidFill>
                <a:latin typeface="Nunito Sans"/>
              </a:rPr>
              <a:t>Fortsätt</a:t>
            </a:r>
          </a:p>
        </p:txBody>
      </p:sp>
      <p:sp>
        <p:nvSpPr>
          <p:cNvPr id="21" name="TextBox 20"/>
          <p:cNvSpPr txBox="1"/>
          <p:nvPr/>
        </p:nvSpPr>
        <p:spPr>
          <a:xfrm>
            <a:off x="9161120" y="4080000"/>
            <a:ext cx="2068880"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Idag visar nästa rimliga steg.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FLOW</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En följeslagare som säger en sak i taget.</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Flow finns genom appen – i Hem, Idag, planeringen och hjälpen – med lugn ton och användaren i kontroll.</a:t>
            </a:r>
          </a:p>
        </p:txBody>
      </p:sp>
      <p:sp>
        <p:nvSpPr>
          <p:cNvPr id="7" name="Rounded Rectangle 6"/>
          <p:cNvSpPr/>
          <p:nvPr/>
        </p:nvSpPr>
        <p:spPr>
          <a:xfrm>
            <a:off x="731520" y="3154680"/>
            <a:ext cx="38120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5304"/>
            <a:ext cx="3482896" cy="304800"/>
          </a:xfrm>
          <a:prstGeom prst="rect">
            <a:avLst/>
          </a:prstGeom>
          <a:noFill/>
        </p:spPr>
        <p:txBody>
          <a:bodyPr wrap="square" lIns="0" rIns="0" tIns="0" bIns="0">
            <a:spAutoFit/>
          </a:bodyPr>
          <a:lstStyle/>
          <a:p>
            <a:pPr algn="l"/>
            <a:r>
              <a:rPr sz="1600" b="1" i="0">
                <a:solidFill>
                  <a:srgbClr val="241C3B"/>
                </a:solidFill>
                <a:latin typeface="Nunito Sans"/>
              </a:rPr>
              <a:t>Kontext</a:t>
            </a:r>
          </a:p>
        </p:txBody>
      </p:sp>
      <p:sp>
        <p:nvSpPr>
          <p:cNvPr id="10" name="TextBox 9"/>
          <p:cNvSpPr txBox="1"/>
          <p:nvPr/>
        </p:nvSpPr>
        <p:spPr>
          <a:xfrm>
            <a:off x="896112" y="3960000"/>
            <a:ext cx="34828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Förslag utifrån energi och situation.</a:t>
            </a:r>
          </a:p>
        </p:txBody>
      </p:sp>
      <p:sp>
        <p:nvSpPr>
          <p:cNvPr id="11" name="Rounded Rectangle 10"/>
          <p:cNvSpPr/>
          <p:nvPr/>
        </p:nvSpPr>
        <p:spPr>
          <a:xfrm>
            <a:off x="4817920" y="3154680"/>
            <a:ext cx="38120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82512" y="3575304"/>
            <a:ext cx="3482896" cy="304800"/>
          </a:xfrm>
          <a:prstGeom prst="rect">
            <a:avLst/>
          </a:prstGeom>
          <a:noFill/>
        </p:spPr>
        <p:txBody>
          <a:bodyPr wrap="square" lIns="0" rIns="0" tIns="0" bIns="0">
            <a:spAutoFit/>
          </a:bodyPr>
          <a:lstStyle/>
          <a:p>
            <a:pPr algn="l"/>
            <a:r>
              <a:rPr sz="1600" b="1" i="0">
                <a:solidFill>
                  <a:srgbClr val="241C3B"/>
                </a:solidFill>
                <a:latin typeface="Nunito Sans"/>
              </a:rPr>
              <a:t>Närvaro</a:t>
            </a:r>
          </a:p>
        </p:txBody>
      </p:sp>
      <p:sp>
        <p:nvSpPr>
          <p:cNvPr id="14" name="TextBox 13"/>
          <p:cNvSpPr txBox="1"/>
          <p:nvPr/>
        </p:nvSpPr>
        <p:spPr>
          <a:xfrm>
            <a:off x="4982512" y="3960000"/>
            <a:ext cx="34828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En levande karaktär, inte bara en ikon.</a:t>
            </a:r>
          </a:p>
        </p:txBody>
      </p:sp>
      <p:pic>
        <p:nvPicPr>
          <p:cNvPr id="15" name="Picture 14" descr="image1.png"/>
          <p:cNvPicPr>
            <a:picLocks noChangeAspect="1"/>
          </p:cNvPicPr>
          <p:nvPr/>
        </p:nvPicPr>
        <p:blipFill>
          <a:blip r:embed="rId2"/>
          <a:stretch>
            <a:fillRect/>
          </a:stretch>
        </p:blipFill>
        <p:spPr>
          <a:xfrm>
            <a:off x="8900000" y="3300000"/>
            <a:ext cx="2194560" cy="148254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DET SOM BYGGTS</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MyFlove är inte bara en idé – en fungerande produkt är byggd.</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En app som håller ihop även när livet inte gör det.</a:t>
            </a:r>
          </a:p>
        </p:txBody>
      </p:sp>
      <p:sp>
        <p:nvSpPr>
          <p:cNvPr id="7" name="Rounded Rectangle 6"/>
          <p:cNvSpPr/>
          <p:nvPr/>
        </p:nvSpPr>
        <p:spPr>
          <a:xfrm>
            <a:off x="7315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Blocksystem</a:t>
            </a:r>
          </a:p>
        </p:txBody>
      </p:sp>
      <p:sp>
        <p:nvSpPr>
          <p:cNvPr id="10" name="TextBox 9"/>
          <p:cNvSpPr txBox="1"/>
          <p:nvPr/>
        </p:nvSpPr>
        <p:spPr>
          <a:xfrm>
            <a:off x="8961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Responsiva tvåkolumns-grid, fullbreddsformulär och expanderbara kort.</a:t>
            </a:r>
          </a:p>
        </p:txBody>
      </p:sp>
      <p:sp>
        <p:nvSpPr>
          <p:cNvPr id="11" name="Rounded Rectangle 10"/>
          <p:cNvSpPr/>
          <p:nvPr/>
        </p:nvSpPr>
        <p:spPr>
          <a:xfrm>
            <a:off x="43891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Tillgänglighet</a:t>
            </a:r>
          </a:p>
        </p:txBody>
      </p:sp>
      <p:sp>
        <p:nvSpPr>
          <p:cNvPr id="14" name="TextBox 13"/>
          <p:cNvSpPr txBox="1"/>
          <p:nvPr/>
        </p:nvSpPr>
        <p:spPr>
          <a:xfrm>
            <a:off x="45537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Reduced motion, tydliga states och tillbaka till rätt plats.</a:t>
            </a:r>
          </a:p>
        </p:txBody>
      </p:sp>
      <p:sp>
        <p:nvSpPr>
          <p:cNvPr id="15" name="Rounded Rectangle 14"/>
          <p:cNvSpPr/>
          <p:nvPr/>
        </p:nvSpPr>
        <p:spPr>
          <a:xfrm>
            <a:off x="80467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Tillit</a:t>
            </a:r>
          </a:p>
        </p:txBody>
      </p:sp>
      <p:sp>
        <p:nvSpPr>
          <p:cNvPr id="18" name="TextBox 17"/>
          <p:cNvSpPr txBox="1"/>
          <p:nvPr/>
        </p:nvSpPr>
        <p:spPr>
          <a:xfrm>
            <a:off x="82113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Append-only historik, central statistik och en källa per sak.</a:t>
            </a:r>
          </a:p>
        </p:txBody>
      </p:sp>
      <p:sp>
        <p:nvSpPr>
          <p:cNvPr id="19" name="TextBox 18"/>
          <p:cNvSpPr txBox="1"/>
          <p:nvPr/>
        </p:nvSpPr>
        <p:spPr>
          <a:xfrm>
            <a:off x="731520" y="6200000"/>
            <a:ext cx="10698480" cy="171450"/>
          </a:xfrm>
          <a:prstGeom prst="rect">
            <a:avLst/>
          </a:prstGeom>
          <a:noFill/>
        </p:spPr>
        <p:txBody>
          <a:bodyPr wrap="square" lIns="0" rIns="0" tIns="0" bIns="0">
            <a:spAutoFit/>
          </a:bodyPr>
          <a:lstStyle/>
          <a:p>
            <a:pPr algn="l"/>
            <a:r>
              <a:rPr sz="900" b="0" i="0">
                <a:solidFill>
                  <a:srgbClr val="6F6789"/>
                </a:solidFill>
                <a:latin typeface="Nunito Sans"/>
              </a:rPr>
              <a:t>Status: Built – i drift som webbapp. Nästa steg: validering och mobila appar.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FOUNDER &amp; KOMPETENS</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Varför jag kan bygga MyFlove</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Kombinationen av professionell kunskap, yrkeserfarenhet, egen erfarenhet och produktutveckling.</a:t>
            </a:r>
          </a:p>
        </p:txBody>
      </p:sp>
      <p:sp>
        <p:nvSpPr>
          <p:cNvPr id="7" name="Rounded Rectangle 6"/>
          <p:cNvSpPr/>
          <p:nvPr/>
        </p:nvSpPr>
        <p:spPr>
          <a:xfrm>
            <a:off x="7315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Camilla Baksi – Founder</a:t>
            </a:r>
          </a:p>
        </p:txBody>
      </p:sp>
      <p:sp>
        <p:nvSpPr>
          <p:cNvPr id="10" name="TextBox 9"/>
          <p:cNvSpPr txBox="1"/>
          <p:nvPr/>
        </p:nvSpPr>
        <p:spPr>
          <a:xfrm>
            <a:off x="8961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Humanistisk socialpedagog</a:t>
            </a:r>
          </a:p>
          <a:p>
            <a:pPr algn="l">
              <a:lnSpc>
                <a:spcPct val="135000"/>
              </a:lnSpc>
              <a:spcAft>
                <a:spcPts val="500"/>
              </a:spcAft>
            </a:pPr>
            <a:r>
              <a:rPr sz="1200" b="0" i="0">
                <a:solidFill>
                  <a:srgbClr val="6F6789"/>
                </a:solidFill>
                <a:latin typeface="Nunito Sans"/>
              </a:rPr>
              <a:t>Utbildning inom NPF och pedagogik</a:t>
            </a:r>
          </a:p>
          <a:p>
            <a:pPr algn="l">
              <a:lnSpc>
                <a:spcPct val="135000"/>
              </a:lnSpc>
              <a:spcAft>
                <a:spcPts val="500"/>
              </a:spcAft>
            </a:pPr>
            <a:r>
              <a:rPr sz="1200" b="0" i="0">
                <a:solidFill>
                  <a:srgbClr val="6F6789"/>
                </a:solidFill>
                <a:latin typeface="Nunito Sans"/>
              </a:rPr>
              <a:t>Utbildning inom problematisk skolfrånvaro</a:t>
            </a:r>
          </a:p>
          <a:p>
            <a:pPr algn="l">
              <a:lnSpc>
                <a:spcPct val="135000"/>
              </a:lnSpc>
              <a:spcAft>
                <a:spcPts val="500"/>
              </a:spcAft>
            </a:pPr>
            <a:r>
              <a:rPr sz="1200" b="0" i="0">
                <a:solidFill>
                  <a:srgbClr val="6F6789"/>
                </a:solidFill>
                <a:latin typeface="Nunito Sans"/>
              </a:rPr>
              <a:t>Professionellt bemötande vid trauma</a:t>
            </a:r>
          </a:p>
        </p:txBody>
      </p:sp>
      <p:sp>
        <p:nvSpPr>
          <p:cNvPr id="11" name="Rounded Rectangle 10"/>
          <p:cNvSpPr/>
          <p:nvPr/>
        </p:nvSpPr>
        <p:spPr>
          <a:xfrm>
            <a:off x="43891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Yrkeserfarenhet</a:t>
            </a:r>
          </a:p>
        </p:txBody>
      </p:sp>
      <p:sp>
        <p:nvSpPr>
          <p:cNvPr id="14" name="TextBox 13"/>
          <p:cNvSpPr txBox="1"/>
          <p:nvPr/>
        </p:nvSpPr>
        <p:spPr>
          <a:xfrm>
            <a:off x="45537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Ungdomscoach</a:t>
            </a:r>
          </a:p>
          <a:p>
            <a:pPr algn="l">
              <a:lnSpc>
                <a:spcPct val="135000"/>
              </a:lnSpc>
              <a:spcAft>
                <a:spcPts val="500"/>
              </a:spcAft>
            </a:pPr>
            <a:r>
              <a:rPr sz="1200" b="0" i="0">
                <a:solidFill>
                  <a:srgbClr val="6F6789"/>
                </a:solidFill>
                <a:latin typeface="Nunito Sans"/>
              </a:rPr>
              <a:t>Boendestödjare</a:t>
            </a:r>
          </a:p>
          <a:p>
            <a:pPr algn="l">
              <a:lnSpc>
                <a:spcPct val="135000"/>
              </a:lnSpc>
              <a:spcAft>
                <a:spcPts val="500"/>
              </a:spcAft>
            </a:pPr>
            <a:r>
              <a:rPr sz="1200" b="0" i="0">
                <a:solidFill>
                  <a:srgbClr val="6F6789"/>
                </a:solidFill>
                <a:latin typeface="Nunito Sans"/>
              </a:rPr>
              <a:t>Barnskötare</a:t>
            </a:r>
          </a:p>
          <a:p>
            <a:pPr algn="l">
              <a:lnSpc>
                <a:spcPct val="135000"/>
              </a:lnSpc>
              <a:spcAft>
                <a:spcPts val="500"/>
              </a:spcAft>
            </a:pPr>
            <a:r>
              <a:rPr sz="1200" b="0" i="0">
                <a:solidFill>
                  <a:srgbClr val="6F6789"/>
                </a:solidFill>
                <a:latin typeface="Nunito Sans"/>
              </a:rPr>
              <a:t>Möter behov ur flera perspektiv</a:t>
            </a:r>
          </a:p>
        </p:txBody>
      </p:sp>
      <p:sp>
        <p:nvSpPr>
          <p:cNvPr id="15" name="Rounded Rectangle 14"/>
          <p:cNvSpPr/>
          <p:nvPr/>
        </p:nvSpPr>
        <p:spPr>
          <a:xfrm>
            <a:off x="80467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Levd erfarenhet</a:t>
            </a:r>
          </a:p>
        </p:txBody>
      </p:sp>
      <p:sp>
        <p:nvSpPr>
          <p:cNvPr id="18" name="TextBox 17"/>
          <p:cNvSpPr txBox="1"/>
          <p:nvPr/>
        </p:nvSpPr>
        <p:spPr>
          <a:xfrm>
            <a:off x="82113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Egen ADHD</a:t>
            </a:r>
          </a:p>
          <a:p>
            <a:pPr algn="l">
              <a:lnSpc>
                <a:spcPct val="135000"/>
              </a:lnSpc>
              <a:spcAft>
                <a:spcPts val="500"/>
              </a:spcAft>
            </a:pPr>
            <a:r>
              <a:rPr sz="1200" b="0" i="0">
                <a:solidFill>
                  <a:srgbClr val="6F6789"/>
                </a:solidFill>
                <a:latin typeface="Nunito Sans"/>
              </a:rPr>
              <a:t>Förälder till barn med autism och ADHD</a:t>
            </a:r>
          </a:p>
          <a:p>
            <a:pPr algn="l">
              <a:lnSpc>
                <a:spcPct val="135000"/>
              </a:lnSpc>
              <a:spcAft>
                <a:spcPts val="500"/>
              </a:spcAft>
            </a:pPr>
            <a:r>
              <a:rPr sz="1200" b="0" i="0">
                <a:solidFill>
                  <a:srgbClr val="6F6789"/>
                </a:solidFill>
                <a:latin typeface="Nunito Sans"/>
              </a:rPr>
              <a:t>Bygger och driver MyFlove som produkt</a:t>
            </a:r>
          </a:p>
          <a:p>
            <a:pPr algn="l">
              <a:lnSpc>
                <a:spcPct val="135000"/>
              </a:lnSpc>
              <a:spcAft>
                <a:spcPts val="500"/>
              </a:spcAft>
            </a:pPr>
            <a:r>
              <a:rPr sz="1200" b="0" i="0">
                <a:solidFill>
                  <a:srgbClr val="6F6789"/>
                </a:solidFill>
                <a:latin typeface="Nunito Sans"/>
              </a:rPr>
              <a:t>Entreprenörskap och produktutveckling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VALIDATION / TRACTION</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From product to proof</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MyFlove går nu in i strukturerad validering. Inga användar-, intäkts- eller effektsiffror redovisas innan de är mätta.</a:t>
            </a:r>
          </a:p>
        </p:txBody>
      </p:sp>
      <p:sp>
        <p:nvSpPr>
          <p:cNvPr id="7" name="Rounded Rectangle 6"/>
          <p:cNvSpPr/>
          <p:nvPr/>
        </p:nvSpPr>
        <p:spPr>
          <a:xfrm>
            <a:off x="731520" y="2950000"/>
            <a:ext cx="3383280" cy="25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13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370000"/>
            <a:ext cx="3054096" cy="304800"/>
          </a:xfrm>
          <a:prstGeom prst="rect">
            <a:avLst/>
          </a:prstGeom>
          <a:noFill/>
        </p:spPr>
        <p:txBody>
          <a:bodyPr wrap="square" lIns="0" rIns="0" tIns="0" bIns="0">
            <a:spAutoFit/>
          </a:bodyPr>
          <a:lstStyle/>
          <a:p>
            <a:pPr algn="l"/>
            <a:r>
              <a:rPr sz="1600" b="1" i="0">
                <a:solidFill>
                  <a:srgbClr val="241C3B"/>
                </a:solidFill>
                <a:latin typeface="Nunito Sans"/>
              </a:rPr>
              <a:t>Built</a:t>
            </a:r>
          </a:p>
        </p:txBody>
      </p:sp>
      <p:sp>
        <p:nvSpPr>
          <p:cNvPr id="10" name="TextBox 9"/>
          <p:cNvSpPr txBox="1"/>
          <p:nvPr/>
        </p:nvSpPr>
        <p:spPr>
          <a:xfrm>
            <a:off x="896112" y="374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Fungerande webbapp i drift</a:t>
            </a:r>
          </a:p>
          <a:p>
            <a:pPr algn="l">
              <a:lnSpc>
                <a:spcPct val="135000"/>
              </a:lnSpc>
              <a:spcAft>
                <a:spcPts val="500"/>
              </a:spcAft>
            </a:pPr>
            <a:r>
              <a:rPr sz="1200" b="0" i="0">
                <a:solidFill>
                  <a:srgbClr val="6F6789"/>
                </a:solidFill>
                <a:latin typeface="Nunito Sans"/>
              </a:rPr>
              <a:t>QuickFlow, Mitt batteri, FlowPlan, Idag</a:t>
            </a:r>
          </a:p>
          <a:p>
            <a:pPr algn="l">
              <a:lnSpc>
                <a:spcPct val="135000"/>
              </a:lnSpc>
              <a:spcAft>
                <a:spcPts val="500"/>
              </a:spcAft>
            </a:pPr>
            <a:r>
              <a:rPr sz="1200" b="0" i="0">
                <a:solidFill>
                  <a:srgbClr val="6F6789"/>
                </a:solidFill>
                <a:latin typeface="Nunito Sans"/>
              </a:rPr>
              <a:t>Flow som följeslagare</a:t>
            </a:r>
          </a:p>
          <a:p>
            <a:pPr algn="l">
              <a:lnSpc>
                <a:spcPct val="135000"/>
              </a:lnSpc>
              <a:spcAft>
                <a:spcPts val="500"/>
              </a:spcAft>
            </a:pPr>
            <a:r>
              <a:rPr sz="1200" b="0" i="0">
                <a:solidFill>
                  <a:srgbClr val="6F6789"/>
                </a:solidFill>
                <a:latin typeface="Nunito Sans"/>
              </a:rPr>
              <a:t>Demo-/investerarkonto</a:t>
            </a:r>
          </a:p>
        </p:txBody>
      </p:sp>
      <p:sp>
        <p:nvSpPr>
          <p:cNvPr id="11" name="Rounded Rectangle 10"/>
          <p:cNvSpPr/>
          <p:nvPr/>
        </p:nvSpPr>
        <p:spPr>
          <a:xfrm>
            <a:off x="4389120" y="2950000"/>
            <a:ext cx="3383280" cy="25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13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370000"/>
            <a:ext cx="3054096" cy="304800"/>
          </a:xfrm>
          <a:prstGeom prst="rect">
            <a:avLst/>
          </a:prstGeom>
          <a:noFill/>
        </p:spPr>
        <p:txBody>
          <a:bodyPr wrap="square" lIns="0" rIns="0" tIns="0" bIns="0">
            <a:spAutoFit/>
          </a:bodyPr>
          <a:lstStyle/>
          <a:p>
            <a:pPr algn="l"/>
            <a:r>
              <a:rPr sz="1600" b="1" i="0">
                <a:solidFill>
                  <a:srgbClr val="241C3B"/>
                </a:solidFill>
                <a:latin typeface="Nunito Sans"/>
              </a:rPr>
              <a:t>Being validated – pilot</a:t>
            </a:r>
          </a:p>
        </p:txBody>
      </p:sp>
      <p:sp>
        <p:nvSpPr>
          <p:cNvPr id="14" name="TextBox 13"/>
          <p:cNvSpPr txBox="1"/>
          <p:nvPr/>
        </p:nvSpPr>
        <p:spPr>
          <a:xfrm>
            <a:off x="4553712" y="374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Användning och återkommande användning</a:t>
            </a:r>
          </a:p>
          <a:p>
            <a:pPr algn="l">
              <a:lnSpc>
                <a:spcPct val="135000"/>
              </a:lnSpc>
              <a:spcAft>
                <a:spcPts val="500"/>
              </a:spcAft>
            </a:pPr>
            <a:r>
              <a:rPr sz="1200" b="0" i="0">
                <a:solidFill>
                  <a:srgbClr val="6F6789"/>
                </a:solidFill>
                <a:latin typeface="Nunito Sans"/>
              </a:rPr>
              <a:t>QuickFlow och Mitt batteri</a:t>
            </a:r>
          </a:p>
          <a:p>
            <a:pPr algn="l">
              <a:lnSpc>
                <a:spcPct val="135000"/>
              </a:lnSpc>
              <a:spcAft>
                <a:spcPts val="500"/>
              </a:spcAft>
            </a:pPr>
            <a:r>
              <a:rPr sz="1200" b="0" i="0">
                <a:solidFill>
                  <a:srgbClr val="6F6789"/>
                </a:solidFill>
                <a:latin typeface="Nunito Sans"/>
              </a:rPr>
              <a:t>Flow/AI-upplevelse</a:t>
            </a:r>
          </a:p>
          <a:p>
            <a:pPr algn="l">
              <a:lnSpc>
                <a:spcPct val="135000"/>
              </a:lnSpc>
              <a:spcAft>
                <a:spcPts val="500"/>
              </a:spcAft>
            </a:pPr>
            <a:r>
              <a:rPr sz="1200" b="0" i="0">
                <a:solidFill>
                  <a:srgbClr val="6F6789"/>
                </a:solidFill>
                <a:latin typeface="Nunito Sans"/>
              </a:rPr>
              <a:t>Upplevd mental belastning och kontroll</a:t>
            </a:r>
          </a:p>
          <a:p>
            <a:pPr algn="l">
              <a:lnSpc>
                <a:spcPct val="135000"/>
              </a:lnSpc>
              <a:spcAft>
                <a:spcPts val="500"/>
              </a:spcAft>
            </a:pPr>
            <a:r>
              <a:rPr sz="1200" b="0" i="0">
                <a:solidFill>
                  <a:srgbClr val="6F6789"/>
                </a:solidFill>
                <a:latin typeface="Nunito Sans"/>
              </a:rPr>
              <a:t>Förmåga att prioritera</a:t>
            </a:r>
          </a:p>
        </p:txBody>
      </p:sp>
      <p:sp>
        <p:nvSpPr>
          <p:cNvPr id="15" name="Rounded Rectangle 14"/>
          <p:cNvSpPr/>
          <p:nvPr/>
        </p:nvSpPr>
        <p:spPr>
          <a:xfrm>
            <a:off x="8046720" y="2950000"/>
            <a:ext cx="3383280" cy="25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13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370000"/>
            <a:ext cx="3054096" cy="304800"/>
          </a:xfrm>
          <a:prstGeom prst="rect">
            <a:avLst/>
          </a:prstGeom>
          <a:noFill/>
        </p:spPr>
        <p:txBody>
          <a:bodyPr wrap="square" lIns="0" rIns="0" tIns="0" bIns="0">
            <a:spAutoFit/>
          </a:bodyPr>
          <a:lstStyle/>
          <a:p>
            <a:pPr algn="l"/>
            <a:r>
              <a:rPr sz="1600" b="1" i="0">
                <a:solidFill>
                  <a:srgbClr val="241C3B"/>
                </a:solidFill>
                <a:latin typeface="Nunito Sans"/>
              </a:rPr>
              <a:t>To be validated</a:t>
            </a:r>
          </a:p>
        </p:txBody>
      </p:sp>
      <p:sp>
        <p:nvSpPr>
          <p:cNvPr id="18" name="TextBox 17"/>
          <p:cNvSpPr txBox="1"/>
          <p:nvPr/>
        </p:nvSpPr>
        <p:spPr>
          <a:xfrm>
            <a:off x="8211312" y="374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Vilja att fortsätta använda</a:t>
            </a:r>
          </a:p>
          <a:p>
            <a:pPr algn="l">
              <a:lnSpc>
                <a:spcPct val="135000"/>
              </a:lnSpc>
              <a:spcAft>
                <a:spcPts val="500"/>
              </a:spcAft>
            </a:pPr>
            <a:r>
              <a:rPr sz="1200" b="0" i="0">
                <a:solidFill>
                  <a:srgbClr val="6F6789"/>
                </a:solidFill>
                <a:latin typeface="Nunito Sans"/>
              </a:rPr>
              <a:t>Betalningsvilja</a:t>
            </a:r>
          </a:p>
          <a:p>
            <a:pPr algn="l">
              <a:lnSpc>
                <a:spcPct val="135000"/>
              </a:lnSpc>
              <a:spcAft>
                <a:spcPts val="500"/>
              </a:spcAft>
            </a:pPr>
            <a:r>
              <a:rPr sz="1200" b="0" i="0">
                <a:solidFill>
                  <a:srgbClr val="6F6789"/>
                </a:solidFill>
                <a:latin typeface="Nunito Sans"/>
              </a:rPr>
              <a:t>Effekt över tid</a:t>
            </a:r>
          </a:p>
          <a:p>
            <a:pPr algn="l">
              <a:lnSpc>
                <a:spcPct val="135000"/>
              </a:lnSpc>
              <a:spcAft>
                <a:spcPts val="500"/>
              </a:spcAft>
            </a:pPr>
            <a:r>
              <a:rPr sz="1200" b="0" i="0">
                <a:solidFill>
                  <a:srgbClr val="6F6789"/>
                </a:solidFill>
                <a:latin typeface="Nunito Sans"/>
              </a:rPr>
              <a:t>B2B/B2G-intresse</a:t>
            </a:r>
          </a:p>
        </p:txBody>
      </p:sp>
      <p:sp>
        <p:nvSpPr>
          <p:cNvPr id="19" name="TextBox 18"/>
          <p:cNvSpPr txBox="1"/>
          <p:nvPr/>
        </p:nvSpPr>
        <p:spPr>
          <a:xfrm>
            <a:off x="731520" y="6200000"/>
            <a:ext cx="10698480" cy="171450"/>
          </a:xfrm>
          <a:prstGeom prst="rect">
            <a:avLst/>
          </a:prstGeom>
          <a:noFill/>
        </p:spPr>
        <p:txBody>
          <a:bodyPr wrap="square" lIns="0" rIns="0" tIns="0" bIns="0">
            <a:spAutoFit/>
          </a:bodyPr>
          <a:lstStyle/>
          <a:p>
            <a:pPr algn="l"/>
            <a:r>
              <a:rPr sz="900" b="0" i="0">
                <a:solidFill>
                  <a:srgbClr val="6F6789"/>
                </a:solidFill>
                <a:latin typeface="Nunito Sans"/>
              </a:rPr>
              <a:t>Placeholder: pilotens omfattning, deltagarantal och mätperiod fylls i inför investerarmöte.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AFFÄRSMODELL</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Flera möjliga intäktsvägar – en valideras först</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Prissättning är ännu inte satt. Inga priser eller intäktsantaganden presenteras innan de är validerade.</a:t>
            </a:r>
          </a:p>
        </p:txBody>
      </p:sp>
      <p:sp>
        <p:nvSpPr>
          <p:cNvPr id="7" name="Rounded Rectangle 6"/>
          <p:cNvSpPr/>
          <p:nvPr/>
        </p:nvSpPr>
        <p:spPr>
          <a:xfrm>
            <a:off x="7315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B2C – Free / Premium</a:t>
            </a:r>
          </a:p>
        </p:txBody>
      </p:sp>
      <p:sp>
        <p:nvSpPr>
          <p:cNvPr id="10" name="TextBox 9"/>
          <p:cNvSpPr txBox="1"/>
          <p:nvPr/>
        </p:nvSpPr>
        <p:spPr>
          <a:xfrm>
            <a:off x="8961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Grundfunktioner fria</a:t>
            </a:r>
          </a:p>
          <a:p>
            <a:pPr algn="l">
              <a:lnSpc>
                <a:spcPct val="135000"/>
              </a:lnSpc>
              <a:spcAft>
                <a:spcPts val="500"/>
              </a:spcAft>
            </a:pPr>
            <a:r>
              <a:rPr sz="1200" b="0" i="0">
                <a:solidFill>
                  <a:srgbClr val="6F6789"/>
                </a:solidFill>
                <a:latin typeface="Nunito Sans"/>
              </a:rPr>
              <a:t>Premium för fördjupning</a:t>
            </a:r>
          </a:p>
          <a:p>
            <a:pPr algn="l">
              <a:lnSpc>
                <a:spcPct val="135000"/>
              </a:lnSpc>
              <a:spcAft>
                <a:spcPts val="500"/>
              </a:spcAft>
            </a:pPr>
            <a:r>
              <a:rPr sz="1200" b="0" i="0">
                <a:solidFill>
                  <a:srgbClr val="6F6789"/>
                </a:solidFill>
                <a:latin typeface="Nunito Sans"/>
              </a:rPr>
              <a:t>Pris: to be validated</a:t>
            </a:r>
          </a:p>
        </p:txBody>
      </p:sp>
      <p:sp>
        <p:nvSpPr>
          <p:cNvPr id="11" name="Rounded Rectangle 10"/>
          <p:cNvSpPr/>
          <p:nvPr/>
        </p:nvSpPr>
        <p:spPr>
          <a:xfrm>
            <a:off x="43891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B2B – Arbetsgivare</a:t>
            </a:r>
          </a:p>
        </p:txBody>
      </p:sp>
      <p:sp>
        <p:nvSpPr>
          <p:cNvPr id="14" name="TextBox 13"/>
          <p:cNvSpPr txBox="1"/>
          <p:nvPr/>
        </p:nvSpPr>
        <p:spPr>
          <a:xfrm>
            <a:off x="45537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Stöd för medarbetare</a:t>
            </a:r>
          </a:p>
          <a:p>
            <a:pPr algn="l">
              <a:lnSpc>
                <a:spcPct val="135000"/>
              </a:lnSpc>
              <a:spcAft>
                <a:spcPts val="500"/>
              </a:spcAft>
            </a:pPr>
            <a:r>
              <a:rPr sz="1200" b="0" i="0">
                <a:solidFill>
                  <a:srgbClr val="6F6789"/>
                </a:solidFill>
                <a:latin typeface="Nunito Sans"/>
              </a:rPr>
              <a:t>Hållbar arbetsvardag</a:t>
            </a:r>
          </a:p>
          <a:p>
            <a:pPr algn="l">
              <a:lnSpc>
                <a:spcPct val="135000"/>
              </a:lnSpc>
              <a:spcAft>
                <a:spcPts val="500"/>
              </a:spcAft>
            </a:pPr>
            <a:r>
              <a:rPr sz="1200" b="0" i="0">
                <a:solidFill>
                  <a:srgbClr val="6F6789"/>
                </a:solidFill>
                <a:latin typeface="Nunito Sans"/>
              </a:rPr>
              <a:t>To be validated</a:t>
            </a:r>
          </a:p>
        </p:txBody>
      </p:sp>
      <p:sp>
        <p:nvSpPr>
          <p:cNvPr id="15" name="Rounded Rectangle 14"/>
          <p:cNvSpPr/>
          <p:nvPr/>
        </p:nvSpPr>
        <p:spPr>
          <a:xfrm>
            <a:off x="80467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B2G – Offentlig sektor</a:t>
            </a:r>
          </a:p>
        </p:txBody>
      </p:sp>
      <p:sp>
        <p:nvSpPr>
          <p:cNvPr id="18" name="TextBox 17"/>
          <p:cNvSpPr txBox="1"/>
          <p:nvPr/>
        </p:nvSpPr>
        <p:spPr>
          <a:xfrm>
            <a:off x="82113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Stöd inom vård, skola och omsorg</a:t>
            </a:r>
          </a:p>
          <a:p>
            <a:pPr algn="l">
              <a:lnSpc>
                <a:spcPct val="135000"/>
              </a:lnSpc>
              <a:spcAft>
                <a:spcPts val="500"/>
              </a:spcAft>
            </a:pPr>
            <a:r>
              <a:rPr sz="1200" b="0" i="0">
                <a:solidFill>
                  <a:srgbClr val="6F6789"/>
                </a:solidFill>
                <a:latin typeface="Nunito Sans"/>
              </a:rPr>
              <a:t>Upphandling som väg</a:t>
            </a:r>
          </a:p>
          <a:p>
            <a:pPr algn="l">
              <a:lnSpc>
                <a:spcPct val="135000"/>
              </a:lnSpc>
              <a:spcAft>
                <a:spcPts val="500"/>
              </a:spcAft>
            </a:pPr>
            <a:r>
              <a:rPr sz="1200" b="0" i="0">
                <a:solidFill>
                  <a:srgbClr val="6F6789"/>
                </a:solidFill>
                <a:latin typeface="Nunito Sans"/>
              </a:rPr>
              <a:t>To be validated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DIFFERENTIERING</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Traditional tools organize tasks. MyFlove connects tasks with human capacity.</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Jämförelsen beskriver fokus och utgångspunkt – inte påståenden om andra produkters funktioner.</a:t>
            </a:r>
          </a:p>
        </p:txBody>
      </p:sp>
      <p:sp>
        <p:nvSpPr>
          <p:cNvPr id="7" name="Rounded Rectangle 6"/>
          <p:cNvSpPr/>
          <p:nvPr/>
        </p:nvSpPr>
        <p:spPr>
          <a:xfrm>
            <a:off x="7315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Kalendrar &amp; task managers</a:t>
            </a:r>
          </a:p>
        </p:txBody>
      </p:sp>
      <p:sp>
        <p:nvSpPr>
          <p:cNvPr id="10" name="TextBox 9"/>
          <p:cNvSpPr txBox="1"/>
          <p:nvPr/>
        </p:nvSpPr>
        <p:spPr>
          <a:xfrm>
            <a:off x="896112" y="415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Utgår från tid och uppgifter.</a:t>
            </a:r>
          </a:p>
        </p:txBody>
      </p:sp>
      <p:sp>
        <p:nvSpPr>
          <p:cNvPr id="11" name="Rounded Rectangle 10"/>
          <p:cNvSpPr/>
          <p:nvPr/>
        </p:nvSpPr>
        <p:spPr>
          <a:xfrm>
            <a:off x="34747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39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Habit trackers</a:t>
            </a:r>
          </a:p>
        </p:txBody>
      </p:sp>
      <p:sp>
        <p:nvSpPr>
          <p:cNvPr id="14" name="TextBox 13"/>
          <p:cNvSpPr txBox="1"/>
          <p:nvPr/>
        </p:nvSpPr>
        <p:spPr>
          <a:xfrm>
            <a:off x="3639312" y="415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Utgår från upprepning och streaks.</a:t>
            </a:r>
          </a:p>
        </p:txBody>
      </p:sp>
      <p:sp>
        <p:nvSpPr>
          <p:cNvPr id="15" name="Rounded Rectangle 14"/>
          <p:cNvSpPr/>
          <p:nvPr/>
        </p:nvSpPr>
        <p:spPr>
          <a:xfrm>
            <a:off x="62179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NPF-appar</a:t>
            </a:r>
          </a:p>
        </p:txBody>
      </p:sp>
      <p:sp>
        <p:nvSpPr>
          <p:cNvPr id="18" name="TextBox 17"/>
          <p:cNvSpPr txBox="1"/>
          <p:nvPr/>
        </p:nvSpPr>
        <p:spPr>
          <a:xfrm>
            <a:off x="6382512" y="415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Utgår ofta från struktur och påminnelser.</a:t>
            </a:r>
          </a:p>
        </p:txBody>
      </p:sp>
      <p:sp>
        <p:nvSpPr>
          <p:cNvPr id="19" name="Rounded Rectangle 18"/>
          <p:cNvSpPr/>
          <p:nvPr/>
        </p:nvSpPr>
        <p:spPr>
          <a:xfrm>
            <a:off x="8961120" y="3154680"/>
            <a:ext cx="2468880" cy="201168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3337560"/>
            <a:ext cx="438912" cy="82296"/>
          </a:xfrm>
          <a:prstGeom prst="roundRect">
            <a:avLst/>
          </a:prstGeom>
          <a:solidFill>
            <a:srgbClr val="7C5CE0"/>
          </a:solidFill>
          <a:ln>
            <a:solidFill>
              <a:srgbClr val="7C5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MyFlove</a:t>
            </a:r>
          </a:p>
        </p:txBody>
      </p:sp>
      <p:sp>
        <p:nvSpPr>
          <p:cNvPr id="22" name="TextBox 21"/>
          <p:cNvSpPr txBox="1"/>
          <p:nvPr/>
        </p:nvSpPr>
        <p:spPr>
          <a:xfrm>
            <a:off x="9125712" y="4150000"/>
            <a:ext cx="2139696" cy="228600"/>
          </a:xfrm>
          <a:prstGeom prst="rect">
            <a:avLst/>
          </a:prstGeom>
          <a:noFill/>
        </p:spPr>
        <p:txBody>
          <a:bodyPr wrap="square" lIns="0" rIns="0" tIns="0" bIns="0">
            <a:spAutoFit/>
          </a:bodyPr>
          <a:lstStyle/>
          <a:p>
            <a:pPr algn="l">
              <a:lnSpc>
                <a:spcPct val="135000"/>
              </a:lnSpc>
            </a:pPr>
            <a:r>
              <a:rPr sz="1200" b="0" i="0">
                <a:solidFill>
                  <a:srgbClr val="241C3B"/>
                </a:solidFill>
                <a:latin typeface="Nunito Sans"/>
              </a:rPr>
              <a:t>Utgår från kapaciteten just nu.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GO-TO-MARKET</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Bevisa värdet först – skala sedan</a:t>
            </a:r>
          </a:p>
        </p:txBody>
      </p:sp>
      <p:sp>
        <p:nvSpPr>
          <p:cNvPr id="6" name="Rounded Rectangle 5"/>
          <p:cNvSpPr/>
          <p:nvPr/>
        </p:nvSpPr>
        <p:spPr>
          <a:xfrm>
            <a:off x="731520" y="3000000"/>
            <a:ext cx="1554480" cy="110000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1520" y="3380000"/>
            <a:ext cx="1314480" cy="247650"/>
          </a:xfrm>
          <a:prstGeom prst="rect">
            <a:avLst/>
          </a:prstGeom>
          <a:noFill/>
        </p:spPr>
        <p:txBody>
          <a:bodyPr wrap="square" lIns="0" rIns="0" tIns="0" bIns="0">
            <a:spAutoFit/>
          </a:bodyPr>
          <a:lstStyle/>
          <a:p>
            <a:pPr algn="ctr"/>
            <a:r>
              <a:rPr sz="1300" b="1" i="0">
                <a:solidFill>
                  <a:srgbClr val="241C3B"/>
                </a:solidFill>
                <a:latin typeface="Nunito Sans"/>
              </a:rPr>
              <a:t>Pilot</a:t>
            </a:r>
          </a:p>
        </p:txBody>
      </p:sp>
      <p:sp>
        <p:nvSpPr>
          <p:cNvPr id="8" name="Rounded Rectangle 7"/>
          <p:cNvSpPr/>
          <p:nvPr/>
        </p:nvSpPr>
        <p:spPr>
          <a:xfrm>
            <a:off x="2560320" y="3000000"/>
            <a:ext cx="1554480" cy="110000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80320" y="3380000"/>
            <a:ext cx="1314480" cy="247650"/>
          </a:xfrm>
          <a:prstGeom prst="rect">
            <a:avLst/>
          </a:prstGeom>
          <a:noFill/>
        </p:spPr>
        <p:txBody>
          <a:bodyPr wrap="square" lIns="0" rIns="0" tIns="0" bIns="0">
            <a:spAutoFit/>
          </a:bodyPr>
          <a:lstStyle/>
          <a:p>
            <a:pPr algn="ctr"/>
            <a:r>
              <a:rPr sz="1300" b="1" i="0">
                <a:solidFill>
                  <a:srgbClr val="241C3B"/>
                </a:solidFill>
                <a:latin typeface="Nunito Sans"/>
              </a:rPr>
              <a:t>Validation</a:t>
            </a:r>
          </a:p>
        </p:txBody>
      </p:sp>
      <p:sp>
        <p:nvSpPr>
          <p:cNvPr id="10" name="Rounded Rectangle 9"/>
          <p:cNvSpPr/>
          <p:nvPr/>
        </p:nvSpPr>
        <p:spPr>
          <a:xfrm>
            <a:off x="4389120" y="3000000"/>
            <a:ext cx="1554480" cy="1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9120" y="3380000"/>
            <a:ext cx="1314480" cy="247650"/>
          </a:xfrm>
          <a:prstGeom prst="rect">
            <a:avLst/>
          </a:prstGeom>
          <a:noFill/>
        </p:spPr>
        <p:txBody>
          <a:bodyPr wrap="square" lIns="0" rIns="0" tIns="0" bIns="0">
            <a:spAutoFit/>
          </a:bodyPr>
          <a:lstStyle/>
          <a:p>
            <a:pPr algn="ctr"/>
            <a:r>
              <a:rPr sz="1300" b="1" i="0">
                <a:solidFill>
                  <a:srgbClr val="6F6789"/>
                </a:solidFill>
                <a:latin typeface="Nunito Sans"/>
              </a:rPr>
              <a:t>Launch</a:t>
            </a:r>
          </a:p>
        </p:txBody>
      </p:sp>
      <p:sp>
        <p:nvSpPr>
          <p:cNvPr id="12" name="Rounded Rectangle 11"/>
          <p:cNvSpPr/>
          <p:nvPr/>
        </p:nvSpPr>
        <p:spPr>
          <a:xfrm>
            <a:off x="6217920" y="3000000"/>
            <a:ext cx="1554480" cy="1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7920" y="3380000"/>
            <a:ext cx="1314480" cy="247650"/>
          </a:xfrm>
          <a:prstGeom prst="rect">
            <a:avLst/>
          </a:prstGeom>
          <a:noFill/>
        </p:spPr>
        <p:txBody>
          <a:bodyPr wrap="square" lIns="0" rIns="0" tIns="0" bIns="0">
            <a:spAutoFit/>
          </a:bodyPr>
          <a:lstStyle/>
          <a:p>
            <a:pPr algn="ctr"/>
            <a:r>
              <a:rPr sz="1300" b="1" i="0">
                <a:solidFill>
                  <a:srgbClr val="6F6789"/>
                </a:solidFill>
                <a:latin typeface="Nunito Sans"/>
              </a:rPr>
              <a:t>B2C</a:t>
            </a:r>
          </a:p>
        </p:txBody>
      </p:sp>
      <p:sp>
        <p:nvSpPr>
          <p:cNvPr id="14" name="Rounded Rectangle 13"/>
          <p:cNvSpPr/>
          <p:nvPr/>
        </p:nvSpPr>
        <p:spPr>
          <a:xfrm>
            <a:off x="8046720" y="3000000"/>
            <a:ext cx="1554480" cy="1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6720" y="3380000"/>
            <a:ext cx="1314480" cy="247650"/>
          </a:xfrm>
          <a:prstGeom prst="rect">
            <a:avLst/>
          </a:prstGeom>
          <a:noFill/>
        </p:spPr>
        <p:txBody>
          <a:bodyPr wrap="square" lIns="0" rIns="0" tIns="0" bIns="0">
            <a:spAutoFit/>
          </a:bodyPr>
          <a:lstStyle/>
          <a:p>
            <a:pPr algn="ctr"/>
            <a:r>
              <a:rPr sz="1300" b="1" i="0">
                <a:solidFill>
                  <a:srgbClr val="6F6789"/>
                </a:solidFill>
                <a:latin typeface="Nunito Sans"/>
              </a:rPr>
              <a:t>B2B / B2G</a:t>
            </a:r>
          </a:p>
        </p:txBody>
      </p:sp>
      <p:sp>
        <p:nvSpPr>
          <p:cNvPr id="16" name="Rounded Rectangle 15"/>
          <p:cNvSpPr/>
          <p:nvPr/>
        </p:nvSpPr>
        <p:spPr>
          <a:xfrm>
            <a:off x="9875520" y="3000000"/>
            <a:ext cx="1554480" cy="1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95520" y="3380000"/>
            <a:ext cx="1314480" cy="247650"/>
          </a:xfrm>
          <a:prstGeom prst="rect">
            <a:avLst/>
          </a:prstGeom>
          <a:noFill/>
        </p:spPr>
        <p:txBody>
          <a:bodyPr wrap="square" lIns="0" rIns="0" tIns="0" bIns="0">
            <a:spAutoFit/>
          </a:bodyPr>
          <a:lstStyle/>
          <a:p>
            <a:pPr algn="ctr"/>
            <a:r>
              <a:rPr sz="1300" b="1" i="0">
                <a:solidFill>
                  <a:srgbClr val="6F6789"/>
                </a:solidFill>
                <a:latin typeface="Nunito Sans"/>
              </a:rPr>
              <a:t>Scale</a:t>
            </a:r>
          </a:p>
        </p:txBody>
      </p:sp>
      <p:sp>
        <p:nvSpPr>
          <p:cNvPr id="18" name="TextBox 17"/>
          <p:cNvSpPr txBox="1"/>
          <p:nvPr/>
        </p:nvSpPr>
        <p:spPr>
          <a:xfrm>
            <a:off x="731520" y="4400000"/>
            <a:ext cx="10698480" cy="247650"/>
          </a:xfrm>
          <a:prstGeom prst="rect">
            <a:avLst/>
          </a:prstGeom>
          <a:noFill/>
        </p:spPr>
        <p:txBody>
          <a:bodyPr wrap="square" lIns="0" rIns="0" tIns="0" bIns="0">
            <a:spAutoFit/>
          </a:bodyPr>
          <a:lstStyle/>
          <a:p>
            <a:pPr algn="l">
              <a:lnSpc>
                <a:spcPct val="140000"/>
              </a:lnSpc>
              <a:spcAft>
                <a:spcPts val="700"/>
              </a:spcAft>
            </a:pPr>
            <a:r>
              <a:rPr sz="1300" b="0" i="0">
                <a:solidFill>
                  <a:srgbClr val="6F6789"/>
                </a:solidFill>
                <a:latin typeface="Nunito Sans"/>
              </a:rPr>
              <a:t>Fas 1 – Pilot och validering: mäta effekt, användning och nytta i verkliga vardagar.</a:t>
            </a:r>
          </a:p>
          <a:p>
            <a:pPr algn="l">
              <a:lnSpc>
                <a:spcPct val="140000"/>
              </a:lnSpc>
              <a:spcAft>
                <a:spcPts val="700"/>
              </a:spcAft>
            </a:pPr>
            <a:r>
              <a:rPr sz="1300" b="0" i="0">
                <a:solidFill>
                  <a:srgbClr val="6F6789"/>
                </a:solidFill>
                <a:latin typeface="Nunito Sans"/>
              </a:rPr>
              <a:t>Fas 2 – Lansering och B2C-tillväxt när värdet är belagt.</a:t>
            </a:r>
          </a:p>
          <a:p>
            <a:pPr algn="l">
              <a:lnSpc>
                <a:spcPct val="140000"/>
              </a:lnSpc>
              <a:spcAft>
                <a:spcPts val="700"/>
              </a:spcAft>
            </a:pPr>
            <a:r>
              <a:rPr sz="1300" b="0" i="0">
                <a:solidFill>
                  <a:srgbClr val="6F6789"/>
                </a:solidFill>
                <a:latin typeface="Nunito Sans"/>
              </a:rPr>
              <a:t>Fas 3 – B2B/B2G och internationell skalning.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KAPITAL</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What we are raising</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Belopp och fördelning fylls i inför investerarmöte – inga budgetantaganden presenteras här.</a:t>
            </a:r>
          </a:p>
        </p:txBody>
      </p:sp>
      <p:sp>
        <p:nvSpPr>
          <p:cNvPr id="7" name="Rounded Rectangle 6"/>
          <p:cNvSpPr/>
          <p:nvPr/>
        </p:nvSpPr>
        <p:spPr>
          <a:xfrm>
            <a:off x="731520" y="2700000"/>
            <a:ext cx="3474720" cy="90000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1520" y="2900000"/>
            <a:ext cx="2974720" cy="266700"/>
          </a:xfrm>
          <a:prstGeom prst="rect">
            <a:avLst/>
          </a:prstGeom>
          <a:noFill/>
        </p:spPr>
        <p:txBody>
          <a:bodyPr wrap="square" lIns="0" rIns="0" tIns="0" bIns="0">
            <a:spAutoFit/>
          </a:bodyPr>
          <a:lstStyle/>
          <a:p>
            <a:pPr algn="l"/>
            <a:r>
              <a:rPr sz="1400" b="1" i="0">
                <a:solidFill>
                  <a:srgbClr val="241C3B"/>
                </a:solidFill>
                <a:latin typeface="Nunito Sans"/>
              </a:rPr>
              <a:t>Belopp: [placeholder – fylls i]</a:t>
            </a:r>
          </a:p>
        </p:txBody>
      </p:sp>
      <p:sp>
        <p:nvSpPr>
          <p:cNvPr id="9" name="Rounded Rectangle 8"/>
          <p:cNvSpPr/>
          <p:nvPr/>
        </p:nvSpPr>
        <p:spPr>
          <a:xfrm>
            <a:off x="731520" y="3800000"/>
            <a:ext cx="3383280" cy="19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96112" y="39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4220000"/>
            <a:ext cx="3054096" cy="304800"/>
          </a:xfrm>
          <a:prstGeom prst="rect">
            <a:avLst/>
          </a:prstGeom>
          <a:noFill/>
        </p:spPr>
        <p:txBody>
          <a:bodyPr wrap="square" lIns="0" rIns="0" tIns="0" bIns="0">
            <a:spAutoFit/>
          </a:bodyPr>
          <a:lstStyle/>
          <a:p>
            <a:pPr algn="l"/>
            <a:r>
              <a:rPr sz="1600" b="1" i="0">
                <a:solidFill>
                  <a:srgbClr val="241C3B"/>
                </a:solidFill>
                <a:latin typeface="Nunito Sans"/>
              </a:rPr>
              <a:t>Produkt &amp; teknik</a:t>
            </a:r>
          </a:p>
        </p:txBody>
      </p:sp>
      <p:sp>
        <p:nvSpPr>
          <p:cNvPr id="12" name="TextBox 11"/>
          <p:cNvSpPr txBox="1"/>
          <p:nvPr/>
        </p:nvSpPr>
        <p:spPr>
          <a:xfrm>
            <a:off x="896112" y="45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iOS och Android</a:t>
            </a:r>
          </a:p>
          <a:p>
            <a:pPr algn="l">
              <a:lnSpc>
                <a:spcPct val="135000"/>
              </a:lnSpc>
              <a:spcAft>
                <a:spcPts val="500"/>
              </a:spcAft>
            </a:pPr>
            <a:r>
              <a:rPr sz="1200" b="0" i="0">
                <a:solidFill>
                  <a:srgbClr val="6F6789"/>
                </a:solidFill>
                <a:latin typeface="Nunito Sans"/>
              </a:rPr>
              <a:t>Teknisk stabilisering</a:t>
            </a:r>
          </a:p>
          <a:p>
            <a:pPr algn="l">
              <a:lnSpc>
                <a:spcPct val="135000"/>
              </a:lnSpc>
              <a:spcAft>
                <a:spcPts val="500"/>
              </a:spcAft>
            </a:pPr>
            <a:r>
              <a:rPr sz="1200" b="0" i="0">
                <a:solidFill>
                  <a:srgbClr val="6F6789"/>
                </a:solidFill>
                <a:latin typeface="Nunito Sans"/>
              </a:rPr>
              <a:t>Backend och skalbarhet</a:t>
            </a:r>
          </a:p>
        </p:txBody>
      </p:sp>
      <p:sp>
        <p:nvSpPr>
          <p:cNvPr id="13" name="Rounded Rectangle 12"/>
          <p:cNvSpPr/>
          <p:nvPr/>
        </p:nvSpPr>
        <p:spPr>
          <a:xfrm>
            <a:off x="4389120" y="3800000"/>
            <a:ext cx="3383280" cy="19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53712" y="39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4220000"/>
            <a:ext cx="3054096" cy="304800"/>
          </a:xfrm>
          <a:prstGeom prst="rect">
            <a:avLst/>
          </a:prstGeom>
          <a:noFill/>
        </p:spPr>
        <p:txBody>
          <a:bodyPr wrap="square" lIns="0" rIns="0" tIns="0" bIns="0">
            <a:spAutoFit/>
          </a:bodyPr>
          <a:lstStyle/>
          <a:p>
            <a:pPr algn="l"/>
            <a:r>
              <a:rPr sz="1600" b="1" i="0">
                <a:solidFill>
                  <a:srgbClr val="241C3B"/>
                </a:solidFill>
                <a:latin typeface="Nunito Sans"/>
              </a:rPr>
              <a:t>Tillit &amp; data</a:t>
            </a:r>
          </a:p>
        </p:txBody>
      </p:sp>
      <p:sp>
        <p:nvSpPr>
          <p:cNvPr id="16" name="TextBox 15"/>
          <p:cNvSpPr txBox="1"/>
          <p:nvPr/>
        </p:nvSpPr>
        <p:spPr>
          <a:xfrm>
            <a:off x="4553712" y="45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Säkerhet och GDPR</a:t>
            </a:r>
          </a:p>
          <a:p>
            <a:pPr algn="l">
              <a:lnSpc>
                <a:spcPct val="135000"/>
              </a:lnSpc>
              <a:spcAft>
                <a:spcPts val="500"/>
              </a:spcAft>
            </a:pPr>
            <a:r>
              <a:rPr sz="1200" b="0" i="0">
                <a:solidFill>
                  <a:srgbClr val="6F6789"/>
                </a:solidFill>
                <a:latin typeface="Nunito Sans"/>
              </a:rPr>
              <a:t>Analytics</a:t>
            </a:r>
          </a:p>
          <a:p>
            <a:pPr algn="l">
              <a:lnSpc>
                <a:spcPct val="135000"/>
              </a:lnSpc>
              <a:spcAft>
                <a:spcPts val="500"/>
              </a:spcAft>
            </a:pPr>
            <a:r>
              <a:rPr sz="1200" b="0" i="0">
                <a:solidFill>
                  <a:srgbClr val="6F6789"/>
                </a:solidFill>
                <a:latin typeface="Nunito Sans"/>
              </a:rPr>
              <a:t>AI/Flow-utveckling</a:t>
            </a:r>
          </a:p>
        </p:txBody>
      </p:sp>
      <p:sp>
        <p:nvSpPr>
          <p:cNvPr id="17" name="Rounded Rectangle 16"/>
          <p:cNvSpPr/>
          <p:nvPr/>
        </p:nvSpPr>
        <p:spPr>
          <a:xfrm>
            <a:off x="8046720" y="3800000"/>
            <a:ext cx="3383280" cy="19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11312" y="39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1312" y="4220000"/>
            <a:ext cx="3054096" cy="304800"/>
          </a:xfrm>
          <a:prstGeom prst="rect">
            <a:avLst/>
          </a:prstGeom>
          <a:noFill/>
        </p:spPr>
        <p:txBody>
          <a:bodyPr wrap="square" lIns="0" rIns="0" tIns="0" bIns="0">
            <a:spAutoFit/>
          </a:bodyPr>
          <a:lstStyle/>
          <a:p>
            <a:pPr algn="l"/>
            <a:r>
              <a:rPr sz="1600" b="1" i="0">
                <a:solidFill>
                  <a:srgbClr val="241C3B"/>
                </a:solidFill>
                <a:latin typeface="Nunito Sans"/>
              </a:rPr>
              <a:t>Marknad &amp; bevis</a:t>
            </a:r>
          </a:p>
        </p:txBody>
      </p:sp>
      <p:sp>
        <p:nvSpPr>
          <p:cNvPr id="20" name="TextBox 19"/>
          <p:cNvSpPr txBox="1"/>
          <p:nvPr/>
        </p:nvSpPr>
        <p:spPr>
          <a:xfrm>
            <a:off x="8211312" y="45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Onboarding</a:t>
            </a:r>
          </a:p>
          <a:p>
            <a:pPr algn="l">
              <a:lnSpc>
                <a:spcPct val="135000"/>
              </a:lnSpc>
              <a:spcAft>
                <a:spcPts val="500"/>
              </a:spcAft>
            </a:pPr>
            <a:r>
              <a:rPr sz="1200" b="0" i="0">
                <a:solidFill>
                  <a:srgbClr val="6F6789"/>
                </a:solidFill>
                <a:latin typeface="Nunito Sans"/>
              </a:rPr>
              <a:t>Pilot och validering</a:t>
            </a:r>
          </a:p>
          <a:p>
            <a:pPr algn="l">
              <a:lnSpc>
                <a:spcPct val="135000"/>
              </a:lnSpc>
              <a:spcAft>
                <a:spcPts val="500"/>
              </a:spcAft>
            </a:pPr>
            <a:r>
              <a:rPr sz="1200" b="0" i="0">
                <a:solidFill>
                  <a:srgbClr val="6F6789"/>
                </a:solidFill>
                <a:latin typeface="Nunito Sans"/>
              </a:rPr>
              <a:t>Kommersiell lansering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ROADMAP</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Från fungerande produkt till bevisad effekt och skala</a:t>
            </a:r>
          </a:p>
        </p:txBody>
      </p:sp>
      <p:sp>
        <p:nvSpPr>
          <p:cNvPr id="6" name="Rounded Rectangle 5"/>
          <p:cNvSpPr/>
          <p:nvPr/>
        </p:nvSpPr>
        <p:spPr>
          <a:xfrm>
            <a:off x="731520" y="2350000"/>
            <a:ext cx="10698480" cy="62000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1520" y="2560000"/>
            <a:ext cx="2200000" cy="228600"/>
          </a:xfrm>
          <a:prstGeom prst="rect">
            <a:avLst/>
          </a:prstGeom>
          <a:noFill/>
        </p:spPr>
        <p:txBody>
          <a:bodyPr wrap="square" lIns="0" rIns="0" tIns="0" bIns="0">
            <a:spAutoFit/>
          </a:bodyPr>
          <a:lstStyle/>
          <a:p>
            <a:pPr algn="l"/>
            <a:r>
              <a:rPr sz="1200" b="1" i="0">
                <a:solidFill>
                  <a:srgbClr val="7C5CE0"/>
                </a:solidFill>
                <a:latin typeface="Nunito Sans"/>
              </a:rPr>
              <a:t>NOW</a:t>
            </a:r>
          </a:p>
        </p:txBody>
      </p:sp>
      <p:sp>
        <p:nvSpPr>
          <p:cNvPr id="8" name="TextBox 7"/>
          <p:cNvSpPr txBox="1"/>
          <p:nvPr/>
        </p:nvSpPr>
        <p:spPr>
          <a:xfrm>
            <a:off x="3331520" y="2545000"/>
            <a:ext cx="7798480" cy="266700"/>
          </a:xfrm>
          <a:prstGeom prst="rect">
            <a:avLst/>
          </a:prstGeom>
          <a:noFill/>
        </p:spPr>
        <p:txBody>
          <a:bodyPr wrap="square" lIns="0" rIns="0" tIns="0" bIns="0">
            <a:spAutoFit/>
          </a:bodyPr>
          <a:lstStyle/>
          <a:p>
            <a:pPr algn="l"/>
            <a:r>
              <a:rPr sz="1400" b="1" i="0">
                <a:solidFill>
                  <a:srgbClr val="241C3B"/>
                </a:solidFill>
                <a:latin typeface="Nunito Sans"/>
              </a:rPr>
              <a:t>Validation + pilot</a:t>
            </a:r>
          </a:p>
        </p:txBody>
      </p:sp>
      <p:sp>
        <p:nvSpPr>
          <p:cNvPr id="9" name="Rounded Rectangle 8"/>
          <p:cNvSpPr/>
          <p:nvPr/>
        </p:nvSpPr>
        <p:spPr>
          <a:xfrm>
            <a:off x="731520" y="3110000"/>
            <a:ext cx="10698480" cy="62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1520" y="3320000"/>
            <a:ext cx="2200000" cy="228600"/>
          </a:xfrm>
          <a:prstGeom prst="rect">
            <a:avLst/>
          </a:prstGeom>
          <a:noFill/>
        </p:spPr>
        <p:txBody>
          <a:bodyPr wrap="square" lIns="0" rIns="0" tIns="0" bIns="0">
            <a:spAutoFit/>
          </a:bodyPr>
          <a:lstStyle/>
          <a:p>
            <a:pPr algn="l"/>
            <a:r>
              <a:rPr sz="1200" b="1" i="0">
                <a:solidFill>
                  <a:srgbClr val="7C5CE0"/>
                </a:solidFill>
                <a:latin typeface="Nunito Sans"/>
              </a:rPr>
              <a:t>NEXT</a:t>
            </a:r>
          </a:p>
        </p:txBody>
      </p:sp>
      <p:sp>
        <p:nvSpPr>
          <p:cNvPr id="11" name="TextBox 10"/>
          <p:cNvSpPr txBox="1"/>
          <p:nvPr/>
        </p:nvSpPr>
        <p:spPr>
          <a:xfrm>
            <a:off x="3331520" y="3305000"/>
            <a:ext cx="7798480" cy="266700"/>
          </a:xfrm>
          <a:prstGeom prst="rect">
            <a:avLst/>
          </a:prstGeom>
          <a:noFill/>
        </p:spPr>
        <p:txBody>
          <a:bodyPr wrap="square" lIns="0" rIns="0" tIns="0" bIns="0">
            <a:spAutoFit/>
          </a:bodyPr>
          <a:lstStyle/>
          <a:p>
            <a:pPr algn="l"/>
            <a:r>
              <a:rPr sz="1400" b="0" i="0">
                <a:solidFill>
                  <a:srgbClr val="241C3B"/>
                </a:solidFill>
                <a:latin typeface="Nunito Sans"/>
              </a:rPr>
              <a:t>iOS / Android + technical scale</a:t>
            </a:r>
          </a:p>
        </p:txBody>
      </p:sp>
      <p:sp>
        <p:nvSpPr>
          <p:cNvPr id="12" name="Rounded Rectangle 11"/>
          <p:cNvSpPr/>
          <p:nvPr/>
        </p:nvSpPr>
        <p:spPr>
          <a:xfrm>
            <a:off x="731520" y="3870000"/>
            <a:ext cx="10698480" cy="62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1520" y="4080000"/>
            <a:ext cx="2200000" cy="228600"/>
          </a:xfrm>
          <a:prstGeom prst="rect">
            <a:avLst/>
          </a:prstGeom>
          <a:noFill/>
        </p:spPr>
        <p:txBody>
          <a:bodyPr wrap="square" lIns="0" rIns="0" tIns="0" bIns="0">
            <a:spAutoFit/>
          </a:bodyPr>
          <a:lstStyle/>
          <a:p>
            <a:pPr algn="l"/>
            <a:r>
              <a:rPr sz="1200" b="1" i="0">
                <a:solidFill>
                  <a:srgbClr val="7C5CE0"/>
                </a:solidFill>
                <a:latin typeface="Nunito Sans"/>
              </a:rPr>
              <a:t>THEN</a:t>
            </a:r>
          </a:p>
        </p:txBody>
      </p:sp>
      <p:sp>
        <p:nvSpPr>
          <p:cNvPr id="14" name="TextBox 13"/>
          <p:cNvSpPr txBox="1"/>
          <p:nvPr/>
        </p:nvSpPr>
        <p:spPr>
          <a:xfrm>
            <a:off x="3331520" y="4065000"/>
            <a:ext cx="7798480" cy="266700"/>
          </a:xfrm>
          <a:prstGeom prst="rect">
            <a:avLst/>
          </a:prstGeom>
          <a:noFill/>
        </p:spPr>
        <p:txBody>
          <a:bodyPr wrap="square" lIns="0" rIns="0" tIns="0" bIns="0">
            <a:spAutoFit/>
          </a:bodyPr>
          <a:lstStyle/>
          <a:p>
            <a:pPr algn="l"/>
            <a:r>
              <a:rPr sz="1400" b="0" i="0">
                <a:solidFill>
                  <a:srgbClr val="241C3B"/>
                </a:solidFill>
                <a:latin typeface="Nunito Sans"/>
              </a:rPr>
              <a:t>B2C growth</a:t>
            </a:r>
          </a:p>
        </p:txBody>
      </p:sp>
      <p:sp>
        <p:nvSpPr>
          <p:cNvPr id="15" name="Rounded Rectangle 14"/>
          <p:cNvSpPr/>
          <p:nvPr/>
        </p:nvSpPr>
        <p:spPr>
          <a:xfrm>
            <a:off x="731520" y="4630000"/>
            <a:ext cx="10698480" cy="62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1520" y="4840000"/>
            <a:ext cx="2200000" cy="228600"/>
          </a:xfrm>
          <a:prstGeom prst="rect">
            <a:avLst/>
          </a:prstGeom>
          <a:noFill/>
        </p:spPr>
        <p:txBody>
          <a:bodyPr wrap="square" lIns="0" rIns="0" tIns="0" bIns="0">
            <a:spAutoFit/>
          </a:bodyPr>
          <a:lstStyle/>
          <a:p>
            <a:pPr algn="l"/>
            <a:r>
              <a:rPr sz="1200" b="1" i="0">
                <a:solidFill>
                  <a:srgbClr val="7C5CE0"/>
                </a:solidFill>
                <a:latin typeface="Nunito Sans"/>
              </a:rPr>
              <a:t>NEXT</a:t>
            </a:r>
          </a:p>
        </p:txBody>
      </p:sp>
      <p:sp>
        <p:nvSpPr>
          <p:cNvPr id="17" name="TextBox 16"/>
          <p:cNvSpPr txBox="1"/>
          <p:nvPr/>
        </p:nvSpPr>
        <p:spPr>
          <a:xfrm>
            <a:off x="3331520" y="4825000"/>
            <a:ext cx="7798480" cy="266700"/>
          </a:xfrm>
          <a:prstGeom prst="rect">
            <a:avLst/>
          </a:prstGeom>
          <a:noFill/>
        </p:spPr>
        <p:txBody>
          <a:bodyPr wrap="square" lIns="0" rIns="0" tIns="0" bIns="0">
            <a:spAutoFit/>
          </a:bodyPr>
          <a:lstStyle/>
          <a:p>
            <a:pPr algn="l"/>
            <a:r>
              <a:rPr sz="1400" b="0" i="0">
                <a:solidFill>
                  <a:srgbClr val="241C3B"/>
                </a:solidFill>
                <a:latin typeface="Nunito Sans"/>
              </a:rPr>
              <a:t>B2B / B2G</a:t>
            </a:r>
          </a:p>
        </p:txBody>
      </p:sp>
      <p:sp>
        <p:nvSpPr>
          <p:cNvPr id="18" name="Rounded Rectangle 17"/>
          <p:cNvSpPr/>
          <p:nvPr/>
        </p:nvSpPr>
        <p:spPr>
          <a:xfrm>
            <a:off x="731520" y="5390000"/>
            <a:ext cx="10698480" cy="62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1520" y="5600000"/>
            <a:ext cx="2200000" cy="228600"/>
          </a:xfrm>
          <a:prstGeom prst="rect">
            <a:avLst/>
          </a:prstGeom>
          <a:noFill/>
        </p:spPr>
        <p:txBody>
          <a:bodyPr wrap="square" lIns="0" rIns="0" tIns="0" bIns="0">
            <a:spAutoFit/>
          </a:bodyPr>
          <a:lstStyle/>
          <a:p>
            <a:pPr algn="l"/>
            <a:r>
              <a:rPr sz="1200" b="1" i="0">
                <a:solidFill>
                  <a:srgbClr val="7C5CE0"/>
                </a:solidFill>
                <a:latin typeface="Nunito Sans"/>
              </a:rPr>
              <a:t>LONG TERM</a:t>
            </a:r>
          </a:p>
        </p:txBody>
      </p:sp>
      <p:sp>
        <p:nvSpPr>
          <p:cNvPr id="20" name="TextBox 19"/>
          <p:cNvSpPr txBox="1"/>
          <p:nvPr/>
        </p:nvSpPr>
        <p:spPr>
          <a:xfrm>
            <a:off x="3331520" y="5585000"/>
            <a:ext cx="7798480" cy="266700"/>
          </a:xfrm>
          <a:prstGeom prst="rect">
            <a:avLst/>
          </a:prstGeom>
          <a:noFill/>
        </p:spPr>
        <p:txBody>
          <a:bodyPr wrap="square" lIns="0" rIns="0" tIns="0" bIns="0">
            <a:spAutoFit/>
          </a:bodyPr>
          <a:lstStyle/>
          <a:p>
            <a:pPr algn="l"/>
            <a:r>
              <a:rPr sz="1400" b="0" i="0">
                <a:solidFill>
                  <a:srgbClr val="241C3B"/>
                </a:solidFill>
                <a:latin typeface="Nunito Sans"/>
              </a:rPr>
              <a:t>International expansion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MÖJLIGHETEN</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En stor målgrupp med vardagsproblem som fortfarande är splittrade.</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Externa uppskattningar – inte MyFloves egna användar- eller intäktssiffror.</a:t>
            </a:r>
          </a:p>
        </p:txBody>
      </p:sp>
      <p:sp>
        <p:nvSpPr>
          <p:cNvPr id="7" name="Rounded Rectangle 6"/>
          <p:cNvSpPr/>
          <p:nvPr/>
        </p:nvSpPr>
        <p:spPr>
          <a:xfrm>
            <a:off x="731520" y="3154680"/>
            <a:ext cx="2468880" cy="18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vuxna globalt: 140M+</a:t>
            </a:r>
          </a:p>
        </p:txBody>
      </p:sp>
      <p:sp>
        <p:nvSpPr>
          <p:cNvPr id="10" name="TextBox 9"/>
          <p:cNvSpPr txBox="1"/>
          <p:nvPr/>
        </p:nvSpPr>
        <p:spPr>
          <a:xfrm>
            <a:off x="896112" y="4200000"/>
            <a:ext cx="2139696" cy="209550"/>
          </a:xfrm>
          <a:prstGeom prst="rect">
            <a:avLst/>
          </a:prstGeom>
          <a:noFill/>
        </p:spPr>
        <p:txBody>
          <a:bodyPr wrap="square" lIns="0" rIns="0" tIns="0" bIns="0">
            <a:spAutoFit/>
          </a:bodyPr>
          <a:lstStyle/>
          <a:p>
            <a:pPr algn="l">
              <a:lnSpc>
                <a:spcPct val="130000"/>
              </a:lnSpc>
            </a:pPr>
            <a:r>
              <a:rPr sz="1100" b="0" i="0">
                <a:solidFill>
                  <a:srgbClr val="6F6789"/>
                </a:solidFill>
                <a:latin typeface="Nunito Sans"/>
              </a:rPr>
              <a:t>uppskattning vid 2,58 % ADHD-prevalens</a:t>
            </a:r>
          </a:p>
        </p:txBody>
      </p:sp>
      <p:sp>
        <p:nvSpPr>
          <p:cNvPr id="11" name="Rounded Rectangle 10"/>
          <p:cNvSpPr/>
          <p:nvPr/>
        </p:nvSpPr>
        <p:spPr>
          <a:xfrm>
            <a:off x="3474720" y="3154680"/>
            <a:ext cx="2468880" cy="18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39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vuxna i Sverige: ~3 %</a:t>
            </a:r>
          </a:p>
        </p:txBody>
      </p:sp>
      <p:sp>
        <p:nvSpPr>
          <p:cNvPr id="14" name="TextBox 13"/>
          <p:cNvSpPr txBox="1"/>
          <p:nvPr/>
        </p:nvSpPr>
        <p:spPr>
          <a:xfrm>
            <a:off x="3639312" y="4200000"/>
            <a:ext cx="2139696" cy="209550"/>
          </a:xfrm>
          <a:prstGeom prst="rect">
            <a:avLst/>
          </a:prstGeom>
          <a:noFill/>
        </p:spPr>
        <p:txBody>
          <a:bodyPr wrap="square" lIns="0" rIns="0" tIns="0" bIns="0">
            <a:spAutoFit/>
          </a:bodyPr>
          <a:lstStyle/>
          <a:p>
            <a:pPr algn="l">
              <a:lnSpc>
                <a:spcPct val="130000"/>
              </a:lnSpc>
            </a:pPr>
            <a:r>
              <a:rPr sz="1100" b="0" i="0">
                <a:solidFill>
                  <a:srgbClr val="6F6789"/>
                </a:solidFill>
                <a:latin typeface="Nunito Sans"/>
              </a:rPr>
              <a:t>Socialstyrelsens angivna nivå</a:t>
            </a:r>
          </a:p>
        </p:txBody>
      </p:sp>
      <p:sp>
        <p:nvSpPr>
          <p:cNvPr id="15" name="Rounded Rectangle 14"/>
          <p:cNvSpPr/>
          <p:nvPr/>
        </p:nvSpPr>
        <p:spPr>
          <a:xfrm>
            <a:off x="6217920" y="3154680"/>
            <a:ext cx="2468880" cy="18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 ADHD-appar 2025: $1,9B</a:t>
            </a:r>
          </a:p>
        </p:txBody>
      </p:sp>
      <p:sp>
        <p:nvSpPr>
          <p:cNvPr id="18" name="TextBox 17"/>
          <p:cNvSpPr txBox="1"/>
          <p:nvPr/>
        </p:nvSpPr>
        <p:spPr>
          <a:xfrm>
            <a:off x="6382512" y="4200000"/>
            <a:ext cx="2139696" cy="209550"/>
          </a:xfrm>
          <a:prstGeom prst="rect">
            <a:avLst/>
          </a:prstGeom>
          <a:noFill/>
        </p:spPr>
        <p:txBody>
          <a:bodyPr wrap="square" lIns="0" rIns="0" tIns="0" bIns="0">
            <a:spAutoFit/>
          </a:bodyPr>
          <a:lstStyle/>
          <a:p>
            <a:pPr algn="l">
              <a:lnSpc>
                <a:spcPct val="130000"/>
              </a:lnSpc>
            </a:pPr>
            <a:r>
              <a:rPr sz="1100" b="0" i="0">
                <a:solidFill>
                  <a:srgbClr val="6F6789"/>
                </a:solidFill>
                <a:latin typeface="Nunito Sans"/>
              </a:rPr>
              <a:t>extern marknadsuppskattning</a:t>
            </a:r>
          </a:p>
        </p:txBody>
      </p:sp>
      <p:sp>
        <p:nvSpPr>
          <p:cNvPr id="19" name="Rounded Rectangle 18"/>
          <p:cNvSpPr/>
          <p:nvPr/>
        </p:nvSpPr>
        <p:spPr>
          <a:xfrm>
            <a:off x="8961120" y="3154680"/>
            <a:ext cx="2468880" cy="18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 ADHD-appar 2033: $6,7B</a:t>
            </a:r>
          </a:p>
        </p:txBody>
      </p:sp>
      <p:sp>
        <p:nvSpPr>
          <p:cNvPr id="22" name="TextBox 21"/>
          <p:cNvSpPr txBox="1"/>
          <p:nvPr/>
        </p:nvSpPr>
        <p:spPr>
          <a:xfrm>
            <a:off x="9125712" y="4200000"/>
            <a:ext cx="2139696" cy="209550"/>
          </a:xfrm>
          <a:prstGeom prst="rect">
            <a:avLst/>
          </a:prstGeom>
          <a:noFill/>
        </p:spPr>
        <p:txBody>
          <a:bodyPr wrap="square" lIns="0" rIns="0" tIns="0" bIns="0">
            <a:spAutoFit/>
          </a:bodyPr>
          <a:lstStyle/>
          <a:p>
            <a:pPr algn="l">
              <a:lnSpc>
                <a:spcPct val="130000"/>
              </a:lnSpc>
            </a:pPr>
            <a:r>
              <a:rPr sz="1100" b="0" i="0">
                <a:solidFill>
                  <a:srgbClr val="6F6789"/>
                </a:solidFill>
                <a:latin typeface="Nunito Sans"/>
              </a:rPr>
              <a:t>prognos</a:t>
            </a:r>
          </a:p>
        </p:txBody>
      </p:sp>
      <p:sp>
        <p:nvSpPr>
          <p:cNvPr id="23" name="TextBox 22"/>
          <p:cNvSpPr txBox="1"/>
          <p:nvPr/>
        </p:nvSpPr>
        <p:spPr>
          <a:xfrm>
            <a:off x="731520" y="6200000"/>
            <a:ext cx="10698480" cy="171450"/>
          </a:xfrm>
          <a:prstGeom prst="rect">
            <a:avLst/>
          </a:prstGeom>
          <a:noFill/>
        </p:spPr>
        <p:txBody>
          <a:bodyPr wrap="square" lIns="0" rIns="0" tIns="0" bIns="0">
            <a:spAutoFit/>
          </a:bodyPr>
          <a:lstStyle/>
          <a:p>
            <a:pPr algn="l"/>
            <a:r>
              <a:rPr sz="900" b="0" i="0">
                <a:solidFill>
                  <a:srgbClr val="6F6789"/>
                </a:solidFill>
                <a:latin typeface="Nunito Sans"/>
              </a:rPr>
              <a:t>Källor: PubMed (2021) · Socialstyrelsen · Grand View Research. Marknadssiffror är uppskattningar och prognoser.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41C3B"/>
        </a:solidFill>
        <a:effectLst/>
      </p:bgPr>
    </p:bg>
    <p:spTree>
      <p:nvGrpSpPr>
        <p:cNvPr id="1" name=""/>
        <p:cNvGrpSpPr/>
        <p:nvPr/>
      </p:nvGrpSpPr>
      <p:grpSpPr/>
      <p:sp>
        <p:nvSpPr>
          <p:cNvPr id="2" name="Rounded Rectangle 1"/>
          <p:cNvSpPr/>
          <p:nvPr/>
        </p:nvSpPr>
        <p:spPr>
          <a:xfrm>
            <a:off x="11338560" y="6035040"/>
            <a:ext cx="1463040" cy="1463040"/>
          </a:xfrm>
          <a:prstGeom prst="roundRect">
            <a:avLst/>
          </a:prstGeom>
          <a:solidFill>
            <a:srgbClr val="3A2C5C"/>
          </a:solidFill>
          <a:ln>
            <a:solidFill>
              <a:srgbClr val="3A2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00000"/>
            <a:ext cx="9000000" cy="381000"/>
          </a:xfrm>
          <a:prstGeom prst="rect">
            <a:avLst/>
          </a:prstGeom>
          <a:noFill/>
        </p:spPr>
        <p:txBody>
          <a:bodyPr wrap="square" lIns="0" rIns="0" tIns="0" bIns="0">
            <a:spAutoFit/>
          </a:bodyPr>
          <a:lstStyle/>
          <a:p>
            <a:pPr algn="l"/>
            <a:r>
              <a:rPr sz="2000" b="1" i="0">
                <a:solidFill>
                  <a:srgbClr val="A98CF0"/>
                </a:solidFill>
                <a:latin typeface="Nunito Sans"/>
              </a:rPr>
              <a:t>MYFLOVE</a:t>
            </a:r>
          </a:p>
        </p:txBody>
      </p:sp>
      <p:sp>
        <p:nvSpPr>
          <p:cNvPr id="4" name="TextBox 3"/>
          <p:cNvSpPr txBox="1"/>
          <p:nvPr/>
        </p:nvSpPr>
        <p:spPr>
          <a:xfrm>
            <a:off x="731520" y="2300000"/>
            <a:ext cx="9200000" cy="647700"/>
          </a:xfrm>
          <a:prstGeom prst="rect">
            <a:avLst/>
          </a:prstGeom>
          <a:noFill/>
        </p:spPr>
        <p:txBody>
          <a:bodyPr wrap="square" lIns="0" rIns="0" tIns="0" bIns="0">
            <a:spAutoFit/>
          </a:bodyPr>
          <a:lstStyle/>
          <a:p>
            <a:pPr algn="l">
              <a:lnSpc>
                <a:spcPct val="115000"/>
              </a:lnSpc>
            </a:pPr>
            <a:r>
              <a:rPr sz="3400" b="1" i="0">
                <a:solidFill>
                  <a:srgbClr val="FFFFFF"/>
                </a:solidFill>
                <a:latin typeface="Nunito Sans"/>
              </a:rPr>
              <a:t>Vardagen ska inte kräva</a:t>
            </a:r>
          </a:p>
          <a:p>
            <a:pPr algn="l">
              <a:lnSpc>
                <a:spcPct val="115000"/>
              </a:lnSpc>
            </a:pPr>
            <a:r>
              <a:rPr sz="3400" b="1" i="0">
                <a:solidFill>
                  <a:srgbClr val="FFFFFF"/>
                </a:solidFill>
                <a:latin typeface="Nunito Sans"/>
              </a:rPr>
              <a:t>att du är någon annan.</a:t>
            </a:r>
          </a:p>
        </p:txBody>
      </p:sp>
      <p:sp>
        <p:nvSpPr>
          <p:cNvPr id="5" name="TextBox 4"/>
          <p:cNvSpPr txBox="1"/>
          <p:nvPr/>
        </p:nvSpPr>
        <p:spPr>
          <a:xfrm>
            <a:off x="731520" y="4100000"/>
            <a:ext cx="9200000" cy="323850"/>
          </a:xfrm>
          <a:prstGeom prst="rect">
            <a:avLst/>
          </a:prstGeom>
          <a:noFill/>
        </p:spPr>
        <p:txBody>
          <a:bodyPr wrap="square" lIns="0" rIns="0" tIns="0" bIns="0">
            <a:spAutoFit/>
          </a:bodyPr>
          <a:lstStyle/>
          <a:p>
            <a:pPr algn="l">
              <a:lnSpc>
                <a:spcPct val="135000"/>
              </a:lnSpc>
            </a:pPr>
            <a:r>
              <a:rPr sz="1700" b="0" i="0">
                <a:solidFill>
                  <a:srgbClr val="A98CF0"/>
                </a:solidFill>
                <a:latin typeface="Nunito Sans"/>
              </a:rPr>
              <a:t>Flow hjälper dig att hitta nästa steg – med mer lugn och mindre mental belastning.</a:t>
            </a:r>
          </a:p>
        </p:txBody>
      </p:sp>
      <p:sp>
        <p:nvSpPr>
          <p:cNvPr id="6" name="TextBox 5"/>
          <p:cNvSpPr txBox="1"/>
          <p:nvPr/>
        </p:nvSpPr>
        <p:spPr>
          <a:xfrm>
            <a:off x="731520" y="5349240"/>
            <a:ext cx="9200000" cy="247650"/>
          </a:xfrm>
          <a:prstGeom prst="rect">
            <a:avLst/>
          </a:prstGeom>
          <a:noFill/>
        </p:spPr>
        <p:txBody>
          <a:bodyPr wrap="square" lIns="0" rIns="0" tIns="0" bIns="0">
            <a:spAutoFit/>
          </a:bodyPr>
          <a:lstStyle/>
          <a:p>
            <a:pPr algn="l"/>
            <a:r>
              <a:rPr sz="1300" b="0" i="0">
                <a:solidFill>
                  <a:srgbClr val="DED8EC"/>
                </a:solidFill>
                <a:latin typeface="Nunito Sans"/>
              </a:rPr>
              <a:t>myflove.lovable.app  ·  version 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