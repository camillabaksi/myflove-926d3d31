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5" r:id="rId16"/>
    <p:sldId id="267" r:id="rId18"/>
    <p:sldId id="268" r:id="rId19"/>
    <p:sldId id="260" r:id="rId6"/>
    <p:sldId id="261" r:id="rId7"/>
    <p:sldId id="266" r:id="rId17"/>
    <p:sldId id="262" r:id="rId8"/>
    <p:sldId id="263" r:id="rId9"/>
    <p:sldId id="264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5.xml"/><Relationship Id="rId17" Type="http://schemas.openxmlformats.org/officeDocument/2006/relationships/slide" Target="slides/slide9.xml"/><Relationship Id="rId18" Type="http://schemas.openxmlformats.org/officeDocument/2006/relationships/slide" Target="slides/slide6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4937760" cy="4937760"/>
          </a:xfrm>
          <a:prstGeom prst="ellipse">
            <a:avLst/>
          </a:prstGeom>
          <a:solidFill>
            <a:srgbClr val="7C5CE0">
              <a:alpha val="22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583680" y="3017520"/>
            <a:ext cx="3840480" cy="3840480"/>
          </a:xfrm>
          <a:prstGeom prst="ellipse">
            <a:avLst/>
          </a:prstGeom>
          <a:solidFill>
            <a:srgbClr val="F2A8CE">
              <a:alpha val="14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MyFlove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C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 lugnare sätt att få vardagen att hålla ihop.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A9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2026 · version 3.6 · myflove.lovable.app</a:t>
            </a:r>
            <a:endParaRPr lang="en-US" sz="1300" dirty="0"/>
          </a:p>
        </p:txBody>
      </p:sp>
      <p:pic>
        <p:nvPicPr>
          <p:cNvPr id="7" name="Picture 6" descr="flow-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000" y="1500000"/>
            <a:ext cx="3700658" cy="25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Verktygen är byggda för kalendrar – inte för människor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 w="12700">
            <a:solidFill>
              <a:srgbClr val="7C5CE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Kalendern säger vad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…men inte om du orkar just nu.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56616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A98CF0"/>
          </a:solidFill>
          <a:ln w="12700">
            <a:solidFill>
              <a:srgbClr val="A98C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6616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Listan växer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 lägre energi, desto längre lista.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6364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F2A8CE"/>
          </a:solidFill>
          <a:ln w="12700">
            <a:solidFill>
              <a:srgbClr val="F2A8C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6364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Splittrade appar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ser hela livet på samma ställe.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INSIKTEN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Planera efter 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7C5C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energi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 bara efter tid.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MyFlove är byggt utifrån NPF-vardag: låg tröskel, inget skäll och alltid en väg vidare – även dagar då orken saknas.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Ett lugnt system – med Flow som röst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 w="12700">
            <a:solidFill>
              <a:srgbClr val="7C5CE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Mitt batteri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 loggas på en sekund och styr dagens förslag.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56616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A98CF0"/>
          </a:solidFill>
          <a:ln w="12700">
            <a:solidFill>
              <a:srgbClr val="A98C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6616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QuickFlow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Fånga allt i en ruta – appen sorterar till rätt plats.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37744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63640" y="260604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F2A8CE"/>
          </a:solidFill>
          <a:ln w="12700">
            <a:solidFill>
              <a:srgbClr val="F2A8C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63640" y="288036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36118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Följeslagaren som visar en sak i taget – i hela appen.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5CE0"/>
                </a:solidFill>
                <a:latin typeface="Calibri"/>
              </a:rPr>
              <a:t>FLOW 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520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41C3B"/>
                </a:solidFill>
                <a:latin typeface="Trebuchet MS"/>
              </a:rPr>
              <a:t>Följeslagaren som gör appen mänsklig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50000"/>
            <a:ext cx="49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F6789"/>
                </a:solidFill>
                <a:latin typeface="Calibri"/>
              </a:rPr>
              <a:t>Flow är MyFloves röst och ansikte – en levande figur som andas, blinkar och reagerar på energi, väder, medicin och dagens nästa steg.</a:t>
            </a:r>
          </a:p>
        </p:txBody>
      </p:sp>
      <p:pic>
        <p:nvPicPr>
          <p:cNvPr id="5" name="Picture 4" descr="flow-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000" y="1150000"/>
            <a:ext cx="3626645" cy="2450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2900000"/>
            <a:ext cx="2423160" cy="17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3128600"/>
            <a:ext cx="411480" cy="109728"/>
          </a:xfrm>
          <a:prstGeom prst="roundRect">
            <a:avLst/>
          </a:prstGeom>
          <a:solidFill>
            <a:srgbClr val="7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380000"/>
            <a:ext cx="19659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Trebuchet MS"/>
              </a:rPr>
              <a:t>12 lägen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50000"/>
            <a:ext cx="196596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Calibri"/>
              </a:rPr>
              <a:t>Regn, sömn, paus, studier, jobb, städ, mat, resa, låg/hög energi, klart, återhämtning.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900000"/>
            <a:ext cx="2423160" cy="17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3128600"/>
            <a:ext cx="411480" cy="109728"/>
          </a:xfrm>
          <a:prstGeom prst="roundRect">
            <a:avLst/>
          </a:prstGeom>
          <a:solidFill>
            <a:srgbClr val="A9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3380000"/>
            <a:ext cx="19659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Trebuchet MS"/>
              </a:rPr>
              <a:t>I hela appen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750000"/>
            <a:ext cx="196596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Calibri"/>
              </a:rPr>
              <a:t>Stor på Hem och Min dag, liten följeslagare i övriga vyer – och i Flow-previewen.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900000"/>
            <a:ext cx="2423160" cy="17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128600"/>
            <a:ext cx="411480" cy="109728"/>
          </a:xfrm>
          <a:prstGeom prst="roundRect">
            <a:avLst/>
          </a:prstGeom>
          <a:solidFill>
            <a:srgbClr val="F2A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380000"/>
            <a:ext cx="19659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Trebuchet MS"/>
              </a:rPr>
              <a:t>Kännbar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750000"/>
            <a:ext cx="196596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Calibri"/>
              </a:rPr>
              <a:t>Haptisk återkoppling vid byte och avklarat – tyst läge och reducerad rörelse respekteras.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5CE0"/>
                </a:solidFill>
                <a:latin typeface="Calibri"/>
              </a:rPr>
              <a:t>FLOW LEVER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520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41C3B"/>
                </a:solidFill>
                <a:latin typeface="Trebuchet MS"/>
              </a:rPr>
              <a:t>Han andas, blinkar och följer samtalet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50000"/>
            <a:ext cx="49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F6789"/>
                </a:solidFill>
                <a:latin typeface="Calibri"/>
              </a:rPr>
              <a:t>Flow känns som en liten levande kompis: mjuk andning, slumpade blinkningar, blick som följer dig och ett hjärta som glöder lugnt.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00000"/>
            <a:ext cx="2423160" cy="17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3128600"/>
            <a:ext cx="411480" cy="109728"/>
          </a:xfrm>
          <a:prstGeom prst="roundRect">
            <a:avLst/>
          </a:prstGeom>
          <a:solidFill>
            <a:srgbClr val="7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380000"/>
            <a:ext cx="19659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Trebuchet MS"/>
              </a:rPr>
              <a:t>Levande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50000"/>
            <a:ext cx="196596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Calibri"/>
              </a:rPr>
              <a:t>Andning, blinkningar, blick och hjärtglöd – allt stängs av vid reducerad rörelse.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900000"/>
            <a:ext cx="2423160" cy="17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3128600"/>
            <a:ext cx="411480" cy="109728"/>
          </a:xfrm>
          <a:prstGeom prst="roundRect">
            <a:avLst/>
          </a:prstGeom>
          <a:solidFill>
            <a:srgbClr val="A9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3380000"/>
            <a:ext cx="19659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Trebuchet MS"/>
              </a:rPr>
              <a:t>Följer chatten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750000"/>
            <a:ext cx="196596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Calibri"/>
              </a:rPr>
              <a:t>Lyssnar när du skriver, tänker djupt under svaret och andas ut när det är klart.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900000"/>
            <a:ext cx="2423160" cy="17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128600"/>
            <a:ext cx="411480" cy="109728"/>
          </a:xfrm>
          <a:prstGeom prst="roundRect">
            <a:avLst/>
          </a:prstGeom>
          <a:solidFill>
            <a:srgbClr val="F2A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380000"/>
            <a:ext cx="19659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Trebuchet MS"/>
              </a:rPr>
              <a:t>Din nivå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750000"/>
            <a:ext cx="196596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Calibri"/>
              </a:rPr>
              <a:t>Tyst, diskret eller aktiv – hjälpnivå och tysta timmar sparas per användare.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000" y="1150000"/>
            <a:ext cx="3626645" cy="245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SÅ FUNKAR DET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daglig loop som lär sig dig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783080" cy="210312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395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Fånga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31012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 fritt i QuickFlow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51760" y="2286000"/>
            <a:ext cx="1783080" cy="210312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834640" y="2395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34640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Sortera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34640" y="331012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placerar rätt: kalender, inköp, studier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286000"/>
            <a:ext cx="1783080" cy="210312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846320" y="2395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846320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Anpassa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46320" y="331012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Dagen planeras efter batteriet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75120" y="2286000"/>
            <a:ext cx="1783080" cy="210312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0" y="23957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98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58000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Lära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58000" y="331012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Friktion och energi ger bättre förslag – Flow säger det som gäller nu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4937760" cy="4937760"/>
          </a:xfrm>
          <a:prstGeom prst="ellipse">
            <a:avLst/>
          </a:prstGeom>
          <a:solidFill>
            <a:srgbClr val="7C5CE0">
              <a:alpha val="22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583680" y="3017520"/>
            <a:ext cx="3840480" cy="3840480"/>
          </a:xfrm>
          <a:prstGeom prst="ellipse">
            <a:avLst/>
          </a:prstGeom>
          <a:solidFill>
            <a:srgbClr val="F2A8CE">
              <a:alpha val="14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9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VARFÖR NU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Diagnoser ökar. Stödet gör det inte.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8C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gör det för första gången möjligt att ge personligt, tålmodigt vardagsstöd till en kostnad som skalar – dygnet runt, utan väntetid.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241C3B"/>
          </a:solidFill>
          <a:ln w="12700">
            <a:solidFill>
              <a:srgbClr val="A98C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3200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Familj &amp; hushåll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154680" y="32004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241C3B"/>
          </a:solidFill>
          <a:ln w="12700">
            <a:solidFill>
              <a:srgbClr val="A98CF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154680" y="3200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Skola &amp; studier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0" y="32004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241C3B"/>
          </a:solidFill>
          <a:ln w="12700">
            <a:solidFill>
              <a:srgbClr val="A98C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669280" y="3200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Arbetsliv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965960" y="3931920"/>
            <a:ext cx="2743200" cy="2743200"/>
          </a:xfrm>
          <a:prstGeom prst="ellipse">
            <a:avLst/>
          </a:prstGeom>
          <a:solidFill>
            <a:srgbClr val="F2A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 spc="600">
                <a:solidFill>
                  <a:srgbClr val="7C5CE0"/>
                </a:solidFill>
                <a:latin typeface="Calibri"/>
              </a:rPr>
              <a:t>MARKNADEN · 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786384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241C3B"/>
                </a:solidFill>
                <a:latin typeface="Trebuchet MS"/>
              </a:rPr>
              <a:t>En stor, växande målgrupp – och en marknad som skalar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4231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74520"/>
            <a:ext cx="411480" cy="91440"/>
          </a:xfrm>
          <a:prstGeom prst="roundRect">
            <a:avLst/>
          </a:prstGeom>
          <a:solidFill>
            <a:srgbClr val="7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241C3B"/>
                </a:solidFill>
                <a:latin typeface="Trebuchet MS"/>
              </a:rPr>
              <a:t>140M+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96596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7C5CE0"/>
                </a:solidFill>
                <a:latin typeface="Calibri"/>
              </a:rPr>
              <a:t>vuxna globalt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196596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6F6789"/>
                </a:solidFill>
                <a:latin typeface="Calibri"/>
              </a:rPr>
              <a:t>Vuxna med kvarstående ADHD (2,58 % av vuxna, ca 139,8 miljoner). Global systematisk översikt.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37360"/>
            <a:ext cx="24231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1874520"/>
            <a:ext cx="411480" cy="91440"/>
          </a:xfrm>
          <a:prstGeom prst="roundRect">
            <a:avLst/>
          </a:prstGeom>
          <a:solidFill>
            <a:srgbClr val="A9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01168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241C3B"/>
                </a:solidFill>
                <a:latin typeface="Trebuchet MS"/>
              </a:rPr>
              <a:t>~3 %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31720"/>
            <a:ext cx="196596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A98CF0"/>
                </a:solidFill>
                <a:latin typeface="Calibri"/>
              </a:rPr>
              <a:t>av vuxna i Sverige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14600"/>
            <a:ext cx="196596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6F6789"/>
                </a:solidFill>
                <a:latin typeface="Calibri"/>
              </a:rPr>
              <a:t>Socialstyrelsen anger att cirka 3 % av vuxna i Sverige har ADHD.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737360"/>
            <a:ext cx="24231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874520"/>
            <a:ext cx="411480" cy="91440"/>
          </a:xfrm>
          <a:prstGeom prst="roundRect">
            <a:avLst/>
          </a:prstGeom>
          <a:solidFill>
            <a:srgbClr val="F2A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01168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241C3B"/>
                </a:solidFill>
                <a:latin typeface="Trebuchet MS"/>
              </a:rPr>
              <a:t>$3,06B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331720"/>
            <a:ext cx="196596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6F6789"/>
                </a:solidFill>
                <a:latin typeface="Calibri"/>
              </a:rPr>
              <a:t>digital hälsa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514600"/>
            <a:ext cx="196596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6F6789"/>
                </a:solidFill>
                <a:latin typeface="Calibri"/>
              </a:rPr>
              <a:t>Uppskattad global digital-health-marknad för neurodivergenta användare 2025.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971800"/>
            <a:ext cx="24231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3108960"/>
            <a:ext cx="411480" cy="91440"/>
          </a:xfrm>
          <a:prstGeom prst="roundRect">
            <a:avLst/>
          </a:prstGeom>
          <a:solidFill>
            <a:srgbClr val="7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24612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241C3B"/>
                </a:solidFill>
                <a:latin typeface="Trebuchet MS"/>
              </a:rPr>
              <a:t>$1,9B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566160"/>
            <a:ext cx="196596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7C5CE0"/>
                </a:solidFill>
                <a:latin typeface="Calibri"/>
              </a:rPr>
              <a:t>ADHD-appar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749040"/>
            <a:ext cx="196596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6F6789"/>
                </a:solidFill>
                <a:latin typeface="Calibri"/>
              </a:rPr>
              <a:t>Uppskattad global marknad för ADHD-appar 2025.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2971800"/>
            <a:ext cx="24231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66160" y="3108960"/>
            <a:ext cx="411480" cy="91440"/>
          </a:xfrm>
          <a:prstGeom prst="roundRect">
            <a:avLst/>
          </a:prstGeom>
          <a:solidFill>
            <a:srgbClr val="A9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324612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241C3B"/>
                </a:solidFill>
                <a:latin typeface="Trebuchet MS"/>
              </a:rPr>
              <a:t>$6,7B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566160"/>
            <a:ext cx="196596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A98CF0"/>
                </a:solidFill>
                <a:latin typeface="Calibri"/>
              </a:rPr>
              <a:t>ADHD-appar 2033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749040"/>
            <a:ext cx="196596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6F6789"/>
                </a:solidFill>
                <a:latin typeface="Calibri"/>
              </a:rPr>
              <a:t>Prognostiserad global marknad för ADHD-appar 2033.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2971800"/>
            <a:ext cx="242316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63640" y="3108960"/>
            <a:ext cx="411480" cy="91440"/>
          </a:xfrm>
          <a:prstGeom prst="roundRect">
            <a:avLst/>
          </a:prstGeom>
          <a:solidFill>
            <a:srgbClr val="F2A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324612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241C3B"/>
                </a:solidFill>
                <a:latin typeface="Trebuchet MS"/>
              </a:rPr>
              <a:t>17,5 %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566160"/>
            <a:ext cx="196596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6F6789"/>
                </a:solidFill>
                <a:latin typeface="Calibri"/>
              </a:rPr>
              <a:t>CAGR 2025–2033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749040"/>
            <a:ext cx="196596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6F6789"/>
                </a:solidFill>
                <a:latin typeface="Calibri"/>
              </a:rPr>
              <a:t>Prognostiserad årlig tillväxt för ADHD-appmarknaden.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297680"/>
            <a:ext cx="786384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>
                <a:solidFill>
                  <a:srgbClr val="6F6789"/>
                </a:solidFill>
                <a:latin typeface="Calibri"/>
              </a:rPr>
              <a:t>Uppskattningar och prognoser – externa marknadssiffror, inte MyFloves egna traction-siffror.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480560"/>
            <a:ext cx="786384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0">
                <a:solidFill>
                  <a:srgbClr val="6F6789"/>
                </a:solidFill>
                <a:latin typeface="Calibri"/>
              </a:rPr>
              <a:t>Källor: Global systematisk översikt (PubMed, 2021) · Socialstyrelsen · Grand View Research, ADHD Apps Market · aktuell marknadsrapport för digital hälsa för neurodivergenta användare.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754880"/>
            <a:ext cx="786384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7C5CE0"/>
                </a:solidFill>
                <a:latin typeface="Trebuchet MS"/>
              </a:rPr>
              <a:t>MyFlove starts with ADHD — but is built for the complexity of everyday life.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VI ÄR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Byggd, publicerad och testad i skarp vardag (v3.5)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 w="12700">
            <a:solidFill>
              <a:srgbClr val="7C5CE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Live-app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Webb + mobil (PWA) med Flow 2.0 i hela appen, i daglig användning.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56616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A98CF0"/>
          </a:solidFill>
          <a:ln w="12700">
            <a:solidFill>
              <a:srgbClr val="A98C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6616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Testgrupp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[ANTAL TESTARE – fyll i]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6364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F2A8CE"/>
          </a:solidFill>
          <a:ln w="12700">
            <a:solidFill>
              <a:srgbClr val="F2A8C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6364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Nyckeltal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[RETENTION / DAU – fyll i]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480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Platshållare inom [ ] behöver riktiga siffror innan pitchen.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A98CF0">
              <a:alpha val="18000"/>
            </a:srgbClr>
          </a:solidFill>
          <a:ln w="12700">
            <a:solidFill>
              <a:srgbClr val="F7F3F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C5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AFFÄRSMODELL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Gratis att börja, betalt när livet växer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 w="12700">
            <a:solidFill>
              <a:srgbClr val="7C5CE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Gratis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Batteri, QuickFlow och Min dag.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56616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A98CF0"/>
          </a:solidFill>
          <a:ln w="12700">
            <a:solidFill>
              <a:srgbClr val="A98C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6616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AI-planering, rutiner, studier och jobb. [PRIS – fyll i]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286000"/>
            <a:ext cx="242316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DE5FB"/>
            </a:solidFill>
            <a:prstDash val="solid"/>
          </a:ln>
          <a:effectLst>
            <a:outerShdw sx="100000" sy="100000" kx="0" ky="0" algn="bl" rotWithShape="0" blurRad="152400" dist="25400" dir="5400000">
              <a:srgbClr val="241C3B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63640" y="2514600"/>
            <a:ext cx="411480" cy="109728"/>
          </a:xfrm>
          <a:prstGeom prst="roundRect">
            <a:avLst>
              <a:gd name="adj" fmla="val 50000"/>
            </a:avLst>
          </a:prstGeom>
          <a:solidFill>
            <a:srgbClr val="F2A8CE"/>
          </a:solidFill>
          <a:ln w="12700">
            <a:solidFill>
              <a:srgbClr val="F2A8C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63640" y="27889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1C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Hushåll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35204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Delad kalender och barnscheman. [PRIS – fyll i]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1C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737360"/>
            <a:ext cx="4937760" cy="4937760"/>
          </a:xfrm>
          <a:prstGeom prst="ellipse">
            <a:avLst/>
          </a:prstGeom>
          <a:solidFill>
            <a:srgbClr val="7C5CE0">
              <a:alpha val="22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583680" y="3017520"/>
            <a:ext cx="3840480" cy="3840480"/>
          </a:xfrm>
          <a:prstGeom prst="ellipse">
            <a:avLst/>
          </a:prstGeom>
          <a:solidFill>
            <a:srgbClr val="F2A8CE">
              <a:alpha val="14000"/>
            </a:srgbClr>
          </a:solidFill>
          <a:ln w="12700">
            <a:solidFill>
              <a:srgbClr val="241C3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1143000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7C5CE0"/>
          </a:solidFill>
          <a:ln w="12700">
            <a:solidFill>
              <a:srgbClr val="7C5CE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82880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Vardagen ska inte kräva att du är någon annan.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8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MyFlove  ·  myflove.lovable.app  ·  [KONTAKT – fyll i]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5CE0"/>
                </a:solidFill>
                <a:latin typeface="Calibri"/>
              </a:rPr>
              <a:t>LUGNARE HELHET 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520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41C3B"/>
                </a:solidFill>
                <a:latin typeface="Trebuchet MS"/>
              </a:rPr>
              <a:t>Färre val, tydligare väg, mjukare byten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50000"/>
            <a:ext cx="49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F6789"/>
                </a:solidFill>
                <a:latin typeface="Calibri"/>
              </a:rPr>
              <a:t>MyFlove 3.6 handlar om lugn: samma funktioner, men mindre brus. Flow syns tydligare, block kan fällas ihop och navigationen känns förutsägbar.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00000"/>
            <a:ext cx="2423160" cy="17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3128600"/>
            <a:ext cx="411480" cy="109728"/>
          </a:xfrm>
          <a:prstGeom prst="roundRect">
            <a:avLst/>
          </a:prstGeom>
          <a:solidFill>
            <a:srgbClr val="7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380000"/>
            <a:ext cx="19659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Trebuchet MS"/>
              </a:rPr>
              <a:t>Ett block i taget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50000"/>
            <a:ext cx="196596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Calibri"/>
              </a:rPr>
              <a:t>Alla större block går att minimera och maximera – appen kommer ihåg hur du vill ha det, per sida.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900000"/>
            <a:ext cx="2423160" cy="17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3128600"/>
            <a:ext cx="411480" cy="109728"/>
          </a:xfrm>
          <a:prstGeom prst="roundRect">
            <a:avLst/>
          </a:prstGeom>
          <a:solidFill>
            <a:srgbClr val="A9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3380000"/>
            <a:ext cx="19659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Trebuchet MS"/>
              </a:rPr>
              <a:t>Rätt väg tillbaka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750000"/>
            <a:ext cx="196596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Calibri"/>
              </a:rPr>
              <a:t>Tillbaka följer din riktiga navigationshistorik. Stop-paus har en egen tydlig plats under Mer → Hälsa.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900000"/>
            <a:ext cx="2423160" cy="17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128600"/>
            <a:ext cx="411480" cy="109728"/>
          </a:xfrm>
          <a:prstGeom prst="roundRect">
            <a:avLst/>
          </a:prstGeom>
          <a:solidFill>
            <a:srgbClr val="F2A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380000"/>
            <a:ext cx="19659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1C3B"/>
                </a:solidFill>
                <a:latin typeface="Trebuchet MS"/>
              </a:rPr>
              <a:t>Mjuka sidbyten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750000"/>
            <a:ext cx="196596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6789"/>
                </a:solidFill>
                <a:latin typeface="Calibri"/>
              </a:rPr>
              <a:t>En gemensam, subtil fade vid sidbyten. Det du gör inne på en sida sker direkt – och reducerad rörelse respekteras.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000" y="1150000"/>
            <a:ext cx="3626645" cy="245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2026-08-22T10:24:41Z</dcterms:created>
  <dcterms:modified xsi:type="dcterms:W3CDTF">2026-08-22T10:24:41Z</dcterms:modified>
</cp:coreProperties>
</file>